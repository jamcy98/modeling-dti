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4462" autoAdjust="0"/>
  </p:normalViewPr>
  <p:slideViewPr>
    <p:cSldViewPr snapToGrid="0" snapToObjects="1">
      <p:cViewPr>
        <p:scale>
          <a:sx n="96" d="100"/>
          <a:sy n="96" d="100"/>
        </p:scale>
        <p:origin x="28" y="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37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TITLE SLIDE
Good [morning/afternoon], Professor [Supervisor's name]. Thank you for this opportunity to present my PhD research proposal.
My name is Jamila Abdul-Hadi, matric number 24100625, under your supervision in the School of Computer Sciences at USM.
The title of my proposed research is "Enhanced Drug-Target Interaction Prediction Through Hybrid Deep Learning Approaches." This work addresses one of the most computationally challenging problems in modern drug discovery — accurately and efficiently predicting how drug molecules interact with protein targets.
Over the next [estimated time] minutes, I will walk you through the complete proposal, covering the research background, problem statement, objectives, methodology, and expected contributions.
I welcome your questions and feedback throughout or at the end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PRESENTATION OUTLINE
This slide maps the eight thematic sections I will cover today.
Section 1 sets the stage — I'll explain why drug-target interaction prediction matters and how computational approaches have evolved.
Section 2 identifies the four specific technical gaps that motivate this research: weak feature fusion, cold-start failure, lack of interpretability, and data imbalance.
Section 3 presents the three research questions and three specific objectives that precisely define what this study will achieve.
Section 4 defines the research boundaries — what is and is not within scope — and articulates why this work matters scientifically and practically.
Section 5 reviews the relevant literature, focusing on three key baseline models that directly inform our design.
Section 6 is the core — I'll present the proposed H-GNN-RNN-DTI architecture in detail.
Section 7 presents the realistic 3-year timeline with measurable milestones.
Section 8 closes with expected contributions and selected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INTRODUCTION: DRUG DISCOVERY CHALLENGE
The motivation for this research starts with a sobering reality: developing a single new drug costs approximately $2.6 billion and takes 10 to 15 years, with a very high attrition rate — only about 1 in 5,000 drug candidates ever reaches market approval.
A major bottleneck is the experimental identification of drug-target interactions. Traditional wet-lab assays — like binding affinity measurements, co-crystallization, or mutagenesis studies — are inherently slow, expensive, and cannot realistically scale to cover the billions of possible drug-protein pairs.
This is where computational DTI prediction becomes critical. By training machine learning models on known interactions, we can screen millions of compound-target pairs computationally in a fraction of the time and cost, identifying the most promising candidates to prioritize for experimental validation.
The bottom bar shows how the field has evolved: from physics-based molecular docking in the 1980s, through QSAR and classical machine learning, to the deep learning revolution of the past decade. My proposed work represents the frontier of this evolution — hybrid multimodal deep learning that combines the strengths of multiple architectures.
The four statistics at the bottom reinforce the scale of the problem: the enormous cost, the long timeline, the complexity of the human proteome, and the vast chemical space that computational methods must navigate.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DTI FUNDAMENTALS
Before diving into the technical approach, let me ground the problem biologically.
A drug–target interaction occurs when a small-molecule drug non-covalently binds to a protein target — forming hydrogen bonds, hydrophobic contacts, and electrostatic interactions. The strength of this binding is quantified by the dissociation constant K_d, the inhibitory concentration IC₅₀, or the inhibition constant K_i. Our computational task is to predict either whether this interaction occurs (classification) or how strong it is (regression).
Drugs are computationally represented as molecular graphs — atoms are nodes with features describing their chemistry, and bonds are edges. We also have SMILES strings, which encode this graph as a linear sequence of characters. Importantly, we will initialize node features using ChemBERTa, a language model pre-trained on millions of drug structures.
Proteins are represented as ordered sequences of amino acid residues — their primary structure. We will encode these using ESM-2, a state-of-the-art protein language model that captures both local sequence patterns and long-range evolutionary dependencies.
The prediction can be framed in two ways: as binary classification — does this drug interact with this target — or as regression, predicting the exact binding affinity value. My proposed model supports both within a unified framework.
Supervisor may ask: Why use both graph AND sequence representations? The answer is that each captures different, complementary aspects of the molecules — graphs capture topology and structure, while sequences capture evolutionary context and functional motifs.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PROBLEM STATEMENT
These four gaps represent the core motivation for this research. Let me walk through each one.
GAP 1 — Weak Feature Integration: The most widespread limitation is that existing hybrid models simply concatenate drug and protein embeddings — they glue the two vectors together without any mechanism for them to interact. Models like GSRF-DTI use DeepWalk embeddings followed by Random Forest classification, while DTKGIN uses an inner product of KG entity embeddings. Neither allows drug atoms to selectively attend to relevant protein residues, which is exactly what happens during physical binding.
GAP 2 — Cold-Start Failure: Real drug discovery constantly encounters novel drugs and unexplored targets. When a model is tested on compounds or proteins it has never seen during training — what we call cold-start scenarios — performance drops dramatically. DTKGIN, for example, achieves AUC of 0.950 in warm-start settings but drops to 0.851 for cold-target prediction. Without pre-trained molecular and protein language model embeddings, models cannot transfer biochemical knowledge to novel entities.
GAP 3 — Interpretability: Medicinal chemists need to know WHY a model predicts an interaction — specifically which drug functional groups and protein residues drive the predicted binding. Without this, computational predictions cannot guide experimental design or lead optimization. Currently, none of the three baseline models provide atom-level or residue-level attribution.
GAP 4 — Data Imbalance: DTI datasets have very few confirmed positive interactions relative to the vast space of uncharacterized pairs, which are treated as negatives. Standard cross-entropy training on such imbalanced data produces models that achieve high accuracy by simply predicting "no interaction" for most pairs — but this is useless for drug discovery.
The motivation banner at the bottom summarizes my proposed solution: H-GNN-RNN-DTI addresses all four gaps simultaneously.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RESEARCH QUESTIONS &amp; OBJECTIVES
This slide shows the direct mapping between each research question and its corresponding specific objective.
The Main Aim at the top summarizes the overarching goal: build a hybrid model that is more accurate, more generalizable, and more interpretable than existing DTI predictors.
Question 1 and Objective 1 address the architectural innovation — specifically whether a gated cross-attention fusion mechanism can outperform the simpler concatenation strategy used by current models. This is the primary technical contribution of the work.
Question 2 and Objective 2 address the cold-start challenge — can pre-trained embeddings from large-scale molecular and protein language models (ChemBERTa and ESM-2) help the model generalize to novel drugs and targets? This is evaluated explicitly using cold-drug (S2) and cold-target (S3) test splits.
Question 3 and Objective 3 address interpretability — can the model identify which drug atoms and protein residues drive the predicted interaction? This makes the model useful for medicinal chemists designing and optimizing drug candidates.
Each objective is measurable: O1 requires statistically significant performance improvements, O2 requires demonstrated cold-start generalization, and O3 requires both quantitative metrics and biological validation of attention maps against known binding site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SCOPE &amp; SIGNIFICANCE
The scope section clarifies exactly what this study will and will not do — an important boundary-setting exercise for a PhD proposal.
In-scope: The study predicts both binary DTIs (does interaction occur?) and continuous DTAs (how strong is the binding?) using computational methods only. Drugs are represented as molecular graphs from SMILES; proteins as amino acid sequences encoded with ESM-2. Seven benchmark datasets will be used for training, validation, and testing. The architecture — H-GAT with Bi-LSTM/GRU and Gated Cross-Attention — is specified. Evaluation includes both standard metrics and cold-start protocols.
Out-of-scope: We will not perform any wet-lab experiments, which keeps the work computationally focused and feasible within the PhD timeline. Non-small-molecule ligands like peptides or antibodies have different structural properties and are excluded to maintain a coherent scope. Industrial deployment is also excluded.
The four significance areas explain why this work matters beyond the thesis:
Methodologically, we advance the theory of multimodal learning in bioinformatics by introducing principled dynamic fusion.
Practically, the resulting tool can accelerate virtual screening pipelines for pharmaceutical companies, reducing the cost and time of early-stage drug discovery.
Translationally, the interpretability module makes predictions actionable for medicinal chemists — they can understand which parts of a drug molecule and protein to modify.
Scientifically, our rigorous cold-start evaluation protocol raises the bar for how DTI models should be benchmarked in the community.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LITERATURE REVIEW OVERVIEW
This mind map shows the six broad methodological paradigms covered in the literature review component of my work.
Starting from the centre — DTI Prediction Methods — six branches radiate out, each representing a different approach.
Physics-based methods at the top were the earliest approach but face fundamental scalability limitations.
Classical Machine Learning in the upper right improved scalability through feature engineering but required domain expertise and could not generalize to novel molecules.
Deep Learning architectures — CNNs, GNNs, and RNNs — eliminated manual feature engineering but each architecture captures only part of the molecular picture.
Transformer and Foundation Models represent the most recent generation, leveraging large-scale pretraining for richer representations.
Hybrid Multimodal Deep Learning — the focus of this proposal — combines multiple architectures to overcome the limitations of single-architecture approaches.
Finally, Interpretable and Cold-Start Models represent specialized directions that address the practical deployment requirements.
On the right, I list the 36 models reviewed in my comprehensive literature review. The three highlighted baseline models — GSRF-DTI, TTModel, and DTKGIN — are the most recent comparable approaches against which my proposed model will be benchmarked.
I should mention that this review resulted in a companion review paper that I have been developing as a systematic academic output alongside the proposal.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BASELINE MODELS
These three models are the most relevant recent works against which my proposed model will be directly compared. They represent the current state of practice and their limitations directly motivate my design choices.
GSRF-DTI (Zhu et al., 2024): This model achieves impressive performance on the Luo_17 network dataset — AUROC of 0.9818. However, it uses DeepWalk for feature extraction followed by simple concatenation before a Random Forest classifier. The authors themselves acknowledge in the paper that future work must address data imbalance and richer embeddings. It has no molecular graph encoding and no interpretability.
TTModel (Li et al., 2024): A knowledge graph embedding approach that integrates textual descriptions and entity type information. It shows strong performance on sparse protein families like GPCRs and nuclear receptors. But it has no direct SMILES graph or amino acid sequence encoding — everything goes through the KG framework, which means it cannot capture fine-grained molecular topology.
DTKGIN (Luo et al., 2024): This is the most sophisticated of the three baselines. It introduces intent nodes in the knowledge graph to capture interaction purposes at varying granularities, and it explicitly evaluates cold-start performance. Cold-drug AUC drops from 0.950 (warm) to 0.894 (S2) and 0.851 (S3). This tells us that even with intent-graph innovations, cold-start generalization remains challenging without pre-trained molecular and protein embeddings.
The bottom banner summarizes the common thread: all three models lack the three things my proposed model will provide — dynamic cross-modal attention, pre-trained foundation model embeddings, and rigorous cold-start benchmarking.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METHODOLOGY OVERVIEW
The research design is organized around three interconnected pillars, each directly addressing one research objective.
Pillar 1 addresses the core architectural innovation: how to integrate drug graph representations and protein sequence representations through a principled dynamic fusion mechanism. This is answered by the Gated Cross-Attention module — which I will detail in a subsequent slide.
Pillar 2 addresses generalization: how to ensure the model performs well on novel drugs and targets it has never seen. The answer involves two strategies: initializing drug and protein encoders with pre-trained language model weights (ChemBERTa and ESM-2 respectively), and using imbalance-aware loss functions that give higher weight to the minority positive class.
Pillar 3 addresses interpretability: the model should not be a black box. The cross-attention weights naturally serve as attribution scores, highlighting which drug atoms attended to which protein residues during prediction. These are visualized as heatmaps and validated against known binding site data.
The bottom panel shows the six-stage research pipeline: from data collection and preprocessing, through model design and training, to evaluation and interpretability analysis. This is the workflow I will follow throughout the PhD.
Implementation details: everything is implemented in Python using PyTorch and PyTorch Geometric for the graph neural network components. RDKit handles molecular graph construction from SMILES. HuggingFace Transformers provides the ESM-2 protein language model. Optuna is used for Bayesian hyperparameter optimization. All computations will be run on NVIDIA A100 GPUs.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DATASETS
Seven benchmark datasets will be used across different stages of the research.
BindingDB is the primary large-scale training source — it contains millions of experimentally measured binding affinities across a very diverse set of drug-target pairs, making it ideal for training a generalizable model.
DAVIS and KIBA are the standard benchmarks for drug-target affinity regression. DAVIS contains kinase-inhibitor binding affinities measured as K_d values, while KIBA integrates multiple bioactivity measurement types. Both are used extensively in the literature, enabling direct comparison with baseline models.
Yamanishi_08 is particularly important because it defines the standard cold-start evaluation protocol. Its four target classes — enzymes, ion channels, GPCRs, and nuclear receptors — allow us to test whether the model generalizes across biologically distinct protein families. The S1 (warm-start), S2 (cold-drug), and S3 (cold-target) split protocols are the standard way to evaluate cold-start generalization.
Luo_17 is used because it is the dataset on which GSRF-DTI (one of our key baselines) was evaluated — including it ensures our performance comparisons are direct and fair.
DrugBank and ChEMBL provide supplementary data for pretraining the molecular and protein encoders, and for testing cross-dataset transferability.
The combination of these datasets allows us to evaluate the model from multiple angles: large-scale regression, binary classification, cold-start generalization, and cross-dataset transfer.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DATA PREPROCESSING
Let me walk through the preprocessing pipeline for both modalities and the label handling strategy.
For drug molecules: We start from SMILES strings, which are standardized using RDKit to handle tautomers, salts, and representation ambiguities. RDKit then constructs the molecular graph. Each atom becomes a node with a 12-dimensional feature vector capturing chemistry: atomic number, valence, hybridization state, aromaticity, formal charge, ring membership, and chirality. Bonds become edges with features encoding bond type and ring membership. Crucially, we also initialize node features with ChemBERTa embeddings — a BERT-style model pre-trained on 77 million SMILES strings — which gives the graph encoder a head start with rich chemical semantics.
For proteins: FASTA sequences are tokenized at the residue level and processed through ESM-2, a 650-million parameter protein language model pre-trained on 250 million protein sequences. This produces a contextualized embedding for each amino acid that captures both local sequence patterns and long-range evolutionary information. Sequences are padded or truncated to 1,200 residues to enable efficient batch processing.
For labels: In binary classification, positive labels are confirmed from DTI databases; negatives are generated by unknown-negative sampling — we treat drug-target pairs with no confirmed interaction as negatives, using 1:1 and 1:10 ratios. For regression, affinity values are log-transformed to pKd = -log₁₀(Kd) to stabilize the distribution.
The splitting protocols define four evaluation scenarios — warm-start, cold-drug, cold-target, and cross-dataset — which together comprehensively test generalization capability.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PROPOSED ARCHITECTURE
This diagram shows the full H-GNN-RNN-DTI architecture. Let me walk through it from top to bottom.
The DRUG BRANCH (left, blue) takes a molecular graph as input. After node feature initialization with ChemBERTa embeddings, three layers of the Hierarchical Graph Attention Network (H-GAT) perform message passing with 8 attention heads per layer. This allows each atom to selectively attend to its most chemically relevant neighbors, learning atom-level representations that capture molecular topology and functional groups. An attention-weighted readout then produces the global drug embedding z_d.
The PROTEIN BRANCH (right, green) takes the ESM-2-initialized amino acid sequence and processes it through 2 layers of Bidirectional LSTM or GRU. The bidirectionality is important — each residue's representation incorporates context from both the residues before it and after it in the sequence. Attention-based pooling then selects the most informative residues to form the protein embedding z_p.
The GATED CROSS-ATTENTION FUSION MODULE (centre, orange) is the key innovation. Rather than simply concatenating z_d and z_p, we compute bidirectional attention: drug atom embeddings attend to protein residue embeddings (A_{d→p}) and protein residue embeddings attend to drug atom embeddings (A_{p→d}). A learned gate G_d then adaptively mixes the cross-modal information with the original drug representation — preserving important modality-specific features while enabling deep cross-modal interaction.
The PREDICTION HEAD (purple, bottom) maps the fused representation through a multi-layer perceptron to the final output — a sigmoid for binary DTI classification or a linear activation for continuous affinity regression.
This unified design handles both classification and regression within a single architecture.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GATED CROSS-ATTENTION
This is the single most important technical contribution of the proposed work, so I want to explain it carefully.
The fundamental problem with concatenation-based fusion is that it treats the drug and protein representations as independent vectors and simply glues them together. The model then has to learn from scratch that certain drug features are related to certain protein features — but there is no direct pathway for this cross-modal interaction to happen at the feature level.
Cross-attention solves this by computing Query-Key-Value attention across modalities. The drug atom embeddings (h_d) act as queries, the protein residue embeddings (h_p) act as keys and values. Each drug atom can then attend to and aggregate information from the protein residues that are most relevant to it — and vice versa. This directly models the physical binding relationship: specific drug functional groups interact with specific protein residues at the binding site.
The gating mechanism is a refinement: the gate G_d is a learned sigmoid function that decides, for each dimension of the embedding, how much of the cross-modal information (A_{d→p}) to incorporate versus how much of the original drug representation (h_d) to preserve. This prevents the cross-attention from completely overwriting useful drug-specific features that don't have a direct protein counterpart.
The formula at the bottom shows the gated update: the new drug representation h_d' is a weighted interpolation between the cross-attended representation and the original, controlled by the gate G_d.
A key question the supervisor might ask: Is this similar to co-attention? Yes, it is related to co-attention mechanisms, but the gating component is the key difference — it explicitly controls information flow to prevent over-emphasis on cross-modal information at the expense of modality-specific features.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TRAINING STRATEGY
The training strategy has three key elements that directly address the identified research gaps.
First, loss functions for imbalance. Standard binary cross-entropy assigns equal weight to every training example. In DTI datasets where positives are rare, this leads the model to achieve high accuracy simply by predicting "no interaction" almost always. Focal loss adds a modulating factor (1-p_t)^gamma that down-weights easy, correctly classified examples and concentrates the gradient signal on the hard misclassifications — the cases where the model is uncertain or wrong. With gamma=2.0, examples the model is confident about receive very little gradient signal, forcing it to focus on the difficult boundary cases.
Second, optimization. We use AdamW — Adam with decoupled weight decay — which is the current best-practice optimizer for deep learning. Learning rate scheduling with cosine annealing and warmup prevents the learning rate from being too large early in training when gradients are noisy. Dropout and gradient clipping prevent overfitting and training instability.
Third, self-supervised pretraining. Before training on labeled DTI data, the drug and protein encoders are pretrained on millions of unlabeled molecular and protein sequences using contrastive learning. This gives the encoders a rich initialization that captures general biochemical principles — similar to how BERT pretraining on Wikipedia gives downstream NLP models a head start. When we then fine-tune on DTI-specific tasks, the pretrained features enable much better generalization to novel drugs and targets.
The ablation study design is critical for the scientific contribution: by systematically removing each component (GNN-only, RNN-only, concatenation fusion, gated fusion), we can quantify exactly how much each architectural choice contributes to performance.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EVALUATION PROTOCOL
The evaluation framework is designed to be comprehensive and avoid the over-optimistic results that simple random-split evaluation can produce.
For classification tasks, we use both AUC-ROC and AUPR. AUC-ROC is the standard metric, but for imbalanced DTI datasets where negatives vastly outnumber positives, AUPR is a better indicator of practical performance — it measures how precisely the model identifies true positives across different recall thresholds.
For regression tasks, RMSE penalizes large errors more than MAE, making it useful for detecting cases where the model is dramatically wrong. The Concordance Index is particularly important because, in practice, what matters is correctly ranking compounds by their binding affinity — even if the absolute values aren't perfect. PCC measures linear correlation between predicted and experimental values.
The cold-start evaluation settings are the heart of the generalization assessment. In S1 warm-start, the model has seen both the drugs and proteins during training — this is the easiest setting and corresponds to most published benchmarks. In S2 cold-drug, the test compounds are entirely novel — the model must generalize based on structural properties alone. In S3 cold-target, the test proteins are entirely novel — the model must generalize based on the protein sequence properties it has learned.
The cross-dataset experiment is the most stringent test: train on BindingDB and test directly on DAVIS without any fine-tuning. This evaluates whether the model has learned truly transferable representations or has merely overfit to the training distribution.
This four-scenario evaluation design gives us a complete picture of the model's real-world utility.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INTERPRETABILITY
Interpretability is one of the three core objectives of this research, and arguably the one with the most direct translational value for drug discovery.
The attention-based attribution is the primary interpretability mechanism. When the cross-attention module computes A_{d→p}, it produces a matrix where entry (i,j) represents how much drug atom i attended to protein residue j during the prediction. We aggregate these scores to get atom-level drug importance and residue-level protein importance. Crucially, this interpretability is intrinsic — it comes from the architecture itself, not from a separate post-hoc explanation method like LIME or SHAP. This means the explanations are directly connected to the model's actual decision-making process.
Grad-CAM is a complementary technique originally developed for convolutional neural networks but adapted here for molecular graphs. It computes gradients of the prediction with respect to intermediate node embeddings to identify which molecular substructures and protein regions most influence the output. This is particularly useful for highlighting ring systems, functional groups, and protein binding motifs.
The biological validation step is what distinguishes rigorous interpretability from superficial attention visualization. We take well-characterized drug-target complexes — where the 3D crystal structure is known from the Protein Data Bank — and check whether our model's predicted binding atoms/residues overlap with the actual atomic contacts observed in the crystal structure. This provides a quantitative ground truth for evaluating whether the model's explanations are biologically meaningful.
The practical implication for drug discovery: a medicinal chemist working on lead optimization can look at the attention heatmap and directly see which functional group on the drug molecule is predicted to be interacting with which specific residue on the protein. This guides rational structural modifications to improve potency or selectivity.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TIMELINE &amp; MILESTONES
The research is organized across three years with six semesters, each with specific deliverables.
Year 1 Semester 1 (current): Literature review completion, proposal writing, and this defence. The literature review has resulted in a comprehensive review paper covering 36 models, which will be submitted for publication.
Year 1 Semester 2: Dataset collection, preprocessing pipeline development, and baseline model implementation. This phase establishes the fair comparison benchmarks against GSRF-DTI, TTModel, and DTKGIN.
Year 2 Semester 1: Core H-GNN-RNN-DTI architecture design, implementation, and initial training. The drug encoder (H-GAT) and protein encoder (BiGRU) are developed and tested independently before integration.
Year 2 Semester 2: Full model integration with Gated Cross-Attention, baseline comparison, and ablation studies. A conference paper presenting the architectural contribution will be prepared for submission to a venue such as IJCAI, AAAI, or BIBM.
Year 3 Semester 1: Cold-start evaluation, interpretability module development and validation, and comprehensive experimental analysis.
Year 3 Semester 2: Final experiments, thesis writing, and submission of the main journal paper to Briefings in Bioinformatics or similar Q1 venue.
The six key milestones are: M1 proposal defence (now), M2 review paper submission, M3 architecture implementation, M4 conference paper, M5 full experimental results, and M6 thesis submission.
Supervisor may ask about contingency plans: if model performance is lower than expected in Year 2, I will extend the architecture exploration phase and potentially reduce the scope of cold-start experiments. The core contribution (gated cross-attention) is the primary risk point and will be addressed early.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EXPECTED OUTCOMES
This slide summarizes the four principal contributions this research will produce.
Outcome 1 — The Architecture: The H-GNN-RNN-DTI model itself is the primary technical contribution. The Gated Cross-Attention mechanism is novel in the DTI domain and represents an advancement over both the static concatenation approaches in GSRF-DTI and TTModel, and the intent-graph approach in DTKGIN. We expect statistically significant improvements in AUC and AUPR on all benchmark datasets.
Outcome 2 — Improved Performance with Generalization: Beyond raw performance numbers, the key claim is improved cold-start generalization. By combining pre-trained foundation model embeddings with the gated fusion architecture and imbalance-aware training, we expect to substantially reduce the performance gap between warm-start and cold-start settings — making the model more practically useful for real drug discovery applications.
Outcome 3 — Interpretability: The attention-based XAI framework transforms the model from a black-box predictor into a hypothesis-generating tool that chemists can actually use. The biological validation against PDB crystal structures will provide the rigorous evidence needed to claim interpretability is meaningful rather than superficial.
Outcome 4 — Reproducibility: All code, trained models, and experimental protocols will be released on GitHub under an open-source license. This follows the increasing emphasis on reproducibility in computational biology and allows other researchers to build on this work.
For publication, I am targeting Q1 journals in bioinformatics — specifically Briefings in Bioinformatics and Bioinformatics — for the main results paper, with conference papers at IEEE BIBM or AAAI for early architectural results.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REFERENCES
This slide lists the 14 most critical references for this proposal. Let me highlight a few that are particularly important.
References 1, 2, and 3 are the three baseline models — GSRF-DTI, TTModel, and DTKGIN — that directly motivate this research. They represent the current state of the art that we aim to improve upon.
Reference 4 (GraphDTA) established the use of graph neural networks for drug molecular encoding and is the foundation for our H-GAT drug encoder design.
Reference 5 (iNGNN-DTI) is the most architecturally similar work to ours — it uses nested GNNs with cross-attention and pretrained embeddings. Our work extends this by adding explicit gating and bidirectional cross-attention.
Reference 6 (Top-DTI) demonstrates that foundation model embeddings significantly improve cold-start performance — validating our strategy of using ChemBERTa and ESM-2.
Reference 13 (DeepNC by Tran, Thomas, and our supervisor Assoc. Prof. Nurul Hashimah) is directly relevant as it represents prior work from our research group on graph neural network approaches to DTI prediction.
Reference 14 (Khan and Assoc. Prof. Nurul Hashimah, 2023) is also from our group, investigating resampling strategies for class imbalance in DTI — directly informing our choice of focal loss and weighted BCE.
The full reference list for the comprehensive review paper contains 55 references, available in the accompanying review paper document.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CLOSING
In closing, let me summarize what I have presented today.
The research addresses four clearly identified gaps in the current DTI prediction literature: weak cross-modal feature integration, poor cold-start generalization, lack of interpretability, and inadequate handling of data imbalance.
My proposed solution — the H-GNN-RNN-DTI model — addresses all four simultaneously. The Hierarchical Graph Attention Network captures molecular topology; the Bidirectional GRU captures protein sequence context; the Gated Cross-Attention Fusion enables dynamic, adaptive drug–protein interaction modeling at the feature level; foundation model pretraining and focal loss address cold-start and imbalance; and the intrinsic attention mechanism provides biologically meaningful interpretability.
The evaluation framework is rigorous: seven datasets, four evaluation scenarios including cold-start, comprehensive ablation studies, and biological validation of interpretability.
The research timeline is realistic: three years with clearly defined milestones, targeting Q1 journal publications and competitive conference venues.
I am confident that this work represents a timely, well-motivated, and methodologically sound contribution to the field of computational drug discovery.
Thank you for your time and attention. I welcome any questions, concerns, or suggestions regarding the proposal.
ANTICIPATED SUPERVISOR QUESTIONS:
Q: How does your gated cross-attention compare to existing co-attention mechanisms?
A: The key difference is the gating function, which explicitly prevents the cross-modal update from completely overwriting the original modality representation — addressing information loss that can occur in standard co-attention.
Q: What if ESM-2 pretraining doesn't help cold-start performance significantly?
A: We include both ChemBERTa and ESM-2 as separate ablation conditions, so we can assess their individual contribution. If pretrained embeddings don't help, we will investigate alternative strategies like graph meta-learning or prototypical networks.
Q: How do you handle the computational cost of cross-attention for long protein sequences?
A: We pad/truncate proteins to 1,200 residues, and cross-attention is computed at the global embedding level (after pooling), not token-by-token, keeping the computational cost manageable.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3A6E"/>
          </a:solidFill>
          <a:ln w="12700">
            <a:solidFill>
              <a:srgbClr val="1A3A6E"/>
            </a:solidFill>
            <a:prstDash val="solid"/>
          </a:ln>
        </p:spPr>
        <p:txBody>
          <a:bodyPr/>
          <a:lstStyle/>
          <a:p>
            <a:endParaRPr lang="en-US"/>
          </a:p>
        </p:txBody>
      </p:sp>
      <p:sp>
        <p:nvSpPr>
          <p:cNvPr id="3" name="Shape 1"/>
          <p:cNvSpPr/>
          <p:nvPr/>
        </p:nvSpPr>
        <p:spPr>
          <a:xfrm>
            <a:off x="0" y="0"/>
            <a:ext cx="12188952" cy="2011680"/>
          </a:xfrm>
          <a:prstGeom prst="rect">
            <a:avLst/>
          </a:prstGeom>
          <a:solidFill>
            <a:srgbClr val="0D47A1"/>
          </a:solidFill>
          <a:ln w="12700">
            <a:solidFill>
              <a:srgbClr val="0D47A1"/>
            </a:solidFill>
            <a:prstDash val="solid"/>
          </a:ln>
        </p:spPr>
        <p:txBody>
          <a:bodyPr/>
          <a:lstStyle/>
          <a:p>
            <a:endParaRPr lang="en-US"/>
          </a:p>
        </p:txBody>
      </p:sp>
      <p:sp>
        <p:nvSpPr>
          <p:cNvPr id="4" name="Shape 2"/>
          <p:cNvSpPr/>
          <p:nvPr/>
        </p:nvSpPr>
        <p:spPr>
          <a:xfrm>
            <a:off x="0" y="5394960"/>
            <a:ext cx="12188952" cy="1463040"/>
          </a:xfrm>
          <a:prstGeom prst="rect">
            <a:avLst/>
          </a:prstGeom>
          <a:solidFill>
            <a:srgbClr val="0D47A1"/>
          </a:solidFill>
          <a:ln w="12700">
            <a:solidFill>
              <a:srgbClr val="0D47A1"/>
            </a:solidFill>
            <a:prstDash val="solid"/>
          </a:ln>
        </p:spPr>
        <p:txBody>
          <a:bodyPr/>
          <a:lstStyle/>
          <a:p>
            <a:endParaRPr lang="en-US"/>
          </a:p>
        </p:txBody>
      </p:sp>
      <p:sp>
        <p:nvSpPr>
          <p:cNvPr id="5" name="Text 3"/>
          <p:cNvSpPr/>
          <p:nvPr/>
        </p:nvSpPr>
        <p:spPr>
          <a:xfrm>
            <a:off x="365760" y="164592"/>
            <a:ext cx="11457432" cy="384048"/>
          </a:xfrm>
          <a:prstGeom prst="rect">
            <a:avLst/>
          </a:prstGeom>
          <a:noFill/>
          <a:ln/>
        </p:spPr>
        <p:txBody>
          <a:bodyPr wrap="square" rtlCol="0" anchor="ctr"/>
          <a:lstStyle/>
          <a:p>
            <a:pPr marL="0" indent="0" algn="ctr">
              <a:buNone/>
            </a:pPr>
            <a:r>
              <a:rPr lang="en-US" sz="1600" b="1" dirty="0">
                <a:solidFill>
                  <a:srgbClr val="90CAF9"/>
                </a:solidFill>
                <a:latin typeface="Calibri" pitchFamily="34" charset="0"/>
                <a:ea typeface="Calibri" pitchFamily="34" charset="-122"/>
                <a:cs typeface="Calibri" pitchFamily="34" charset="-120"/>
              </a:rPr>
              <a:t>SCHOOL OF COMPUTER SCIENCES</a:t>
            </a:r>
            <a:endParaRPr lang="en-US" sz="1600" dirty="0"/>
          </a:p>
        </p:txBody>
      </p:sp>
      <p:sp>
        <p:nvSpPr>
          <p:cNvPr id="6" name="Text 4"/>
          <p:cNvSpPr/>
          <p:nvPr/>
        </p:nvSpPr>
        <p:spPr>
          <a:xfrm>
            <a:off x="365760" y="475488"/>
            <a:ext cx="11457432" cy="347472"/>
          </a:xfrm>
          <a:prstGeom prst="rect">
            <a:avLst/>
          </a:prstGeom>
          <a:noFill/>
          <a:ln/>
        </p:spPr>
        <p:txBody>
          <a:bodyPr wrap="square" rtlCol="0" anchor="ctr"/>
          <a:lstStyle/>
          <a:p>
            <a:pPr marL="0" indent="0" algn="ctr">
              <a:buNone/>
            </a:pPr>
            <a:r>
              <a:rPr lang="en-US" sz="1400" dirty="0">
                <a:solidFill>
                  <a:srgbClr val="BDE3FA"/>
                </a:solidFill>
                <a:latin typeface="Calibri" pitchFamily="34" charset="0"/>
                <a:ea typeface="Calibri" pitchFamily="34" charset="-122"/>
                <a:cs typeface="Calibri" pitchFamily="34" charset="-120"/>
              </a:rPr>
              <a:t>UNIVERSITI SAINS MALAYSIA</a:t>
            </a:r>
            <a:endParaRPr lang="en-US" sz="1400" dirty="0"/>
          </a:p>
        </p:txBody>
      </p:sp>
      <p:sp>
        <p:nvSpPr>
          <p:cNvPr id="7" name="Text 5"/>
          <p:cNvSpPr/>
          <p:nvPr/>
        </p:nvSpPr>
        <p:spPr>
          <a:xfrm>
            <a:off x="365760" y="786384"/>
            <a:ext cx="11457432" cy="274320"/>
          </a:xfrm>
          <a:prstGeom prst="rect">
            <a:avLst/>
          </a:prstGeom>
          <a:noFill/>
          <a:ln/>
        </p:spPr>
        <p:txBody>
          <a:bodyPr wrap="square" rtlCol="0" anchor="ctr"/>
          <a:lstStyle/>
          <a:p>
            <a:pPr marL="0" indent="0" algn="ctr">
              <a:buNone/>
            </a:pPr>
            <a:r>
              <a:rPr lang="en-US" sz="1100" i="1" dirty="0">
                <a:solidFill>
                  <a:srgbClr val="90CAF9"/>
                </a:solidFill>
                <a:latin typeface="Calibri" pitchFamily="34" charset="0"/>
                <a:ea typeface="Calibri" pitchFamily="34" charset="-122"/>
                <a:cs typeface="Calibri" pitchFamily="34" charset="-120"/>
              </a:rPr>
              <a:t>RESEARCH PROPOSAL  |  SEMESTER 2  2025/2026</a:t>
            </a:r>
            <a:endParaRPr lang="en-US" sz="1100" dirty="0"/>
          </a:p>
        </p:txBody>
      </p:sp>
      <p:sp>
        <p:nvSpPr>
          <p:cNvPr id="8" name="Shape 6"/>
          <p:cNvSpPr/>
          <p:nvPr/>
        </p:nvSpPr>
        <p:spPr>
          <a:xfrm>
            <a:off x="457200" y="1463040"/>
            <a:ext cx="11274552" cy="2194560"/>
          </a:xfrm>
          <a:prstGeom prst="roundRect">
            <a:avLst>
              <a:gd name="adj" fmla="val 5000"/>
            </a:avLst>
          </a:prstGeom>
          <a:solidFill>
            <a:srgbClr val="1565C0"/>
          </a:solidFill>
          <a:ln w="12700">
            <a:solidFill>
              <a:srgbClr val="F57F17"/>
            </a:solidFill>
            <a:prstDash val="solid"/>
          </a:ln>
        </p:spPr>
        <p:txBody>
          <a:bodyPr/>
          <a:lstStyle/>
          <a:p>
            <a:endParaRPr lang="en-US"/>
          </a:p>
        </p:txBody>
      </p:sp>
      <p:sp>
        <p:nvSpPr>
          <p:cNvPr id="9" name="Text 7"/>
          <p:cNvSpPr/>
          <p:nvPr/>
        </p:nvSpPr>
        <p:spPr>
          <a:xfrm>
            <a:off x="640080" y="1554480"/>
            <a:ext cx="10908792" cy="20116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Enhanced Drug-Target Interaction Prediction</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Through Hybrid Deep Learning Approaches</a:t>
            </a:r>
            <a:endParaRPr lang="en-US" sz="2600" dirty="0"/>
          </a:p>
        </p:txBody>
      </p:sp>
      <p:sp>
        <p:nvSpPr>
          <p:cNvPr id="10" name="Shape 8"/>
          <p:cNvSpPr/>
          <p:nvPr/>
        </p:nvSpPr>
        <p:spPr>
          <a:xfrm>
            <a:off x="365760" y="3931920"/>
            <a:ext cx="2743200" cy="1234440"/>
          </a:xfrm>
          <a:prstGeom prst="roundRect">
            <a:avLst>
              <a:gd name="adj" fmla="val 5926"/>
            </a:avLst>
          </a:prstGeom>
          <a:solidFill>
            <a:srgbClr val="0D2B5A"/>
          </a:solidFill>
          <a:ln w="12700">
            <a:solidFill>
              <a:srgbClr val="4A90D9"/>
            </a:solidFill>
            <a:prstDash val="solid"/>
          </a:ln>
        </p:spPr>
        <p:txBody>
          <a:bodyPr/>
          <a:lstStyle/>
          <a:p>
            <a:endParaRPr lang="en-US"/>
          </a:p>
        </p:txBody>
      </p:sp>
      <p:sp>
        <p:nvSpPr>
          <p:cNvPr id="11" name="Text 9"/>
          <p:cNvSpPr/>
          <p:nvPr/>
        </p:nvSpPr>
        <p:spPr>
          <a:xfrm>
            <a:off x="438912" y="3986784"/>
            <a:ext cx="2596896" cy="27432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PRESENTER</a:t>
            </a:r>
            <a:endParaRPr lang="en-US" sz="900" dirty="0"/>
          </a:p>
        </p:txBody>
      </p:sp>
      <p:sp>
        <p:nvSpPr>
          <p:cNvPr id="12" name="Text 10"/>
          <p:cNvSpPr/>
          <p:nvPr/>
        </p:nvSpPr>
        <p:spPr>
          <a:xfrm>
            <a:off x="438912" y="4261104"/>
            <a:ext cx="2596896" cy="82296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Jamila Abdul-Hadi</a:t>
            </a:r>
            <a:endParaRPr lang="en-US" sz="1100" dirty="0"/>
          </a:p>
        </p:txBody>
      </p:sp>
      <p:sp>
        <p:nvSpPr>
          <p:cNvPr id="13" name="Shape 11"/>
          <p:cNvSpPr/>
          <p:nvPr/>
        </p:nvSpPr>
        <p:spPr>
          <a:xfrm>
            <a:off x="3200400" y="3931920"/>
            <a:ext cx="2743200" cy="1234440"/>
          </a:xfrm>
          <a:prstGeom prst="roundRect">
            <a:avLst>
              <a:gd name="adj" fmla="val 5926"/>
            </a:avLst>
          </a:prstGeom>
          <a:solidFill>
            <a:srgbClr val="0D2B5A"/>
          </a:solidFill>
          <a:ln w="12700">
            <a:solidFill>
              <a:srgbClr val="4A90D9"/>
            </a:solidFill>
            <a:prstDash val="solid"/>
          </a:ln>
        </p:spPr>
        <p:txBody>
          <a:bodyPr/>
          <a:lstStyle/>
          <a:p>
            <a:endParaRPr lang="en-US"/>
          </a:p>
        </p:txBody>
      </p:sp>
      <p:sp>
        <p:nvSpPr>
          <p:cNvPr id="14" name="Text 12"/>
          <p:cNvSpPr/>
          <p:nvPr/>
        </p:nvSpPr>
        <p:spPr>
          <a:xfrm>
            <a:off x="3273552" y="3986784"/>
            <a:ext cx="2596896" cy="27432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MATRIC NUMBER</a:t>
            </a:r>
            <a:endParaRPr lang="en-US" sz="900" dirty="0"/>
          </a:p>
        </p:txBody>
      </p:sp>
      <p:sp>
        <p:nvSpPr>
          <p:cNvPr id="15" name="Text 13"/>
          <p:cNvSpPr/>
          <p:nvPr/>
        </p:nvSpPr>
        <p:spPr>
          <a:xfrm>
            <a:off x="3273552" y="4261104"/>
            <a:ext cx="2596896" cy="82296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24100625</a:t>
            </a:r>
            <a:endParaRPr lang="en-US" sz="1100" dirty="0"/>
          </a:p>
        </p:txBody>
      </p:sp>
      <p:sp>
        <p:nvSpPr>
          <p:cNvPr id="16" name="Shape 14"/>
          <p:cNvSpPr/>
          <p:nvPr/>
        </p:nvSpPr>
        <p:spPr>
          <a:xfrm>
            <a:off x="6035040" y="3931920"/>
            <a:ext cx="2743200" cy="1234440"/>
          </a:xfrm>
          <a:prstGeom prst="roundRect">
            <a:avLst>
              <a:gd name="adj" fmla="val 5926"/>
            </a:avLst>
          </a:prstGeom>
          <a:solidFill>
            <a:srgbClr val="0D2B5A"/>
          </a:solidFill>
          <a:ln w="12700">
            <a:solidFill>
              <a:srgbClr val="4A90D9"/>
            </a:solidFill>
            <a:prstDash val="solid"/>
          </a:ln>
        </p:spPr>
        <p:txBody>
          <a:bodyPr/>
          <a:lstStyle/>
          <a:p>
            <a:endParaRPr lang="en-US"/>
          </a:p>
        </p:txBody>
      </p:sp>
      <p:sp>
        <p:nvSpPr>
          <p:cNvPr id="17" name="Text 15"/>
          <p:cNvSpPr/>
          <p:nvPr/>
        </p:nvSpPr>
        <p:spPr>
          <a:xfrm>
            <a:off x="6108192" y="3986784"/>
            <a:ext cx="2596896" cy="27432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SUPERVISOR</a:t>
            </a:r>
            <a:endParaRPr lang="en-US" sz="900" dirty="0"/>
          </a:p>
        </p:txBody>
      </p:sp>
      <p:sp>
        <p:nvSpPr>
          <p:cNvPr id="18" name="Text 16"/>
          <p:cNvSpPr/>
          <p:nvPr/>
        </p:nvSpPr>
        <p:spPr>
          <a:xfrm>
            <a:off x="6108192" y="4261104"/>
            <a:ext cx="2596896" cy="82296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Assoc. Prof. Dr. Nurul Hashimah</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Ahamed Hassain Malim</a:t>
            </a:r>
            <a:endParaRPr lang="en-US" sz="1100" dirty="0"/>
          </a:p>
        </p:txBody>
      </p:sp>
      <p:sp>
        <p:nvSpPr>
          <p:cNvPr id="19" name="Shape 17"/>
          <p:cNvSpPr/>
          <p:nvPr/>
        </p:nvSpPr>
        <p:spPr>
          <a:xfrm>
            <a:off x="8869680" y="3931920"/>
            <a:ext cx="2743200" cy="1234440"/>
          </a:xfrm>
          <a:prstGeom prst="roundRect">
            <a:avLst>
              <a:gd name="adj" fmla="val 5926"/>
            </a:avLst>
          </a:prstGeom>
          <a:solidFill>
            <a:srgbClr val="0D2B5A"/>
          </a:solidFill>
          <a:ln w="12700">
            <a:solidFill>
              <a:srgbClr val="4A90D9"/>
            </a:solidFill>
            <a:prstDash val="solid"/>
          </a:ln>
        </p:spPr>
        <p:txBody>
          <a:bodyPr/>
          <a:lstStyle/>
          <a:p>
            <a:endParaRPr lang="en-US"/>
          </a:p>
        </p:txBody>
      </p:sp>
      <p:sp>
        <p:nvSpPr>
          <p:cNvPr id="20" name="Text 18"/>
          <p:cNvSpPr/>
          <p:nvPr/>
        </p:nvSpPr>
        <p:spPr>
          <a:xfrm>
            <a:off x="8942832" y="3986784"/>
            <a:ext cx="2596896" cy="27432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PROGRAM</a:t>
            </a:r>
            <a:endParaRPr lang="en-US" sz="900" dirty="0"/>
          </a:p>
        </p:txBody>
      </p:sp>
      <p:sp>
        <p:nvSpPr>
          <p:cNvPr id="21" name="Text 19"/>
          <p:cNvSpPr/>
          <p:nvPr/>
        </p:nvSpPr>
        <p:spPr>
          <a:xfrm>
            <a:off x="8942832" y="4261104"/>
            <a:ext cx="2596896" cy="82296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Doctor of Philosophy (PhD)</a:t>
            </a:r>
            <a:endParaRPr lang="en-US" sz="1100" dirty="0"/>
          </a:p>
        </p:txBody>
      </p:sp>
      <p:sp>
        <p:nvSpPr>
          <p:cNvPr id="22" name="Text 20"/>
          <p:cNvSpPr/>
          <p:nvPr/>
        </p:nvSpPr>
        <p:spPr>
          <a:xfrm>
            <a:off x="0" y="6583680"/>
            <a:ext cx="12188952" cy="274320"/>
          </a:xfrm>
          <a:prstGeom prst="rect">
            <a:avLst/>
          </a:prstGeom>
          <a:noFill/>
          <a:ln/>
        </p:spPr>
        <p:txBody>
          <a:bodyPr wrap="square" rtlCol="0" anchor="ctr"/>
          <a:lstStyle/>
          <a:p>
            <a:pPr marL="0" indent="0" algn="ctr">
              <a:buNone/>
            </a:pPr>
            <a:r>
              <a:rPr lang="en-US" sz="900" dirty="0">
                <a:solidFill>
                  <a:srgbClr val="7FA8D4"/>
                </a:solidFill>
                <a:latin typeface="Calibri" pitchFamily="34" charset="0"/>
                <a:ea typeface="Calibri" pitchFamily="34" charset="-122"/>
                <a:cs typeface="Calibri" pitchFamily="34" charset="-120"/>
              </a:rPr>
              <a:t>School of Computer Sciences  |  2025</a:t>
            </a:r>
            <a:endParaRPr lang="en-US" sz="900" dirty="0"/>
          </a:p>
        </p:txBody>
      </p:sp>
      <p:sp>
        <p:nvSpPr>
          <p:cNvPr id="24" name="Text 21"/>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A3A6E"/>
          </a:solidFill>
          <a:ln w="12700">
            <a:solidFill>
              <a:srgbClr val="1A3A6E"/>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Presentation Outline</a:t>
            </a:r>
            <a:endParaRPr lang="en-US" sz="2600" dirty="0"/>
          </a:p>
        </p:txBody>
      </p:sp>
      <p:sp>
        <p:nvSpPr>
          <p:cNvPr id="4" name="Shape 2"/>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5" name="Text 3"/>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6" name="Shape 4"/>
          <p:cNvSpPr/>
          <p:nvPr/>
        </p:nvSpPr>
        <p:spPr>
          <a:xfrm>
            <a:off x="0" y="960120"/>
            <a:ext cx="128016" cy="5605272"/>
          </a:xfrm>
          <a:prstGeom prst="rect">
            <a:avLst/>
          </a:prstGeom>
          <a:solidFill>
            <a:srgbClr val="1565C0"/>
          </a:solidFill>
          <a:ln w="12700">
            <a:solidFill>
              <a:srgbClr val="1565C0"/>
            </a:solidFill>
            <a:prstDash val="solid"/>
          </a:ln>
        </p:spPr>
        <p:txBody>
          <a:bodyPr/>
          <a:lstStyle/>
          <a:p>
            <a:endParaRPr lang="en-US"/>
          </a:p>
        </p:txBody>
      </p:sp>
      <p:sp>
        <p:nvSpPr>
          <p:cNvPr id="7" name="Text 5"/>
          <p:cNvSpPr/>
          <p:nvPr/>
        </p:nvSpPr>
        <p:spPr>
          <a:xfrm>
            <a:off x="365760" y="1051560"/>
            <a:ext cx="11731752" cy="274320"/>
          </a:xfrm>
          <a:prstGeom prst="rect">
            <a:avLst/>
          </a:prstGeom>
          <a:noFill/>
          <a:ln/>
        </p:spPr>
        <p:txBody>
          <a:bodyPr wrap="square" rtlCol="0" anchor="ctr"/>
          <a:lstStyle/>
          <a:p>
            <a:pPr marL="0" indent="0" algn="l">
              <a:buNone/>
            </a:pPr>
            <a:r>
              <a:rPr lang="en-US" sz="1100" i="1" dirty="0">
                <a:solidFill>
                  <a:srgbClr val="546E7A"/>
                </a:solidFill>
                <a:latin typeface="Calibri" pitchFamily="34" charset="0"/>
                <a:ea typeface="Calibri" pitchFamily="34" charset="-122"/>
                <a:cs typeface="Calibri" pitchFamily="34" charset="-120"/>
              </a:rPr>
              <a:t>The following sections structure this research proposal:</a:t>
            </a:r>
            <a:endParaRPr lang="en-US" sz="1100" dirty="0"/>
          </a:p>
        </p:txBody>
      </p:sp>
      <p:sp>
        <p:nvSpPr>
          <p:cNvPr id="8" name="Shape 6"/>
          <p:cNvSpPr/>
          <p:nvPr/>
        </p:nvSpPr>
        <p:spPr>
          <a:xfrm>
            <a:off x="256032" y="1389888"/>
            <a:ext cx="5806440" cy="1170432"/>
          </a:xfrm>
          <a:prstGeom prst="roundRect">
            <a:avLst>
              <a:gd name="adj" fmla="val 7813"/>
            </a:avLst>
          </a:prstGeom>
          <a:solidFill>
            <a:srgbClr val="ECEFF1"/>
          </a:solidFill>
          <a:ln w="12700">
            <a:solidFill>
              <a:srgbClr val="1565C0"/>
            </a:solidFill>
            <a:prstDash val="solid"/>
          </a:ln>
        </p:spPr>
        <p:txBody>
          <a:bodyPr/>
          <a:lstStyle/>
          <a:p>
            <a:endParaRPr lang="en-US"/>
          </a:p>
        </p:txBody>
      </p:sp>
      <p:sp>
        <p:nvSpPr>
          <p:cNvPr id="9" name="Shape 7"/>
          <p:cNvSpPr/>
          <p:nvPr/>
        </p:nvSpPr>
        <p:spPr>
          <a:xfrm>
            <a:off x="256032" y="1389888"/>
            <a:ext cx="438912" cy="1170432"/>
          </a:xfrm>
          <a:prstGeom prst="rect">
            <a:avLst/>
          </a:prstGeom>
          <a:solidFill>
            <a:srgbClr val="1565C0"/>
          </a:solidFill>
          <a:ln w="12700">
            <a:solidFill>
              <a:srgbClr val="1565C0"/>
            </a:solidFill>
            <a:prstDash val="solid"/>
          </a:ln>
        </p:spPr>
        <p:txBody>
          <a:bodyPr/>
          <a:lstStyle/>
          <a:p>
            <a:endParaRPr lang="en-US"/>
          </a:p>
        </p:txBody>
      </p:sp>
      <p:sp>
        <p:nvSpPr>
          <p:cNvPr id="10" name="Text 8"/>
          <p:cNvSpPr/>
          <p:nvPr/>
        </p:nvSpPr>
        <p:spPr>
          <a:xfrm>
            <a:off x="274320" y="1755648"/>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786384" y="1481328"/>
            <a:ext cx="5166360" cy="365760"/>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Introduction &amp; Background</a:t>
            </a:r>
            <a:endParaRPr lang="en-US" sz="1300" dirty="0"/>
          </a:p>
        </p:txBody>
      </p:sp>
      <p:sp>
        <p:nvSpPr>
          <p:cNvPr id="12" name="Text 10"/>
          <p:cNvSpPr/>
          <p:nvPr/>
        </p:nvSpPr>
        <p:spPr>
          <a:xfrm>
            <a:off x="786384" y="1847088"/>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Drug discovery landscape &amp; computational motivation</a:t>
            </a:r>
            <a:endParaRPr lang="en-US" sz="1050" dirty="0"/>
          </a:p>
        </p:txBody>
      </p:sp>
      <p:sp>
        <p:nvSpPr>
          <p:cNvPr id="13" name="Shape 11"/>
          <p:cNvSpPr/>
          <p:nvPr/>
        </p:nvSpPr>
        <p:spPr>
          <a:xfrm>
            <a:off x="6245352" y="1389888"/>
            <a:ext cx="5806440" cy="1170432"/>
          </a:xfrm>
          <a:prstGeom prst="roundRect">
            <a:avLst>
              <a:gd name="adj" fmla="val 7813"/>
            </a:avLst>
          </a:prstGeom>
          <a:solidFill>
            <a:srgbClr val="ECEFF1"/>
          </a:solidFill>
          <a:ln w="12700">
            <a:solidFill>
              <a:srgbClr val="B71C1C"/>
            </a:solidFill>
            <a:prstDash val="solid"/>
          </a:ln>
        </p:spPr>
        <p:txBody>
          <a:bodyPr/>
          <a:lstStyle/>
          <a:p>
            <a:endParaRPr lang="en-US"/>
          </a:p>
        </p:txBody>
      </p:sp>
      <p:sp>
        <p:nvSpPr>
          <p:cNvPr id="14" name="Shape 12"/>
          <p:cNvSpPr/>
          <p:nvPr/>
        </p:nvSpPr>
        <p:spPr>
          <a:xfrm>
            <a:off x="6245352" y="1389888"/>
            <a:ext cx="438912" cy="1170432"/>
          </a:xfrm>
          <a:prstGeom prst="rect">
            <a:avLst/>
          </a:prstGeom>
          <a:solidFill>
            <a:srgbClr val="B71C1C"/>
          </a:solidFill>
          <a:ln w="12700">
            <a:solidFill>
              <a:srgbClr val="B71C1C"/>
            </a:solidFill>
            <a:prstDash val="solid"/>
          </a:ln>
        </p:spPr>
        <p:txBody>
          <a:bodyPr/>
          <a:lstStyle/>
          <a:p>
            <a:endParaRPr lang="en-US"/>
          </a:p>
        </p:txBody>
      </p:sp>
      <p:sp>
        <p:nvSpPr>
          <p:cNvPr id="15" name="Text 13"/>
          <p:cNvSpPr/>
          <p:nvPr/>
        </p:nvSpPr>
        <p:spPr>
          <a:xfrm>
            <a:off x="6263640" y="1755648"/>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6775704" y="1481328"/>
            <a:ext cx="5166360" cy="365760"/>
          </a:xfrm>
          <a:prstGeom prst="rect">
            <a:avLst/>
          </a:prstGeom>
          <a:noFill/>
          <a:ln/>
        </p:spPr>
        <p:txBody>
          <a:bodyPr wrap="square" rtlCol="0" anchor="ctr"/>
          <a:lstStyle/>
          <a:p>
            <a:pPr marL="0" indent="0">
              <a:buNone/>
            </a:pPr>
            <a:r>
              <a:rPr lang="en-US" sz="1300" b="1" dirty="0">
                <a:solidFill>
                  <a:srgbClr val="B71C1C"/>
                </a:solidFill>
                <a:latin typeface="Calibri" pitchFamily="34" charset="0"/>
                <a:ea typeface="Calibri" pitchFamily="34" charset="-122"/>
                <a:cs typeface="Calibri" pitchFamily="34" charset="-120"/>
              </a:rPr>
              <a:t>Problem Statement</a:t>
            </a:r>
            <a:endParaRPr lang="en-US" sz="1300" dirty="0"/>
          </a:p>
        </p:txBody>
      </p:sp>
      <p:sp>
        <p:nvSpPr>
          <p:cNvPr id="17" name="Text 15"/>
          <p:cNvSpPr/>
          <p:nvPr/>
        </p:nvSpPr>
        <p:spPr>
          <a:xfrm>
            <a:off x="6775704" y="1847088"/>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Four critical gaps in existing DTI models</a:t>
            </a:r>
            <a:endParaRPr lang="en-US" sz="1050" dirty="0"/>
          </a:p>
        </p:txBody>
      </p:sp>
      <p:sp>
        <p:nvSpPr>
          <p:cNvPr id="18" name="Shape 16"/>
          <p:cNvSpPr/>
          <p:nvPr/>
        </p:nvSpPr>
        <p:spPr>
          <a:xfrm>
            <a:off x="256032" y="2651760"/>
            <a:ext cx="5806440" cy="1170432"/>
          </a:xfrm>
          <a:prstGeom prst="roundRect">
            <a:avLst>
              <a:gd name="adj" fmla="val 7813"/>
            </a:avLst>
          </a:prstGeom>
          <a:solidFill>
            <a:srgbClr val="ECEFF1"/>
          </a:solidFill>
          <a:ln w="12700">
            <a:solidFill>
              <a:srgbClr val="00695C"/>
            </a:solidFill>
            <a:prstDash val="solid"/>
          </a:ln>
        </p:spPr>
        <p:txBody>
          <a:bodyPr/>
          <a:lstStyle/>
          <a:p>
            <a:endParaRPr lang="en-US"/>
          </a:p>
        </p:txBody>
      </p:sp>
      <p:sp>
        <p:nvSpPr>
          <p:cNvPr id="19" name="Shape 17"/>
          <p:cNvSpPr/>
          <p:nvPr/>
        </p:nvSpPr>
        <p:spPr>
          <a:xfrm>
            <a:off x="256032" y="2651760"/>
            <a:ext cx="438912" cy="1170432"/>
          </a:xfrm>
          <a:prstGeom prst="rect">
            <a:avLst/>
          </a:prstGeom>
          <a:solidFill>
            <a:srgbClr val="00695C"/>
          </a:solidFill>
          <a:ln w="12700">
            <a:solidFill>
              <a:srgbClr val="00695C"/>
            </a:solidFill>
            <a:prstDash val="solid"/>
          </a:ln>
        </p:spPr>
        <p:txBody>
          <a:bodyPr/>
          <a:lstStyle/>
          <a:p>
            <a:endParaRPr lang="en-US"/>
          </a:p>
        </p:txBody>
      </p:sp>
      <p:sp>
        <p:nvSpPr>
          <p:cNvPr id="20" name="Text 18"/>
          <p:cNvSpPr/>
          <p:nvPr/>
        </p:nvSpPr>
        <p:spPr>
          <a:xfrm>
            <a:off x="274320" y="3017520"/>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786384" y="2743200"/>
            <a:ext cx="5166360" cy="365760"/>
          </a:xfrm>
          <a:prstGeom prst="rect">
            <a:avLst/>
          </a:prstGeom>
          <a:noFill/>
          <a:ln/>
        </p:spPr>
        <p:txBody>
          <a:bodyPr wrap="square" rtlCol="0" anchor="ctr"/>
          <a:lstStyle/>
          <a:p>
            <a:pPr marL="0" indent="0">
              <a:buNone/>
            </a:pPr>
            <a:r>
              <a:rPr lang="en-US" sz="1300" b="1" dirty="0">
                <a:solidFill>
                  <a:srgbClr val="00695C"/>
                </a:solidFill>
                <a:latin typeface="Calibri" pitchFamily="34" charset="0"/>
                <a:ea typeface="Calibri" pitchFamily="34" charset="-122"/>
                <a:cs typeface="Calibri" pitchFamily="34" charset="-120"/>
              </a:rPr>
              <a:t>Research Objectives &amp; Questions</a:t>
            </a:r>
            <a:endParaRPr lang="en-US" sz="1300" dirty="0"/>
          </a:p>
        </p:txBody>
      </p:sp>
      <p:sp>
        <p:nvSpPr>
          <p:cNvPr id="22" name="Text 20"/>
          <p:cNvSpPr/>
          <p:nvPr/>
        </p:nvSpPr>
        <p:spPr>
          <a:xfrm>
            <a:off x="786384" y="3108960"/>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Main aim, three objectives, three research questions</a:t>
            </a:r>
            <a:endParaRPr lang="en-US" sz="1050" dirty="0"/>
          </a:p>
        </p:txBody>
      </p:sp>
      <p:sp>
        <p:nvSpPr>
          <p:cNvPr id="23" name="Shape 21"/>
          <p:cNvSpPr/>
          <p:nvPr/>
        </p:nvSpPr>
        <p:spPr>
          <a:xfrm>
            <a:off x="6245352" y="2651760"/>
            <a:ext cx="5806440" cy="1170432"/>
          </a:xfrm>
          <a:prstGeom prst="roundRect">
            <a:avLst>
              <a:gd name="adj" fmla="val 7813"/>
            </a:avLst>
          </a:prstGeom>
          <a:solidFill>
            <a:srgbClr val="ECEFF1"/>
          </a:solidFill>
          <a:ln w="12700">
            <a:solidFill>
              <a:srgbClr val="4A148C"/>
            </a:solidFill>
            <a:prstDash val="solid"/>
          </a:ln>
        </p:spPr>
        <p:txBody>
          <a:bodyPr/>
          <a:lstStyle/>
          <a:p>
            <a:endParaRPr lang="en-US"/>
          </a:p>
        </p:txBody>
      </p:sp>
      <p:sp>
        <p:nvSpPr>
          <p:cNvPr id="24" name="Shape 22"/>
          <p:cNvSpPr/>
          <p:nvPr/>
        </p:nvSpPr>
        <p:spPr>
          <a:xfrm>
            <a:off x="6245352" y="2651760"/>
            <a:ext cx="438912" cy="1170432"/>
          </a:xfrm>
          <a:prstGeom prst="rect">
            <a:avLst/>
          </a:prstGeom>
          <a:solidFill>
            <a:srgbClr val="4A148C"/>
          </a:solidFill>
          <a:ln w="12700">
            <a:solidFill>
              <a:srgbClr val="4A148C"/>
            </a:solidFill>
            <a:prstDash val="solid"/>
          </a:ln>
        </p:spPr>
        <p:txBody>
          <a:bodyPr/>
          <a:lstStyle/>
          <a:p>
            <a:endParaRPr lang="en-US"/>
          </a:p>
        </p:txBody>
      </p:sp>
      <p:sp>
        <p:nvSpPr>
          <p:cNvPr id="25" name="Text 23"/>
          <p:cNvSpPr/>
          <p:nvPr/>
        </p:nvSpPr>
        <p:spPr>
          <a:xfrm>
            <a:off x="6263640" y="3017520"/>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6775704" y="2743200"/>
            <a:ext cx="5166360" cy="365760"/>
          </a:xfrm>
          <a:prstGeom prst="rect">
            <a:avLst/>
          </a:prstGeom>
          <a:noFill/>
          <a:ln/>
        </p:spPr>
        <p:txBody>
          <a:bodyPr wrap="square" rtlCol="0" anchor="ctr"/>
          <a:lstStyle/>
          <a:p>
            <a:pPr marL="0" indent="0">
              <a:buNone/>
            </a:pPr>
            <a:r>
              <a:rPr lang="en-US" sz="1300" b="1" dirty="0">
                <a:solidFill>
                  <a:srgbClr val="4A148C"/>
                </a:solidFill>
                <a:latin typeface="Calibri" pitchFamily="34" charset="0"/>
                <a:ea typeface="Calibri" pitchFamily="34" charset="-122"/>
                <a:cs typeface="Calibri" pitchFamily="34" charset="-120"/>
              </a:rPr>
              <a:t>Scope &amp; Significance</a:t>
            </a:r>
            <a:endParaRPr lang="en-US" sz="1300" dirty="0"/>
          </a:p>
        </p:txBody>
      </p:sp>
      <p:sp>
        <p:nvSpPr>
          <p:cNvPr id="27" name="Text 25"/>
          <p:cNvSpPr/>
          <p:nvPr/>
        </p:nvSpPr>
        <p:spPr>
          <a:xfrm>
            <a:off x="6775704" y="3108960"/>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Research boundaries and expected impact</a:t>
            </a:r>
            <a:endParaRPr lang="en-US" sz="1050" dirty="0"/>
          </a:p>
        </p:txBody>
      </p:sp>
      <p:sp>
        <p:nvSpPr>
          <p:cNvPr id="28" name="Shape 26"/>
          <p:cNvSpPr/>
          <p:nvPr/>
        </p:nvSpPr>
        <p:spPr>
          <a:xfrm>
            <a:off x="256032" y="3913632"/>
            <a:ext cx="5806440" cy="1170432"/>
          </a:xfrm>
          <a:prstGeom prst="roundRect">
            <a:avLst>
              <a:gd name="adj" fmla="val 7813"/>
            </a:avLst>
          </a:prstGeom>
          <a:solidFill>
            <a:srgbClr val="ECEFF1"/>
          </a:solidFill>
          <a:ln w="12700">
            <a:solidFill>
              <a:srgbClr val="1A3A6E"/>
            </a:solidFill>
            <a:prstDash val="solid"/>
          </a:ln>
        </p:spPr>
        <p:txBody>
          <a:bodyPr/>
          <a:lstStyle/>
          <a:p>
            <a:endParaRPr lang="en-US"/>
          </a:p>
        </p:txBody>
      </p:sp>
      <p:sp>
        <p:nvSpPr>
          <p:cNvPr id="29" name="Shape 27"/>
          <p:cNvSpPr/>
          <p:nvPr/>
        </p:nvSpPr>
        <p:spPr>
          <a:xfrm>
            <a:off x="256032" y="3913632"/>
            <a:ext cx="438912" cy="1170432"/>
          </a:xfrm>
          <a:prstGeom prst="rect">
            <a:avLst/>
          </a:prstGeom>
          <a:solidFill>
            <a:srgbClr val="1A3A6E"/>
          </a:solidFill>
          <a:ln w="12700">
            <a:solidFill>
              <a:srgbClr val="1A3A6E"/>
            </a:solidFill>
            <a:prstDash val="solid"/>
          </a:ln>
        </p:spPr>
        <p:txBody>
          <a:bodyPr/>
          <a:lstStyle/>
          <a:p>
            <a:endParaRPr lang="en-US"/>
          </a:p>
        </p:txBody>
      </p:sp>
      <p:sp>
        <p:nvSpPr>
          <p:cNvPr id="30" name="Text 28"/>
          <p:cNvSpPr/>
          <p:nvPr/>
        </p:nvSpPr>
        <p:spPr>
          <a:xfrm>
            <a:off x="274320" y="4279392"/>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786384" y="4005072"/>
            <a:ext cx="5166360" cy="365760"/>
          </a:xfrm>
          <a:prstGeom prst="rect">
            <a:avLst/>
          </a:prstGeom>
          <a:noFill/>
          <a:ln/>
        </p:spPr>
        <p:txBody>
          <a:bodyPr wrap="square" rtlCol="0" anchor="ctr"/>
          <a:lstStyle/>
          <a:p>
            <a:pPr marL="0" indent="0">
              <a:buNone/>
            </a:pPr>
            <a:r>
              <a:rPr lang="en-US" sz="1300" b="1" dirty="0">
                <a:solidFill>
                  <a:srgbClr val="1A3A6E"/>
                </a:solidFill>
                <a:latin typeface="Calibri" pitchFamily="34" charset="0"/>
                <a:ea typeface="Calibri" pitchFamily="34" charset="-122"/>
                <a:cs typeface="Calibri" pitchFamily="34" charset="-120"/>
              </a:rPr>
              <a:t>Literature Review Overview</a:t>
            </a:r>
            <a:endParaRPr lang="en-US" sz="1300" dirty="0"/>
          </a:p>
        </p:txBody>
      </p:sp>
      <p:sp>
        <p:nvSpPr>
          <p:cNvPr id="32" name="Text 30"/>
          <p:cNvSpPr/>
          <p:nvPr/>
        </p:nvSpPr>
        <p:spPr>
          <a:xfrm>
            <a:off x="786384" y="4370832"/>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DTI methodologies and critical analysis of baselines</a:t>
            </a:r>
            <a:endParaRPr lang="en-US" sz="1050" dirty="0"/>
          </a:p>
        </p:txBody>
      </p:sp>
      <p:sp>
        <p:nvSpPr>
          <p:cNvPr id="33" name="Shape 31"/>
          <p:cNvSpPr/>
          <p:nvPr/>
        </p:nvSpPr>
        <p:spPr>
          <a:xfrm>
            <a:off x="6245352" y="3913632"/>
            <a:ext cx="5806440" cy="1170432"/>
          </a:xfrm>
          <a:prstGeom prst="roundRect">
            <a:avLst>
              <a:gd name="adj" fmla="val 7813"/>
            </a:avLst>
          </a:prstGeom>
          <a:solidFill>
            <a:srgbClr val="ECEFF1"/>
          </a:solidFill>
          <a:ln w="12700">
            <a:solidFill>
              <a:srgbClr val="E65100"/>
            </a:solidFill>
            <a:prstDash val="solid"/>
          </a:ln>
        </p:spPr>
        <p:txBody>
          <a:bodyPr/>
          <a:lstStyle/>
          <a:p>
            <a:endParaRPr lang="en-US"/>
          </a:p>
        </p:txBody>
      </p:sp>
      <p:sp>
        <p:nvSpPr>
          <p:cNvPr id="34" name="Shape 32"/>
          <p:cNvSpPr/>
          <p:nvPr/>
        </p:nvSpPr>
        <p:spPr>
          <a:xfrm>
            <a:off x="6245352" y="3913632"/>
            <a:ext cx="438912" cy="1170432"/>
          </a:xfrm>
          <a:prstGeom prst="rect">
            <a:avLst/>
          </a:prstGeom>
          <a:solidFill>
            <a:srgbClr val="E65100"/>
          </a:solidFill>
          <a:ln w="12700">
            <a:solidFill>
              <a:srgbClr val="E65100"/>
            </a:solidFill>
            <a:prstDash val="solid"/>
          </a:ln>
        </p:spPr>
        <p:txBody>
          <a:bodyPr/>
          <a:lstStyle/>
          <a:p>
            <a:endParaRPr lang="en-US"/>
          </a:p>
        </p:txBody>
      </p:sp>
      <p:sp>
        <p:nvSpPr>
          <p:cNvPr id="35" name="Text 33"/>
          <p:cNvSpPr/>
          <p:nvPr/>
        </p:nvSpPr>
        <p:spPr>
          <a:xfrm>
            <a:off x="6263640" y="4279392"/>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6" name="Text 34"/>
          <p:cNvSpPr/>
          <p:nvPr/>
        </p:nvSpPr>
        <p:spPr>
          <a:xfrm>
            <a:off x="6775704" y="4005072"/>
            <a:ext cx="5166360" cy="365760"/>
          </a:xfrm>
          <a:prstGeom prst="rect">
            <a:avLst/>
          </a:prstGeom>
          <a:noFill/>
          <a:ln/>
        </p:spPr>
        <p:txBody>
          <a:bodyPr wrap="square" rtlCol="0" anchor="ctr"/>
          <a:lstStyle/>
          <a:p>
            <a:pPr marL="0" indent="0">
              <a:buNone/>
            </a:pPr>
            <a:r>
              <a:rPr lang="en-US" sz="1300" b="1" dirty="0">
                <a:solidFill>
                  <a:srgbClr val="E65100"/>
                </a:solidFill>
                <a:latin typeface="Calibri" pitchFamily="34" charset="0"/>
                <a:ea typeface="Calibri" pitchFamily="34" charset="-122"/>
                <a:cs typeface="Calibri" pitchFamily="34" charset="-120"/>
              </a:rPr>
              <a:t>Methodology</a:t>
            </a:r>
            <a:endParaRPr lang="en-US" sz="1300" dirty="0"/>
          </a:p>
        </p:txBody>
      </p:sp>
      <p:sp>
        <p:nvSpPr>
          <p:cNvPr id="37" name="Text 35"/>
          <p:cNvSpPr/>
          <p:nvPr/>
        </p:nvSpPr>
        <p:spPr>
          <a:xfrm>
            <a:off x="6775704" y="4370832"/>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H-GNN-RNN-DTI architecture, training, evaluation</a:t>
            </a:r>
            <a:endParaRPr lang="en-US" sz="1050" dirty="0"/>
          </a:p>
        </p:txBody>
      </p:sp>
      <p:sp>
        <p:nvSpPr>
          <p:cNvPr id="38" name="Shape 36"/>
          <p:cNvSpPr/>
          <p:nvPr/>
        </p:nvSpPr>
        <p:spPr>
          <a:xfrm>
            <a:off x="256032" y="5175504"/>
            <a:ext cx="5806440" cy="1170432"/>
          </a:xfrm>
          <a:prstGeom prst="roundRect">
            <a:avLst>
              <a:gd name="adj" fmla="val 7813"/>
            </a:avLst>
          </a:prstGeom>
          <a:solidFill>
            <a:srgbClr val="ECEFF1"/>
          </a:solidFill>
          <a:ln w="12700">
            <a:solidFill>
              <a:srgbClr val="5D4037"/>
            </a:solidFill>
            <a:prstDash val="solid"/>
          </a:ln>
        </p:spPr>
        <p:txBody>
          <a:bodyPr/>
          <a:lstStyle/>
          <a:p>
            <a:endParaRPr lang="en-US"/>
          </a:p>
        </p:txBody>
      </p:sp>
      <p:sp>
        <p:nvSpPr>
          <p:cNvPr id="39" name="Shape 37"/>
          <p:cNvSpPr/>
          <p:nvPr/>
        </p:nvSpPr>
        <p:spPr>
          <a:xfrm>
            <a:off x="256032" y="5175504"/>
            <a:ext cx="438912" cy="1170432"/>
          </a:xfrm>
          <a:prstGeom prst="rect">
            <a:avLst/>
          </a:prstGeom>
          <a:solidFill>
            <a:srgbClr val="5D4037"/>
          </a:solidFill>
          <a:ln w="12700">
            <a:solidFill>
              <a:srgbClr val="5D4037"/>
            </a:solidFill>
            <a:prstDash val="solid"/>
          </a:ln>
        </p:spPr>
        <p:txBody>
          <a:bodyPr/>
          <a:lstStyle/>
          <a:p>
            <a:endParaRPr lang="en-US"/>
          </a:p>
        </p:txBody>
      </p:sp>
      <p:sp>
        <p:nvSpPr>
          <p:cNvPr id="40" name="Text 38"/>
          <p:cNvSpPr/>
          <p:nvPr/>
        </p:nvSpPr>
        <p:spPr>
          <a:xfrm>
            <a:off x="274320" y="5541264"/>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41" name="Text 39"/>
          <p:cNvSpPr/>
          <p:nvPr/>
        </p:nvSpPr>
        <p:spPr>
          <a:xfrm>
            <a:off x="786384" y="5266944"/>
            <a:ext cx="5166360" cy="365760"/>
          </a:xfrm>
          <a:prstGeom prst="rect">
            <a:avLst/>
          </a:prstGeom>
          <a:noFill/>
          <a:ln/>
        </p:spPr>
        <p:txBody>
          <a:bodyPr wrap="square" rtlCol="0" anchor="ctr"/>
          <a:lstStyle/>
          <a:p>
            <a:pPr marL="0" indent="0">
              <a:buNone/>
            </a:pPr>
            <a:r>
              <a:rPr lang="en-US" sz="1300" b="1" dirty="0">
                <a:solidFill>
                  <a:srgbClr val="5D4037"/>
                </a:solidFill>
                <a:latin typeface="Calibri" pitchFamily="34" charset="0"/>
                <a:ea typeface="Calibri" pitchFamily="34" charset="-122"/>
                <a:cs typeface="Calibri" pitchFamily="34" charset="-120"/>
              </a:rPr>
              <a:t>Timeline &amp; Milestones</a:t>
            </a:r>
            <a:endParaRPr lang="en-US" sz="1300" dirty="0"/>
          </a:p>
        </p:txBody>
      </p:sp>
      <p:sp>
        <p:nvSpPr>
          <p:cNvPr id="42" name="Text 40"/>
          <p:cNvSpPr/>
          <p:nvPr/>
        </p:nvSpPr>
        <p:spPr>
          <a:xfrm>
            <a:off x="786384" y="5632704"/>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3-year Gantt chart and research phases</a:t>
            </a:r>
            <a:endParaRPr lang="en-US" sz="1050" dirty="0"/>
          </a:p>
        </p:txBody>
      </p:sp>
      <p:sp>
        <p:nvSpPr>
          <p:cNvPr id="43" name="Shape 41"/>
          <p:cNvSpPr/>
          <p:nvPr/>
        </p:nvSpPr>
        <p:spPr>
          <a:xfrm>
            <a:off x="6245352" y="5175504"/>
            <a:ext cx="5806440" cy="1170432"/>
          </a:xfrm>
          <a:prstGeom prst="roundRect">
            <a:avLst>
              <a:gd name="adj" fmla="val 7813"/>
            </a:avLst>
          </a:prstGeom>
          <a:solidFill>
            <a:srgbClr val="ECEFF1"/>
          </a:solidFill>
          <a:ln w="12700">
            <a:solidFill>
              <a:srgbClr val="1B5E20"/>
            </a:solidFill>
            <a:prstDash val="solid"/>
          </a:ln>
        </p:spPr>
        <p:txBody>
          <a:bodyPr/>
          <a:lstStyle/>
          <a:p>
            <a:endParaRPr lang="en-US"/>
          </a:p>
        </p:txBody>
      </p:sp>
      <p:sp>
        <p:nvSpPr>
          <p:cNvPr id="44" name="Shape 42"/>
          <p:cNvSpPr/>
          <p:nvPr/>
        </p:nvSpPr>
        <p:spPr>
          <a:xfrm>
            <a:off x="6245352" y="5175504"/>
            <a:ext cx="438912" cy="1170432"/>
          </a:xfrm>
          <a:prstGeom prst="rect">
            <a:avLst/>
          </a:prstGeom>
          <a:solidFill>
            <a:srgbClr val="1B5E20"/>
          </a:solidFill>
          <a:ln w="12700">
            <a:solidFill>
              <a:srgbClr val="1B5E20"/>
            </a:solidFill>
            <a:prstDash val="solid"/>
          </a:ln>
        </p:spPr>
        <p:txBody>
          <a:bodyPr/>
          <a:lstStyle/>
          <a:p>
            <a:endParaRPr lang="en-US"/>
          </a:p>
        </p:txBody>
      </p:sp>
      <p:sp>
        <p:nvSpPr>
          <p:cNvPr id="45" name="Text 43"/>
          <p:cNvSpPr/>
          <p:nvPr/>
        </p:nvSpPr>
        <p:spPr>
          <a:xfrm>
            <a:off x="6263640" y="5541264"/>
            <a:ext cx="402336"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6" name="Text 44"/>
          <p:cNvSpPr/>
          <p:nvPr/>
        </p:nvSpPr>
        <p:spPr>
          <a:xfrm>
            <a:off x="6775704" y="5266944"/>
            <a:ext cx="5166360" cy="365760"/>
          </a:xfrm>
          <a:prstGeom prst="rect">
            <a:avLst/>
          </a:prstGeom>
          <a:noFill/>
          <a:ln/>
        </p:spPr>
        <p:txBody>
          <a:bodyPr wrap="square" rtlCol="0" anchor="ctr"/>
          <a:lstStyle/>
          <a:p>
            <a:pPr marL="0" indent="0">
              <a:buNone/>
            </a:pPr>
            <a:r>
              <a:rPr lang="en-US" sz="1300" b="1" dirty="0">
                <a:solidFill>
                  <a:srgbClr val="1B5E20"/>
                </a:solidFill>
                <a:latin typeface="Calibri" pitchFamily="34" charset="0"/>
                <a:ea typeface="Calibri" pitchFamily="34" charset="-122"/>
                <a:cs typeface="Calibri" pitchFamily="34" charset="-120"/>
              </a:rPr>
              <a:t>Expected Outcomes &amp; References</a:t>
            </a:r>
            <a:endParaRPr lang="en-US" sz="1300" dirty="0"/>
          </a:p>
        </p:txBody>
      </p:sp>
      <p:sp>
        <p:nvSpPr>
          <p:cNvPr id="47" name="Text 45"/>
          <p:cNvSpPr/>
          <p:nvPr/>
        </p:nvSpPr>
        <p:spPr>
          <a:xfrm>
            <a:off x="6775704" y="5632704"/>
            <a:ext cx="5166360" cy="594360"/>
          </a:xfrm>
          <a:prstGeom prst="rect">
            <a:avLst/>
          </a:prstGeom>
          <a:noFill/>
          <a:ln/>
        </p:spPr>
        <p:txBody>
          <a:bodyPr wrap="square" rtlCol="0" anchor="t"/>
          <a:lstStyle/>
          <a:p>
            <a:pPr marL="0" indent="0">
              <a:buNone/>
            </a:pPr>
            <a:r>
              <a:rPr lang="en-US" sz="1050" dirty="0">
                <a:solidFill>
                  <a:srgbClr val="546E7A"/>
                </a:solidFill>
                <a:latin typeface="Calibri" pitchFamily="34" charset="0"/>
                <a:ea typeface="Calibri" pitchFamily="34" charset="-122"/>
                <a:cs typeface="Calibri" pitchFamily="34" charset="-120"/>
              </a:rPr>
              <a:t>✅ Contributions, publications, and key citations</a:t>
            </a:r>
            <a:endParaRPr lang="en-US" sz="1050" dirty="0"/>
          </a:p>
        </p:txBody>
      </p:sp>
      <p:sp>
        <p:nvSpPr>
          <p:cNvPr id="49" name="Text 46"/>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565C0"/>
          </a:solidFill>
          <a:ln w="12700">
            <a:solidFill>
              <a:srgbClr val="1565C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Introduction &amp; Background</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The Drug Discovery Challenge</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1565C0"/>
          </a:solidFill>
          <a:ln w="12700">
            <a:solidFill>
              <a:srgbClr val="1565C0"/>
            </a:solidFill>
            <a:prstDash val="solid"/>
          </a:ln>
        </p:spPr>
        <p:txBody>
          <a:bodyPr/>
          <a:lstStyle/>
          <a:p>
            <a:endParaRPr lang="en-US"/>
          </a:p>
        </p:txBody>
      </p:sp>
      <p:sp>
        <p:nvSpPr>
          <p:cNvPr id="8" name="Shape 6"/>
          <p:cNvSpPr/>
          <p:nvPr/>
        </p:nvSpPr>
        <p:spPr>
          <a:xfrm>
            <a:off x="256032" y="1051560"/>
            <a:ext cx="5303520" cy="2560320"/>
          </a:xfrm>
          <a:prstGeom prst="roundRect">
            <a:avLst>
              <a:gd name="adj" fmla="val 2857"/>
            </a:avLst>
          </a:prstGeom>
          <a:solidFill>
            <a:srgbClr val="FFCDD2"/>
          </a:solidFill>
          <a:ln w="12700">
            <a:solidFill>
              <a:srgbClr val="B71C1C"/>
            </a:solidFill>
            <a:prstDash val="solid"/>
          </a:ln>
        </p:spPr>
        <p:txBody>
          <a:bodyPr/>
          <a:lstStyle/>
          <a:p>
            <a:endParaRPr lang="en-US"/>
          </a:p>
        </p:txBody>
      </p:sp>
      <p:sp>
        <p:nvSpPr>
          <p:cNvPr id="9" name="Shape 7"/>
          <p:cNvSpPr/>
          <p:nvPr/>
        </p:nvSpPr>
        <p:spPr>
          <a:xfrm>
            <a:off x="256032" y="1051560"/>
            <a:ext cx="5303520" cy="347472"/>
          </a:xfrm>
          <a:prstGeom prst="rect">
            <a:avLst/>
          </a:prstGeom>
          <a:solidFill>
            <a:srgbClr val="B71C1C"/>
          </a:solidFill>
          <a:ln w="12700">
            <a:solidFill>
              <a:srgbClr val="B71C1C"/>
            </a:solidFill>
            <a:prstDash val="solid"/>
          </a:ln>
        </p:spPr>
        <p:txBody>
          <a:bodyPr/>
          <a:lstStyle/>
          <a:p>
            <a:endParaRPr lang="en-US"/>
          </a:p>
        </p:txBody>
      </p:sp>
      <p:sp>
        <p:nvSpPr>
          <p:cNvPr id="10" name="Text 8"/>
          <p:cNvSpPr/>
          <p:nvPr/>
        </p:nvSpPr>
        <p:spPr>
          <a:xfrm>
            <a:off x="347472" y="1088136"/>
            <a:ext cx="5120640" cy="30175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Why DTI Prediction Matters</a:t>
            </a:r>
            <a:endParaRPr lang="en-US" sz="1200" dirty="0"/>
          </a:p>
        </p:txBody>
      </p:sp>
      <p:sp>
        <p:nvSpPr>
          <p:cNvPr id="11" name="Text 9"/>
          <p:cNvSpPr/>
          <p:nvPr/>
        </p:nvSpPr>
        <p:spPr>
          <a:xfrm>
            <a:off x="393192" y="1435608"/>
            <a:ext cx="5047488" cy="2103120"/>
          </a:xfrm>
          <a:prstGeom prst="rect">
            <a:avLst/>
          </a:prstGeom>
          <a:noFill/>
          <a:ln/>
        </p:spPr>
        <p:txBody>
          <a:bodyPr wrap="square" rtlCol="0" anchor="t"/>
          <a:lstStyle/>
          <a:p>
            <a:r>
              <a:rPr lang="en-US" sz="1100" b="1" dirty="0">
                <a:solidFill>
                  <a:srgbClr val="1C2833"/>
                </a:solidFill>
                <a:latin typeface="Calibri" pitchFamily="34" charset="0"/>
                <a:ea typeface="Calibri" pitchFamily="34" charset="-122"/>
                <a:cs typeface="Calibri" pitchFamily="34" charset="-120"/>
              </a:rPr>
              <a:t>Traditional drug development costs ~$2.6 billion per approved drug</a:t>
            </a:r>
            <a:endParaRPr lang="en-US" sz="1100" dirty="0"/>
          </a:p>
          <a:p>
            <a:r>
              <a:rPr lang="en-US" sz="1100" dirty="0">
                <a:solidFill>
                  <a:srgbClr val="1C2833"/>
                </a:solidFill>
                <a:latin typeface="Calibri" pitchFamily="34" charset="0"/>
                <a:ea typeface="Calibri" pitchFamily="34" charset="-122"/>
                <a:cs typeface="Calibri" pitchFamily="34" charset="-120"/>
              </a:rPr>
              <a:t>Average development timeline: 10–15 years from discovery to market</a:t>
            </a:r>
            <a:endParaRPr lang="en-US" sz="1100" dirty="0"/>
          </a:p>
          <a:p>
            <a:r>
              <a:rPr lang="en-US" sz="1100" dirty="0">
                <a:solidFill>
                  <a:srgbClr val="1C2833"/>
                </a:solidFill>
                <a:latin typeface="Calibri" pitchFamily="34" charset="0"/>
                <a:ea typeface="Calibri" pitchFamily="34" charset="-122"/>
                <a:cs typeface="Calibri" pitchFamily="34" charset="-120"/>
              </a:rPr>
              <a:t>Only ~1 in 5,000 candidate compounds reaches clinical approval</a:t>
            </a:r>
            <a:endParaRPr lang="en-US" sz="1100" dirty="0"/>
          </a:p>
          <a:p>
            <a:r>
              <a:rPr lang="en-US" sz="1100" dirty="0">
                <a:solidFill>
                  <a:srgbClr val="1C2833"/>
                </a:solidFill>
                <a:latin typeface="Calibri" pitchFamily="34" charset="0"/>
                <a:ea typeface="Calibri" pitchFamily="34" charset="-122"/>
                <a:cs typeface="Calibri" pitchFamily="34" charset="-120"/>
              </a:rPr>
              <a:t>Wet-lab DTI assays are expensive, slow, and cannot scale to millions of compound-target pairs</a:t>
            </a:r>
            <a:endParaRPr lang="en-US" sz="1100" dirty="0"/>
          </a:p>
        </p:txBody>
      </p:sp>
      <p:sp>
        <p:nvSpPr>
          <p:cNvPr id="12" name="Shape 10"/>
          <p:cNvSpPr/>
          <p:nvPr/>
        </p:nvSpPr>
        <p:spPr>
          <a:xfrm>
            <a:off x="5742432" y="1051560"/>
            <a:ext cx="6172200" cy="2560320"/>
          </a:xfrm>
          <a:prstGeom prst="roundRect">
            <a:avLst>
              <a:gd name="adj" fmla="val 2857"/>
            </a:avLst>
          </a:prstGeom>
          <a:solidFill>
            <a:srgbClr val="DDEEFF"/>
          </a:solidFill>
          <a:ln w="12700">
            <a:solidFill>
              <a:srgbClr val="1565C0"/>
            </a:solidFill>
            <a:prstDash val="solid"/>
          </a:ln>
        </p:spPr>
        <p:txBody>
          <a:bodyPr/>
          <a:lstStyle/>
          <a:p>
            <a:endParaRPr lang="en-US"/>
          </a:p>
        </p:txBody>
      </p:sp>
      <p:sp>
        <p:nvSpPr>
          <p:cNvPr id="13" name="Shape 11"/>
          <p:cNvSpPr/>
          <p:nvPr/>
        </p:nvSpPr>
        <p:spPr>
          <a:xfrm>
            <a:off x="5742432" y="1051560"/>
            <a:ext cx="6172200" cy="347472"/>
          </a:xfrm>
          <a:prstGeom prst="rect">
            <a:avLst/>
          </a:prstGeom>
          <a:solidFill>
            <a:srgbClr val="1565C0"/>
          </a:solidFill>
          <a:ln w="12700">
            <a:solidFill>
              <a:srgbClr val="1565C0"/>
            </a:solidFill>
            <a:prstDash val="solid"/>
          </a:ln>
        </p:spPr>
        <p:txBody>
          <a:bodyPr/>
          <a:lstStyle/>
          <a:p>
            <a:endParaRPr lang="en-US"/>
          </a:p>
        </p:txBody>
      </p:sp>
      <p:sp>
        <p:nvSpPr>
          <p:cNvPr id="14" name="Text 12"/>
          <p:cNvSpPr/>
          <p:nvPr/>
        </p:nvSpPr>
        <p:spPr>
          <a:xfrm>
            <a:off x="5833872" y="1088136"/>
            <a:ext cx="5989320" cy="30175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Computational DTI Prediction: The Solution</a:t>
            </a:r>
            <a:endParaRPr lang="en-US" sz="1200" dirty="0"/>
          </a:p>
        </p:txBody>
      </p:sp>
      <p:sp>
        <p:nvSpPr>
          <p:cNvPr id="15" name="Text 13"/>
          <p:cNvSpPr/>
          <p:nvPr/>
        </p:nvSpPr>
        <p:spPr>
          <a:xfrm>
            <a:off x="5879592" y="1435608"/>
            <a:ext cx="5916168" cy="2103120"/>
          </a:xfrm>
          <a:prstGeom prst="rect">
            <a:avLst/>
          </a:prstGeom>
          <a:noFill/>
          <a:ln/>
        </p:spPr>
        <p:txBody>
          <a:bodyPr wrap="square" rtlCol="0" anchor="t"/>
          <a:lstStyle/>
          <a:p>
            <a:r>
              <a:rPr lang="en-US" sz="1100" dirty="0">
                <a:solidFill>
                  <a:srgbClr val="1C2833"/>
                </a:solidFill>
                <a:latin typeface="Calibri" pitchFamily="34" charset="0"/>
                <a:ea typeface="Calibri" pitchFamily="34" charset="-122"/>
                <a:cs typeface="Calibri" pitchFamily="34" charset="-120"/>
              </a:rPr>
              <a:t>In silico prediction screens millions of pairs in hours vs. years</a:t>
            </a:r>
            <a:endParaRPr lang="en-US" sz="1100" dirty="0"/>
          </a:p>
          <a:p>
            <a:r>
              <a:rPr lang="en-US" sz="1100" dirty="0">
                <a:solidFill>
                  <a:srgbClr val="1C2833"/>
                </a:solidFill>
                <a:latin typeface="Calibri" pitchFamily="34" charset="0"/>
                <a:ea typeface="Calibri" pitchFamily="34" charset="-122"/>
                <a:cs typeface="Calibri" pitchFamily="34" charset="-120"/>
              </a:rPr>
              <a:t>Enables drug repurposing — identifying new uses for approved drugs</a:t>
            </a:r>
            <a:endParaRPr lang="en-US" sz="1100" dirty="0"/>
          </a:p>
          <a:p>
            <a:r>
              <a:rPr lang="en-US" sz="1100" dirty="0">
                <a:solidFill>
                  <a:srgbClr val="1C2833"/>
                </a:solidFill>
                <a:latin typeface="Calibri" pitchFamily="34" charset="0"/>
                <a:ea typeface="Calibri" pitchFamily="34" charset="-122"/>
                <a:cs typeface="Calibri" pitchFamily="34" charset="-120"/>
              </a:rPr>
              <a:t>Predicts off-target effects early, improving safety profiles</a:t>
            </a:r>
            <a:endParaRPr lang="en-US" sz="1100" dirty="0"/>
          </a:p>
          <a:p>
            <a:r>
              <a:rPr lang="en-US" sz="1100" dirty="0">
                <a:solidFill>
                  <a:srgbClr val="1C2833"/>
                </a:solidFill>
                <a:latin typeface="Calibri" pitchFamily="34" charset="0"/>
                <a:ea typeface="Calibri" pitchFamily="34" charset="-122"/>
                <a:cs typeface="Calibri" pitchFamily="34" charset="-120"/>
              </a:rPr>
              <a:t>Deep learning models automatically learn complex molecular features without hand-crafting</a:t>
            </a:r>
            <a:endParaRPr lang="en-US" sz="1100" dirty="0"/>
          </a:p>
        </p:txBody>
      </p:sp>
      <p:sp>
        <p:nvSpPr>
          <p:cNvPr id="17" name="Shape 15"/>
          <p:cNvSpPr/>
          <p:nvPr/>
        </p:nvSpPr>
        <p:spPr>
          <a:xfrm>
            <a:off x="256032" y="3869229"/>
            <a:ext cx="2194560" cy="603504"/>
          </a:xfrm>
          <a:prstGeom prst="roundRect">
            <a:avLst>
              <a:gd name="adj" fmla="val 12121"/>
            </a:avLst>
          </a:prstGeom>
          <a:solidFill>
            <a:srgbClr val="546E7A"/>
          </a:solidFill>
          <a:ln w="12700">
            <a:solidFill>
              <a:srgbClr val="546E7A"/>
            </a:solidFill>
            <a:prstDash val="solid"/>
          </a:ln>
        </p:spPr>
        <p:txBody>
          <a:bodyPr/>
          <a:lstStyle/>
          <a:p>
            <a:endParaRPr lang="en-US"/>
          </a:p>
        </p:txBody>
      </p:sp>
      <p:sp>
        <p:nvSpPr>
          <p:cNvPr id="18" name="Text 16"/>
          <p:cNvSpPr/>
          <p:nvPr/>
        </p:nvSpPr>
        <p:spPr>
          <a:xfrm>
            <a:off x="301752" y="3887517"/>
            <a:ext cx="2103120" cy="56692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Molecular</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Docking</a:t>
            </a:r>
            <a:endParaRPr lang="en-US" sz="1000" dirty="0"/>
          </a:p>
        </p:txBody>
      </p:sp>
      <p:sp>
        <p:nvSpPr>
          <p:cNvPr id="19" name="Text 17"/>
          <p:cNvSpPr/>
          <p:nvPr/>
        </p:nvSpPr>
        <p:spPr>
          <a:xfrm>
            <a:off x="2450592" y="3960669"/>
            <a:ext cx="137160" cy="365760"/>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2587752" y="3869229"/>
            <a:ext cx="2194560" cy="603504"/>
          </a:xfrm>
          <a:prstGeom prst="roundRect">
            <a:avLst>
              <a:gd name="adj" fmla="val 12121"/>
            </a:avLst>
          </a:prstGeom>
          <a:solidFill>
            <a:srgbClr val="00695C"/>
          </a:solidFill>
          <a:ln w="12700">
            <a:solidFill>
              <a:srgbClr val="00695C"/>
            </a:solidFill>
            <a:prstDash val="solid"/>
          </a:ln>
        </p:spPr>
        <p:txBody>
          <a:bodyPr/>
          <a:lstStyle/>
          <a:p>
            <a:endParaRPr lang="en-US"/>
          </a:p>
        </p:txBody>
      </p:sp>
      <p:sp>
        <p:nvSpPr>
          <p:cNvPr id="21" name="Text 19"/>
          <p:cNvSpPr/>
          <p:nvPr/>
        </p:nvSpPr>
        <p:spPr>
          <a:xfrm>
            <a:off x="2633472" y="3887517"/>
            <a:ext cx="2103120" cy="56692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Ligand-Based</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QSAR</a:t>
            </a:r>
            <a:endParaRPr lang="en-US" sz="1000" dirty="0"/>
          </a:p>
        </p:txBody>
      </p:sp>
      <p:sp>
        <p:nvSpPr>
          <p:cNvPr id="22" name="Text 20"/>
          <p:cNvSpPr/>
          <p:nvPr/>
        </p:nvSpPr>
        <p:spPr>
          <a:xfrm>
            <a:off x="4782312" y="3960669"/>
            <a:ext cx="137160" cy="365760"/>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4919472" y="3869229"/>
            <a:ext cx="2194560" cy="603504"/>
          </a:xfrm>
          <a:prstGeom prst="roundRect">
            <a:avLst>
              <a:gd name="adj" fmla="val 12121"/>
            </a:avLst>
          </a:prstGeom>
          <a:solidFill>
            <a:srgbClr val="1565C0"/>
          </a:solidFill>
          <a:ln w="12700">
            <a:solidFill>
              <a:srgbClr val="1565C0"/>
            </a:solidFill>
            <a:prstDash val="solid"/>
          </a:ln>
        </p:spPr>
        <p:txBody>
          <a:bodyPr/>
          <a:lstStyle/>
          <a:p>
            <a:endParaRPr lang="en-US"/>
          </a:p>
        </p:txBody>
      </p:sp>
      <p:sp>
        <p:nvSpPr>
          <p:cNvPr id="24" name="Text 22"/>
          <p:cNvSpPr/>
          <p:nvPr/>
        </p:nvSpPr>
        <p:spPr>
          <a:xfrm>
            <a:off x="4965192" y="3887517"/>
            <a:ext cx="2103120" cy="56692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Classical</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ML</a:t>
            </a:r>
            <a:endParaRPr lang="en-US" sz="1000" dirty="0"/>
          </a:p>
        </p:txBody>
      </p:sp>
      <p:sp>
        <p:nvSpPr>
          <p:cNvPr id="25" name="Text 23"/>
          <p:cNvSpPr/>
          <p:nvPr/>
        </p:nvSpPr>
        <p:spPr>
          <a:xfrm>
            <a:off x="7114032" y="3960669"/>
            <a:ext cx="137160" cy="365760"/>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7251192" y="3869229"/>
            <a:ext cx="2194560" cy="603504"/>
          </a:xfrm>
          <a:prstGeom prst="roundRect">
            <a:avLst>
              <a:gd name="adj" fmla="val 12121"/>
            </a:avLst>
          </a:prstGeom>
          <a:solidFill>
            <a:srgbClr val="E65100"/>
          </a:solidFill>
          <a:ln w="12700">
            <a:solidFill>
              <a:srgbClr val="E65100"/>
            </a:solidFill>
            <a:prstDash val="solid"/>
          </a:ln>
        </p:spPr>
        <p:txBody>
          <a:bodyPr/>
          <a:lstStyle/>
          <a:p>
            <a:endParaRPr lang="en-US"/>
          </a:p>
        </p:txBody>
      </p:sp>
      <p:sp>
        <p:nvSpPr>
          <p:cNvPr id="27" name="Text 25"/>
          <p:cNvSpPr/>
          <p:nvPr/>
        </p:nvSpPr>
        <p:spPr>
          <a:xfrm>
            <a:off x="7296912" y="3887517"/>
            <a:ext cx="2103120" cy="56692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Deep</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Learning</a:t>
            </a:r>
            <a:endParaRPr lang="en-US" sz="1000" dirty="0"/>
          </a:p>
        </p:txBody>
      </p:sp>
      <p:sp>
        <p:nvSpPr>
          <p:cNvPr id="28" name="Text 26"/>
          <p:cNvSpPr/>
          <p:nvPr/>
        </p:nvSpPr>
        <p:spPr>
          <a:xfrm>
            <a:off x="9445752" y="3960669"/>
            <a:ext cx="137160" cy="365760"/>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9582912" y="3869229"/>
            <a:ext cx="2194560" cy="603504"/>
          </a:xfrm>
          <a:prstGeom prst="roundRect">
            <a:avLst>
              <a:gd name="adj" fmla="val 12121"/>
            </a:avLst>
          </a:prstGeom>
          <a:solidFill>
            <a:srgbClr val="B71C1C"/>
          </a:solidFill>
          <a:ln w="12700">
            <a:solidFill>
              <a:srgbClr val="B71C1C"/>
            </a:solidFill>
            <a:prstDash val="solid"/>
          </a:ln>
        </p:spPr>
        <p:txBody>
          <a:bodyPr/>
          <a:lstStyle/>
          <a:p>
            <a:endParaRPr lang="en-US"/>
          </a:p>
        </p:txBody>
      </p:sp>
      <p:sp>
        <p:nvSpPr>
          <p:cNvPr id="30" name="Text 28"/>
          <p:cNvSpPr/>
          <p:nvPr/>
        </p:nvSpPr>
        <p:spPr>
          <a:xfrm>
            <a:off x="9628632" y="3887517"/>
            <a:ext cx="2103120" cy="56692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Hybrid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Multimodal DL</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(This Study)</a:t>
            </a:r>
            <a:endParaRPr lang="en-US" sz="1000" dirty="0"/>
          </a:p>
        </p:txBody>
      </p:sp>
      <p:sp>
        <p:nvSpPr>
          <p:cNvPr id="31" name="Text 29"/>
          <p:cNvSpPr/>
          <p:nvPr/>
        </p:nvSpPr>
        <p:spPr>
          <a:xfrm>
            <a:off x="256032" y="4445301"/>
            <a:ext cx="11658600" cy="256032"/>
          </a:xfrm>
          <a:prstGeom prst="rect">
            <a:avLst/>
          </a:prstGeom>
          <a:noFill/>
          <a:ln/>
        </p:spPr>
        <p:txBody>
          <a:bodyPr wrap="square" rtlCol="0" anchor="ctr"/>
          <a:lstStyle/>
          <a:p>
            <a:pPr marL="0" indent="0" algn="ctr">
              <a:buNone/>
            </a:pPr>
            <a:r>
              <a:rPr lang="en-US" sz="1000" i="1" dirty="0">
                <a:solidFill>
                  <a:srgbClr val="546E7A"/>
                </a:solidFill>
                <a:latin typeface="Calibri" pitchFamily="34" charset="0"/>
                <a:ea typeface="Calibri" pitchFamily="34" charset="-122"/>
                <a:cs typeface="Calibri" pitchFamily="34" charset="-120"/>
              </a:rPr>
              <a:t>Evolution of Computational DTI Methodology</a:t>
            </a:r>
            <a:endParaRPr lang="en-US" sz="1000" dirty="0"/>
          </a:p>
        </p:txBody>
      </p:sp>
      <p:sp>
        <p:nvSpPr>
          <p:cNvPr id="32" name="Shape 30"/>
          <p:cNvSpPr/>
          <p:nvPr/>
        </p:nvSpPr>
        <p:spPr>
          <a:xfrm>
            <a:off x="256032" y="5338966"/>
            <a:ext cx="2834640" cy="969264"/>
          </a:xfrm>
          <a:prstGeom prst="roundRect">
            <a:avLst>
              <a:gd name="adj" fmla="val 7547"/>
            </a:avLst>
          </a:prstGeom>
          <a:solidFill>
            <a:srgbClr val="ECEFF1"/>
          </a:solidFill>
          <a:ln w="12700">
            <a:solidFill>
              <a:srgbClr val="B71C1C"/>
            </a:solidFill>
            <a:prstDash val="solid"/>
          </a:ln>
        </p:spPr>
        <p:txBody>
          <a:bodyPr/>
          <a:lstStyle/>
          <a:p>
            <a:endParaRPr lang="en-US"/>
          </a:p>
        </p:txBody>
      </p:sp>
      <p:sp>
        <p:nvSpPr>
          <p:cNvPr id="33" name="Text 31"/>
          <p:cNvSpPr/>
          <p:nvPr/>
        </p:nvSpPr>
        <p:spPr>
          <a:xfrm>
            <a:off x="329184" y="5375542"/>
            <a:ext cx="2688336" cy="420624"/>
          </a:xfrm>
          <a:prstGeom prst="rect">
            <a:avLst/>
          </a:prstGeom>
          <a:noFill/>
          <a:ln/>
        </p:spPr>
        <p:txBody>
          <a:bodyPr wrap="square" rtlCol="0" anchor="ctr"/>
          <a:lstStyle/>
          <a:p>
            <a:pPr marL="0" indent="0" algn="ctr">
              <a:buNone/>
            </a:pPr>
            <a:r>
              <a:rPr lang="en-US" sz="2200" b="1" dirty="0">
                <a:solidFill>
                  <a:srgbClr val="B71C1C"/>
                </a:solidFill>
                <a:latin typeface="Calibri" pitchFamily="34" charset="0"/>
                <a:ea typeface="Calibri" pitchFamily="34" charset="-122"/>
                <a:cs typeface="Calibri" pitchFamily="34" charset="-120"/>
              </a:rPr>
              <a:t>$2.6B</a:t>
            </a:r>
            <a:endParaRPr lang="en-US" sz="2200" dirty="0"/>
          </a:p>
        </p:txBody>
      </p:sp>
      <p:sp>
        <p:nvSpPr>
          <p:cNvPr id="34" name="Text 32"/>
          <p:cNvSpPr/>
          <p:nvPr/>
        </p:nvSpPr>
        <p:spPr>
          <a:xfrm>
            <a:off x="329184" y="5777878"/>
            <a:ext cx="2688336" cy="228600"/>
          </a:xfrm>
          <a:prstGeom prst="rect">
            <a:avLst/>
          </a:prstGeom>
          <a:noFill/>
          <a:ln/>
        </p:spPr>
        <p:txBody>
          <a:bodyPr wrap="square" rtlCol="0" anchor="ctr"/>
          <a:lstStyle/>
          <a:p>
            <a:pPr marL="0" indent="0" algn="ctr">
              <a:buNone/>
            </a:pPr>
            <a:r>
              <a:rPr lang="en-US" sz="1000" b="1" dirty="0">
                <a:solidFill>
                  <a:srgbClr val="1C2833"/>
                </a:solidFill>
                <a:latin typeface="Calibri" pitchFamily="34" charset="0"/>
                <a:ea typeface="Calibri" pitchFamily="34" charset="-122"/>
                <a:cs typeface="Calibri" pitchFamily="34" charset="-120"/>
              </a:rPr>
              <a:t>Per drug</a:t>
            </a:r>
            <a:endParaRPr lang="en-US" sz="1000" dirty="0"/>
          </a:p>
        </p:txBody>
      </p:sp>
      <p:sp>
        <p:nvSpPr>
          <p:cNvPr id="35" name="Text 33"/>
          <p:cNvSpPr/>
          <p:nvPr/>
        </p:nvSpPr>
        <p:spPr>
          <a:xfrm>
            <a:off x="329184" y="5997334"/>
            <a:ext cx="2688336" cy="219456"/>
          </a:xfrm>
          <a:prstGeom prst="rect">
            <a:avLst/>
          </a:prstGeom>
          <a:noFill/>
          <a:ln/>
        </p:spPr>
        <p:txBody>
          <a:bodyPr wrap="square" rtlCol="0" anchor="ctr"/>
          <a:lstStyle/>
          <a:p>
            <a:pPr marL="0" indent="0" algn="ctr">
              <a:buNone/>
            </a:pPr>
            <a:r>
              <a:rPr lang="en-US" sz="900" dirty="0">
                <a:solidFill>
                  <a:srgbClr val="546E7A"/>
                </a:solidFill>
                <a:latin typeface="Calibri" pitchFamily="34" charset="0"/>
                <a:ea typeface="Calibri" pitchFamily="34" charset="-122"/>
                <a:cs typeface="Calibri" pitchFamily="34" charset="-120"/>
              </a:rPr>
              <a:t>Cost</a:t>
            </a:r>
            <a:endParaRPr lang="en-US" sz="900" dirty="0"/>
          </a:p>
        </p:txBody>
      </p:sp>
      <p:sp>
        <p:nvSpPr>
          <p:cNvPr id="36" name="Shape 34"/>
          <p:cNvSpPr/>
          <p:nvPr/>
        </p:nvSpPr>
        <p:spPr>
          <a:xfrm>
            <a:off x="3182112" y="5338966"/>
            <a:ext cx="2834640" cy="969264"/>
          </a:xfrm>
          <a:prstGeom prst="roundRect">
            <a:avLst>
              <a:gd name="adj" fmla="val 7547"/>
            </a:avLst>
          </a:prstGeom>
          <a:solidFill>
            <a:srgbClr val="ECEFF1"/>
          </a:solidFill>
          <a:ln w="12700">
            <a:solidFill>
              <a:srgbClr val="5D4037"/>
            </a:solidFill>
            <a:prstDash val="solid"/>
          </a:ln>
        </p:spPr>
        <p:txBody>
          <a:bodyPr/>
          <a:lstStyle/>
          <a:p>
            <a:endParaRPr lang="en-US"/>
          </a:p>
        </p:txBody>
      </p:sp>
      <p:sp>
        <p:nvSpPr>
          <p:cNvPr id="37" name="Text 35"/>
          <p:cNvSpPr/>
          <p:nvPr/>
        </p:nvSpPr>
        <p:spPr>
          <a:xfrm>
            <a:off x="3255264" y="5375542"/>
            <a:ext cx="2688336" cy="420624"/>
          </a:xfrm>
          <a:prstGeom prst="rect">
            <a:avLst/>
          </a:prstGeom>
          <a:noFill/>
          <a:ln/>
        </p:spPr>
        <p:txBody>
          <a:bodyPr wrap="square" rtlCol="0" anchor="ctr"/>
          <a:lstStyle/>
          <a:p>
            <a:pPr marL="0" indent="0" algn="ctr">
              <a:buNone/>
            </a:pPr>
            <a:r>
              <a:rPr lang="en-US" sz="2200" b="1" dirty="0">
                <a:solidFill>
                  <a:srgbClr val="5D4037"/>
                </a:solidFill>
                <a:latin typeface="Calibri" pitchFamily="34" charset="0"/>
                <a:ea typeface="Calibri" pitchFamily="34" charset="-122"/>
                <a:cs typeface="Calibri" pitchFamily="34" charset="-120"/>
              </a:rPr>
              <a:t>15 Years</a:t>
            </a:r>
            <a:endParaRPr lang="en-US" sz="2200" dirty="0"/>
          </a:p>
        </p:txBody>
      </p:sp>
      <p:sp>
        <p:nvSpPr>
          <p:cNvPr id="38" name="Text 36"/>
          <p:cNvSpPr/>
          <p:nvPr/>
        </p:nvSpPr>
        <p:spPr>
          <a:xfrm>
            <a:off x="3255264" y="5777878"/>
            <a:ext cx="2688336" cy="228600"/>
          </a:xfrm>
          <a:prstGeom prst="rect">
            <a:avLst/>
          </a:prstGeom>
          <a:noFill/>
          <a:ln/>
        </p:spPr>
        <p:txBody>
          <a:bodyPr wrap="square" rtlCol="0" anchor="ctr"/>
          <a:lstStyle/>
          <a:p>
            <a:pPr marL="0" indent="0" algn="ctr">
              <a:buNone/>
            </a:pPr>
            <a:r>
              <a:rPr lang="en-US" sz="1000" b="1" dirty="0">
                <a:solidFill>
                  <a:srgbClr val="1C2833"/>
                </a:solidFill>
                <a:latin typeface="Calibri" pitchFamily="34" charset="0"/>
                <a:ea typeface="Calibri" pitchFamily="34" charset="-122"/>
                <a:cs typeface="Calibri" pitchFamily="34" charset="-120"/>
              </a:rPr>
              <a:t>To approval</a:t>
            </a:r>
            <a:endParaRPr lang="en-US" sz="1000" dirty="0"/>
          </a:p>
        </p:txBody>
      </p:sp>
      <p:sp>
        <p:nvSpPr>
          <p:cNvPr id="39" name="Text 37"/>
          <p:cNvSpPr/>
          <p:nvPr/>
        </p:nvSpPr>
        <p:spPr>
          <a:xfrm>
            <a:off x="3255264" y="5997334"/>
            <a:ext cx="2688336" cy="219456"/>
          </a:xfrm>
          <a:prstGeom prst="rect">
            <a:avLst/>
          </a:prstGeom>
          <a:noFill/>
          <a:ln/>
        </p:spPr>
        <p:txBody>
          <a:bodyPr wrap="square" rtlCol="0" anchor="ctr"/>
          <a:lstStyle/>
          <a:p>
            <a:pPr marL="0" indent="0" algn="ctr">
              <a:buNone/>
            </a:pPr>
            <a:r>
              <a:rPr lang="en-US" sz="900" dirty="0">
                <a:solidFill>
                  <a:srgbClr val="546E7A"/>
                </a:solidFill>
                <a:latin typeface="Calibri" pitchFamily="34" charset="0"/>
                <a:ea typeface="Calibri" pitchFamily="34" charset="-122"/>
                <a:cs typeface="Calibri" pitchFamily="34" charset="-120"/>
              </a:rPr>
              <a:t>Timeline</a:t>
            </a:r>
            <a:endParaRPr lang="en-US" sz="900" dirty="0"/>
          </a:p>
        </p:txBody>
      </p:sp>
      <p:sp>
        <p:nvSpPr>
          <p:cNvPr id="40" name="Shape 38"/>
          <p:cNvSpPr/>
          <p:nvPr/>
        </p:nvSpPr>
        <p:spPr>
          <a:xfrm>
            <a:off x="6108192" y="5338966"/>
            <a:ext cx="2834640" cy="969264"/>
          </a:xfrm>
          <a:prstGeom prst="roundRect">
            <a:avLst>
              <a:gd name="adj" fmla="val 7547"/>
            </a:avLst>
          </a:prstGeom>
          <a:solidFill>
            <a:srgbClr val="ECEFF1"/>
          </a:solidFill>
          <a:ln w="12700">
            <a:solidFill>
              <a:srgbClr val="1565C0"/>
            </a:solidFill>
            <a:prstDash val="solid"/>
          </a:ln>
        </p:spPr>
        <p:txBody>
          <a:bodyPr/>
          <a:lstStyle/>
          <a:p>
            <a:endParaRPr lang="en-US"/>
          </a:p>
        </p:txBody>
      </p:sp>
      <p:sp>
        <p:nvSpPr>
          <p:cNvPr id="41" name="Text 39"/>
          <p:cNvSpPr/>
          <p:nvPr/>
        </p:nvSpPr>
        <p:spPr>
          <a:xfrm>
            <a:off x="6181344" y="5375542"/>
            <a:ext cx="2688336" cy="420624"/>
          </a:xfrm>
          <a:prstGeom prst="rect">
            <a:avLst/>
          </a:prstGeom>
          <a:noFill/>
          <a:ln/>
        </p:spPr>
        <p:txBody>
          <a:bodyPr wrap="square" rtlCol="0" anchor="ctr"/>
          <a:lstStyle/>
          <a:p>
            <a:pPr marL="0" indent="0" algn="ctr">
              <a:buNone/>
            </a:pPr>
            <a:r>
              <a:rPr lang="en-US" sz="2200" b="1" dirty="0">
                <a:solidFill>
                  <a:srgbClr val="1565C0"/>
                </a:solidFill>
                <a:latin typeface="Calibri" pitchFamily="34" charset="0"/>
                <a:ea typeface="Calibri" pitchFamily="34" charset="-122"/>
                <a:cs typeface="Calibri" pitchFamily="34" charset="-120"/>
              </a:rPr>
              <a:t>~5,000+</a:t>
            </a:r>
            <a:endParaRPr lang="en-US" sz="2200" dirty="0"/>
          </a:p>
        </p:txBody>
      </p:sp>
      <p:sp>
        <p:nvSpPr>
          <p:cNvPr id="42" name="Text 40"/>
          <p:cNvSpPr/>
          <p:nvPr/>
        </p:nvSpPr>
        <p:spPr>
          <a:xfrm>
            <a:off x="6181344" y="5777878"/>
            <a:ext cx="2688336" cy="228600"/>
          </a:xfrm>
          <a:prstGeom prst="rect">
            <a:avLst/>
          </a:prstGeom>
          <a:noFill/>
          <a:ln/>
        </p:spPr>
        <p:txBody>
          <a:bodyPr wrap="square" rtlCol="0" anchor="ctr"/>
          <a:lstStyle/>
          <a:p>
            <a:pPr marL="0" indent="0" algn="ctr">
              <a:buNone/>
            </a:pPr>
            <a:r>
              <a:rPr lang="en-US" sz="1000" b="1" dirty="0">
                <a:solidFill>
                  <a:srgbClr val="1C2833"/>
                </a:solidFill>
                <a:latin typeface="Calibri" pitchFamily="34" charset="0"/>
                <a:ea typeface="Calibri" pitchFamily="34" charset="-122"/>
                <a:cs typeface="Calibri" pitchFamily="34" charset="-120"/>
              </a:rPr>
              <a:t>Targets</a:t>
            </a:r>
            <a:endParaRPr lang="en-US" sz="1000" dirty="0"/>
          </a:p>
        </p:txBody>
      </p:sp>
      <p:sp>
        <p:nvSpPr>
          <p:cNvPr id="43" name="Text 41"/>
          <p:cNvSpPr/>
          <p:nvPr/>
        </p:nvSpPr>
        <p:spPr>
          <a:xfrm>
            <a:off x="6181344" y="5997334"/>
            <a:ext cx="2688336" cy="219456"/>
          </a:xfrm>
          <a:prstGeom prst="rect">
            <a:avLst/>
          </a:prstGeom>
          <a:noFill/>
          <a:ln/>
        </p:spPr>
        <p:txBody>
          <a:bodyPr wrap="square" rtlCol="0" anchor="ctr"/>
          <a:lstStyle/>
          <a:p>
            <a:pPr marL="0" indent="0" algn="ctr">
              <a:buNone/>
            </a:pPr>
            <a:r>
              <a:rPr lang="en-US" sz="900" dirty="0">
                <a:solidFill>
                  <a:srgbClr val="546E7A"/>
                </a:solidFill>
                <a:latin typeface="Calibri" pitchFamily="34" charset="0"/>
                <a:ea typeface="Calibri" pitchFamily="34" charset="-122"/>
                <a:cs typeface="Calibri" pitchFamily="34" charset="-120"/>
              </a:rPr>
              <a:t>Human proteins</a:t>
            </a:r>
            <a:endParaRPr lang="en-US" sz="900" dirty="0"/>
          </a:p>
        </p:txBody>
      </p:sp>
      <p:sp>
        <p:nvSpPr>
          <p:cNvPr id="44" name="Shape 42"/>
          <p:cNvSpPr/>
          <p:nvPr/>
        </p:nvSpPr>
        <p:spPr>
          <a:xfrm>
            <a:off x="9034272" y="5338966"/>
            <a:ext cx="2834640" cy="969264"/>
          </a:xfrm>
          <a:prstGeom prst="roundRect">
            <a:avLst>
              <a:gd name="adj" fmla="val 7547"/>
            </a:avLst>
          </a:prstGeom>
          <a:solidFill>
            <a:srgbClr val="ECEFF1"/>
          </a:solidFill>
          <a:ln w="12700">
            <a:solidFill>
              <a:srgbClr val="1B5E20"/>
            </a:solidFill>
            <a:prstDash val="solid"/>
          </a:ln>
        </p:spPr>
        <p:txBody>
          <a:bodyPr/>
          <a:lstStyle/>
          <a:p>
            <a:endParaRPr lang="en-US"/>
          </a:p>
        </p:txBody>
      </p:sp>
      <p:sp>
        <p:nvSpPr>
          <p:cNvPr id="45" name="Text 43"/>
          <p:cNvSpPr/>
          <p:nvPr/>
        </p:nvSpPr>
        <p:spPr>
          <a:xfrm>
            <a:off x="9107424" y="5375542"/>
            <a:ext cx="2688336" cy="420624"/>
          </a:xfrm>
          <a:prstGeom prst="rect">
            <a:avLst/>
          </a:prstGeom>
          <a:noFill/>
          <a:ln/>
        </p:spPr>
        <p:txBody>
          <a:bodyPr wrap="square" rtlCol="0" anchor="ctr"/>
          <a:lstStyle/>
          <a:p>
            <a:pPr marL="0" indent="0" algn="ctr">
              <a:buNone/>
            </a:pPr>
            <a:r>
              <a:rPr lang="en-US" sz="2200" b="1" dirty="0">
                <a:solidFill>
                  <a:srgbClr val="1B5E20"/>
                </a:solidFill>
                <a:latin typeface="Calibri" pitchFamily="34" charset="0"/>
                <a:ea typeface="Calibri" pitchFamily="34" charset="-122"/>
                <a:cs typeface="Calibri" pitchFamily="34" charset="-120"/>
              </a:rPr>
              <a:t>Billions</a:t>
            </a:r>
            <a:endParaRPr lang="en-US" sz="2200" dirty="0"/>
          </a:p>
        </p:txBody>
      </p:sp>
      <p:sp>
        <p:nvSpPr>
          <p:cNvPr id="46" name="Text 44"/>
          <p:cNvSpPr/>
          <p:nvPr/>
        </p:nvSpPr>
        <p:spPr>
          <a:xfrm>
            <a:off x="9107424" y="5777878"/>
            <a:ext cx="2688336" cy="228600"/>
          </a:xfrm>
          <a:prstGeom prst="rect">
            <a:avLst/>
          </a:prstGeom>
          <a:noFill/>
          <a:ln/>
        </p:spPr>
        <p:txBody>
          <a:bodyPr wrap="square" rtlCol="0" anchor="ctr"/>
          <a:lstStyle/>
          <a:p>
            <a:pPr marL="0" indent="0" algn="ctr">
              <a:buNone/>
            </a:pPr>
            <a:r>
              <a:rPr lang="en-US" sz="1000" b="1" dirty="0">
                <a:solidFill>
                  <a:srgbClr val="1C2833"/>
                </a:solidFill>
                <a:latin typeface="Calibri" pitchFamily="34" charset="0"/>
                <a:ea typeface="Calibri" pitchFamily="34" charset="-122"/>
                <a:cs typeface="Calibri" pitchFamily="34" charset="-120"/>
              </a:rPr>
              <a:t>Pairs</a:t>
            </a:r>
            <a:endParaRPr lang="en-US" sz="1000" dirty="0"/>
          </a:p>
        </p:txBody>
      </p:sp>
      <p:sp>
        <p:nvSpPr>
          <p:cNvPr id="47" name="Text 45"/>
          <p:cNvSpPr/>
          <p:nvPr/>
        </p:nvSpPr>
        <p:spPr>
          <a:xfrm>
            <a:off x="9107424" y="5997334"/>
            <a:ext cx="2688336" cy="219456"/>
          </a:xfrm>
          <a:prstGeom prst="rect">
            <a:avLst/>
          </a:prstGeom>
          <a:noFill/>
          <a:ln/>
        </p:spPr>
        <p:txBody>
          <a:bodyPr wrap="square" rtlCol="0" anchor="ctr"/>
          <a:lstStyle/>
          <a:p>
            <a:pPr marL="0" indent="0" algn="ctr">
              <a:buNone/>
            </a:pPr>
            <a:r>
              <a:rPr lang="en-US" sz="900" dirty="0">
                <a:solidFill>
                  <a:srgbClr val="546E7A"/>
                </a:solidFill>
                <a:latin typeface="Calibri" pitchFamily="34" charset="0"/>
                <a:ea typeface="Calibri" pitchFamily="34" charset="-122"/>
                <a:cs typeface="Calibri" pitchFamily="34" charset="-120"/>
              </a:rPr>
              <a:t>Chemical space</a:t>
            </a:r>
            <a:endParaRPr lang="en-US" sz="900" dirty="0"/>
          </a:p>
        </p:txBody>
      </p:sp>
      <p:sp>
        <p:nvSpPr>
          <p:cNvPr id="49" name="Text 46"/>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565C0"/>
          </a:solidFill>
          <a:ln w="12700">
            <a:solidFill>
              <a:srgbClr val="1565C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Introduction &amp; Background</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Drug–Target Interaction: Biological Foundations</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1565C0"/>
          </a:solidFill>
          <a:ln w="12700">
            <a:solidFill>
              <a:srgbClr val="1565C0"/>
            </a:solidFill>
            <a:prstDash val="solid"/>
          </a:ln>
        </p:spPr>
        <p:txBody>
          <a:bodyPr/>
          <a:lstStyle/>
          <a:p>
            <a:endParaRPr lang="en-US"/>
          </a:p>
        </p:txBody>
      </p:sp>
      <p:sp>
        <p:nvSpPr>
          <p:cNvPr id="8" name="Shape 6"/>
          <p:cNvSpPr/>
          <p:nvPr/>
        </p:nvSpPr>
        <p:spPr>
          <a:xfrm>
            <a:off x="256032" y="1051560"/>
            <a:ext cx="3749040" cy="5120640"/>
          </a:xfrm>
          <a:prstGeom prst="roundRect">
            <a:avLst>
              <a:gd name="adj" fmla="val 1951"/>
            </a:avLst>
          </a:prstGeom>
          <a:solidFill>
            <a:srgbClr val="DDEEFF"/>
          </a:solidFill>
          <a:ln w="12700">
            <a:solidFill>
              <a:srgbClr val="1565C0"/>
            </a:solidFill>
            <a:prstDash val="solid"/>
          </a:ln>
        </p:spPr>
        <p:txBody>
          <a:bodyPr/>
          <a:lstStyle/>
          <a:p>
            <a:endParaRPr lang="en-US"/>
          </a:p>
        </p:txBody>
      </p:sp>
      <p:sp>
        <p:nvSpPr>
          <p:cNvPr id="9" name="Shape 7"/>
          <p:cNvSpPr/>
          <p:nvPr/>
        </p:nvSpPr>
        <p:spPr>
          <a:xfrm>
            <a:off x="256032" y="1051560"/>
            <a:ext cx="3749040" cy="347472"/>
          </a:xfrm>
          <a:prstGeom prst="rect">
            <a:avLst/>
          </a:prstGeom>
          <a:solidFill>
            <a:srgbClr val="1565C0"/>
          </a:solidFill>
          <a:ln w="12700">
            <a:solidFill>
              <a:srgbClr val="1565C0"/>
            </a:solidFill>
            <a:prstDash val="solid"/>
          </a:ln>
        </p:spPr>
        <p:txBody>
          <a:bodyPr/>
          <a:lstStyle/>
          <a:p>
            <a:endParaRPr lang="en-US"/>
          </a:p>
        </p:txBody>
      </p:sp>
      <p:sp>
        <p:nvSpPr>
          <p:cNvPr id="10" name="Text 8"/>
          <p:cNvSpPr/>
          <p:nvPr/>
        </p:nvSpPr>
        <p:spPr>
          <a:xfrm>
            <a:off x="347472" y="1088136"/>
            <a:ext cx="3566160" cy="30175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Drug Representation</a:t>
            </a:r>
            <a:endParaRPr lang="en-US" sz="1200" dirty="0"/>
          </a:p>
        </p:txBody>
      </p:sp>
      <p:sp>
        <p:nvSpPr>
          <p:cNvPr id="11" name="Text 9"/>
          <p:cNvSpPr/>
          <p:nvPr/>
        </p:nvSpPr>
        <p:spPr>
          <a:xfrm>
            <a:off x="393192" y="1435608"/>
            <a:ext cx="3493008" cy="4663440"/>
          </a:xfrm>
          <a:prstGeom prst="rect">
            <a:avLst/>
          </a:prstGeom>
          <a:noFill/>
          <a:ln/>
        </p:spPr>
        <p:txBody>
          <a:bodyPr wrap="square" rtlCol="0" anchor="t"/>
          <a:lstStyle/>
          <a:p>
            <a:r>
              <a:rPr lang="en-US" sz="1150" b="1" dirty="0">
                <a:solidFill>
                  <a:srgbClr val="1C2833"/>
                </a:solidFill>
                <a:latin typeface="Calibri" pitchFamily="34" charset="0"/>
                <a:ea typeface="Calibri" pitchFamily="34" charset="-122"/>
                <a:cs typeface="Calibri" pitchFamily="34" charset="-120"/>
              </a:rPr>
              <a:t>SMILES String → Molecular Graph</a:t>
            </a:r>
            <a:endParaRPr lang="en-US" sz="1150" dirty="0"/>
          </a:p>
          <a:p>
            <a:r>
              <a:rPr lang="en-US" sz="1100" dirty="0">
                <a:solidFill>
                  <a:srgbClr val="1C2833"/>
                </a:solidFill>
                <a:latin typeface="Calibri" pitchFamily="34" charset="0"/>
                <a:ea typeface="Calibri" pitchFamily="34" charset="-122"/>
                <a:cs typeface="Calibri" pitchFamily="34" charset="-120"/>
              </a:rPr>
              <a:t>G = (V, E) where V = atoms, E = bonds</a:t>
            </a:r>
            <a:endParaRPr lang="en-US" sz="1150" dirty="0"/>
          </a:p>
          <a:p>
            <a:r>
              <a:rPr lang="en-US" sz="1050" dirty="0">
                <a:solidFill>
                  <a:srgbClr val="1C2833"/>
                </a:solidFill>
                <a:latin typeface="Calibri" pitchFamily="34" charset="0"/>
                <a:ea typeface="Calibri" pitchFamily="34" charset="-122"/>
                <a:cs typeface="Calibri" pitchFamily="34" charset="-120"/>
              </a:rPr>
              <a:t>Node features: atomic number, valence, aromaticity, hybridization</a:t>
            </a:r>
            <a:endParaRPr lang="en-US" sz="1150" dirty="0"/>
          </a:p>
          <a:p>
            <a:r>
              <a:rPr lang="en-US" sz="1050" dirty="0">
                <a:solidFill>
                  <a:srgbClr val="1C2833"/>
                </a:solidFill>
                <a:latin typeface="Calibri" pitchFamily="34" charset="0"/>
                <a:ea typeface="Calibri" pitchFamily="34" charset="-122"/>
                <a:cs typeface="Calibri" pitchFamily="34" charset="-120"/>
              </a:rPr>
              <a:t>Edge features: bond type, conjugation, ring membership</a:t>
            </a:r>
            <a:endParaRPr lang="en-US" sz="1150" dirty="0"/>
          </a:p>
          <a:p>
            <a:r>
              <a:rPr lang="en-US" sz="1050" dirty="0">
                <a:solidFill>
                  <a:srgbClr val="1C2833"/>
                </a:solidFill>
                <a:latin typeface="Calibri" pitchFamily="34" charset="0"/>
                <a:ea typeface="Calibri" pitchFamily="34" charset="-122"/>
                <a:cs typeface="Calibri" pitchFamily="34" charset="-120"/>
              </a:rPr>
              <a:t>Pre-trained: ChemBERTa embeddings for node initialization</a:t>
            </a:r>
            <a:endParaRPr lang="en-US" sz="1150" dirty="0"/>
          </a:p>
        </p:txBody>
      </p:sp>
      <p:sp>
        <p:nvSpPr>
          <p:cNvPr id="12" name="Shape 10"/>
          <p:cNvSpPr/>
          <p:nvPr/>
        </p:nvSpPr>
        <p:spPr>
          <a:xfrm>
            <a:off x="4187952" y="1051560"/>
            <a:ext cx="3749040" cy="5120640"/>
          </a:xfrm>
          <a:prstGeom prst="roundRect">
            <a:avLst>
              <a:gd name="adj" fmla="val 1951"/>
            </a:avLst>
          </a:prstGeom>
          <a:solidFill>
            <a:srgbClr val="C8E6C9"/>
          </a:solidFill>
          <a:ln w="12700">
            <a:solidFill>
              <a:srgbClr val="1B5E20"/>
            </a:solidFill>
            <a:prstDash val="solid"/>
          </a:ln>
        </p:spPr>
        <p:txBody>
          <a:bodyPr/>
          <a:lstStyle/>
          <a:p>
            <a:endParaRPr lang="en-US"/>
          </a:p>
        </p:txBody>
      </p:sp>
      <p:sp>
        <p:nvSpPr>
          <p:cNvPr id="13" name="Shape 11"/>
          <p:cNvSpPr/>
          <p:nvPr/>
        </p:nvSpPr>
        <p:spPr>
          <a:xfrm>
            <a:off x="4187952" y="1051560"/>
            <a:ext cx="3749040" cy="347472"/>
          </a:xfrm>
          <a:prstGeom prst="rect">
            <a:avLst/>
          </a:prstGeom>
          <a:solidFill>
            <a:srgbClr val="1B5E20"/>
          </a:solidFill>
          <a:ln w="12700">
            <a:solidFill>
              <a:srgbClr val="1B5E20"/>
            </a:solidFill>
            <a:prstDash val="solid"/>
          </a:ln>
        </p:spPr>
        <p:txBody>
          <a:bodyPr/>
          <a:lstStyle/>
          <a:p>
            <a:endParaRPr lang="en-US"/>
          </a:p>
        </p:txBody>
      </p:sp>
      <p:sp>
        <p:nvSpPr>
          <p:cNvPr id="14" name="Text 12"/>
          <p:cNvSpPr/>
          <p:nvPr/>
        </p:nvSpPr>
        <p:spPr>
          <a:xfrm>
            <a:off x="4279392" y="1088136"/>
            <a:ext cx="3566160" cy="301752"/>
          </a:xfrm>
          <a:prstGeom prst="rect">
            <a:avLst/>
          </a:prstGeom>
          <a:noFill/>
          <a:ln/>
        </p:spPr>
        <p:txBody>
          <a:bodyPr wrap="square"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Protein Representation</a:t>
            </a:r>
            <a:endParaRPr lang="en-US" sz="1200" dirty="0"/>
          </a:p>
        </p:txBody>
      </p:sp>
      <p:sp>
        <p:nvSpPr>
          <p:cNvPr id="15" name="Text 13"/>
          <p:cNvSpPr/>
          <p:nvPr/>
        </p:nvSpPr>
        <p:spPr>
          <a:xfrm>
            <a:off x="4325112" y="1435608"/>
            <a:ext cx="3493008" cy="4663440"/>
          </a:xfrm>
          <a:prstGeom prst="rect">
            <a:avLst/>
          </a:prstGeom>
          <a:noFill/>
          <a:ln/>
        </p:spPr>
        <p:txBody>
          <a:bodyPr wrap="square" rtlCol="0" anchor="t"/>
          <a:lstStyle/>
          <a:p>
            <a:r>
              <a:rPr lang="en-US" sz="1150" b="1" dirty="0">
                <a:solidFill>
                  <a:srgbClr val="1C2833"/>
                </a:solidFill>
                <a:latin typeface="Calibri" pitchFamily="34" charset="0"/>
                <a:ea typeface="Calibri" pitchFamily="34" charset="-122"/>
                <a:cs typeface="Calibri" pitchFamily="34" charset="-120"/>
              </a:rPr>
              <a:t>FASTA Amino Acid Sequence</a:t>
            </a:r>
            <a:endParaRPr lang="en-US" sz="1150" dirty="0"/>
          </a:p>
          <a:p>
            <a:r>
              <a:rPr lang="en-US" sz="1100" dirty="0">
                <a:solidFill>
                  <a:srgbClr val="1C2833"/>
                </a:solidFill>
                <a:latin typeface="Calibri" pitchFamily="34" charset="0"/>
                <a:ea typeface="Calibri" pitchFamily="34" charset="-122"/>
                <a:cs typeface="Calibri" pitchFamily="34" charset="-120"/>
              </a:rPr>
              <a:t>x = (x₁, x₂, ..., x_T) residue string</a:t>
            </a:r>
            <a:endParaRPr lang="en-US" sz="1150" dirty="0"/>
          </a:p>
          <a:p>
            <a:r>
              <a:rPr lang="en-US" sz="1050" dirty="0">
                <a:solidFill>
                  <a:srgbClr val="1C2833"/>
                </a:solidFill>
                <a:latin typeface="Calibri" pitchFamily="34" charset="0"/>
                <a:ea typeface="Calibri" pitchFamily="34" charset="-122"/>
                <a:cs typeface="Calibri" pitchFamily="34" charset="-120"/>
              </a:rPr>
              <a:t>Encoded via ESM-2 protein language model (650M params)</a:t>
            </a:r>
            <a:endParaRPr lang="en-US" sz="1150" dirty="0"/>
          </a:p>
          <a:p>
            <a:r>
              <a:rPr lang="en-US" sz="1050" dirty="0">
                <a:solidFill>
                  <a:srgbClr val="1C2833"/>
                </a:solidFill>
                <a:latin typeface="Calibri" pitchFamily="34" charset="0"/>
                <a:ea typeface="Calibri" pitchFamily="34" charset="-122"/>
                <a:cs typeface="Calibri" pitchFamily="34" charset="-120"/>
              </a:rPr>
              <a:t>Captures evolutionary and structural context</a:t>
            </a:r>
            <a:endParaRPr lang="en-US" sz="1150" dirty="0"/>
          </a:p>
          <a:p>
            <a:r>
              <a:rPr lang="en-US" sz="1050" dirty="0">
                <a:solidFill>
                  <a:srgbClr val="1C2833"/>
                </a:solidFill>
                <a:latin typeface="Calibri" pitchFamily="34" charset="0"/>
                <a:ea typeface="Calibri" pitchFamily="34" charset="-122"/>
                <a:cs typeface="Calibri" pitchFamily="34" charset="-120"/>
              </a:rPr>
              <a:t>Variable length: 20 to 35,000+ residues</a:t>
            </a:r>
            <a:endParaRPr lang="en-US" sz="1150" dirty="0"/>
          </a:p>
        </p:txBody>
      </p:sp>
      <p:sp>
        <p:nvSpPr>
          <p:cNvPr id="16" name="Shape 14"/>
          <p:cNvSpPr/>
          <p:nvPr/>
        </p:nvSpPr>
        <p:spPr>
          <a:xfrm>
            <a:off x="8119872" y="1051560"/>
            <a:ext cx="3794760" cy="5120640"/>
          </a:xfrm>
          <a:prstGeom prst="roundRect">
            <a:avLst>
              <a:gd name="adj" fmla="val 1928"/>
            </a:avLst>
          </a:prstGeom>
          <a:solidFill>
            <a:srgbClr val="F3E5F5"/>
          </a:solidFill>
          <a:ln w="12700">
            <a:solidFill>
              <a:srgbClr val="4A148C"/>
            </a:solidFill>
            <a:prstDash val="solid"/>
          </a:ln>
        </p:spPr>
        <p:txBody>
          <a:bodyPr/>
          <a:lstStyle/>
          <a:p>
            <a:endParaRPr lang="en-US"/>
          </a:p>
        </p:txBody>
      </p:sp>
      <p:sp>
        <p:nvSpPr>
          <p:cNvPr id="17" name="Shape 15"/>
          <p:cNvSpPr/>
          <p:nvPr/>
        </p:nvSpPr>
        <p:spPr>
          <a:xfrm>
            <a:off x="8119872" y="1051560"/>
            <a:ext cx="3794760" cy="347472"/>
          </a:xfrm>
          <a:prstGeom prst="rect">
            <a:avLst/>
          </a:prstGeom>
          <a:solidFill>
            <a:srgbClr val="4A148C"/>
          </a:solidFill>
          <a:ln w="12700">
            <a:solidFill>
              <a:srgbClr val="4A148C"/>
            </a:solidFill>
            <a:prstDash val="solid"/>
          </a:ln>
        </p:spPr>
        <p:txBody>
          <a:bodyPr/>
          <a:lstStyle/>
          <a:p>
            <a:endParaRPr lang="en-US"/>
          </a:p>
        </p:txBody>
      </p:sp>
      <p:sp>
        <p:nvSpPr>
          <p:cNvPr id="18" name="Text 16"/>
          <p:cNvSpPr/>
          <p:nvPr/>
        </p:nvSpPr>
        <p:spPr>
          <a:xfrm>
            <a:off x="8211312" y="1088136"/>
            <a:ext cx="3611880" cy="30175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Prediction Tasks</a:t>
            </a:r>
            <a:endParaRPr lang="en-US" sz="1200" dirty="0"/>
          </a:p>
        </p:txBody>
      </p:sp>
      <p:sp>
        <p:nvSpPr>
          <p:cNvPr id="19" name="Text 17"/>
          <p:cNvSpPr/>
          <p:nvPr/>
        </p:nvSpPr>
        <p:spPr>
          <a:xfrm>
            <a:off x="8257032" y="1435608"/>
            <a:ext cx="3538728" cy="4663440"/>
          </a:xfrm>
          <a:prstGeom prst="rect">
            <a:avLst/>
          </a:prstGeom>
          <a:noFill/>
          <a:ln/>
        </p:spPr>
        <p:txBody>
          <a:bodyPr wrap="square" rtlCol="0" anchor="t"/>
          <a:lstStyle/>
          <a:p>
            <a:r>
              <a:rPr lang="en-US" sz="1150" b="1" dirty="0">
                <a:solidFill>
                  <a:srgbClr val="1C2833"/>
                </a:solidFill>
                <a:latin typeface="Calibri" pitchFamily="34" charset="0"/>
                <a:ea typeface="Calibri" pitchFamily="34" charset="-122"/>
                <a:cs typeface="Calibri" pitchFamily="34" charset="-120"/>
              </a:rPr>
              <a:t>Binary Classification (DTI)</a:t>
            </a:r>
            <a:endParaRPr lang="en-US" sz="1150" dirty="0"/>
          </a:p>
          <a:p>
            <a:r>
              <a:rPr lang="en-US" sz="1100" dirty="0">
                <a:solidFill>
                  <a:srgbClr val="1C2833"/>
                </a:solidFill>
                <a:latin typeface="Calibri" pitchFamily="34" charset="0"/>
                <a:ea typeface="Calibri" pitchFamily="34" charset="-122"/>
                <a:cs typeface="Calibri" pitchFamily="34" charset="-120"/>
              </a:rPr>
              <a:t>Does drug d interact with target t? → {0,1}</a:t>
            </a:r>
            <a:endParaRPr lang="en-US" sz="1150" dirty="0"/>
          </a:p>
          <a:p>
            <a:r>
              <a:rPr lang="en-US" sz="1050" dirty="0">
                <a:solidFill>
                  <a:srgbClr val="1C2833"/>
                </a:solidFill>
                <a:latin typeface="Calibri" pitchFamily="34" charset="0"/>
                <a:ea typeface="Calibri" pitchFamily="34" charset="-122"/>
                <a:cs typeface="Calibri" pitchFamily="34" charset="-120"/>
              </a:rPr>
              <a:t>Evaluated with AUC-ROC, AUPR</a:t>
            </a:r>
            <a:endParaRPr lang="en-US" sz="1150" dirty="0"/>
          </a:p>
          <a:p>
            <a:r>
              <a:rPr lang="en-US" sz="1150" b="1" dirty="0">
                <a:solidFill>
                  <a:srgbClr val="1C2833"/>
                </a:solidFill>
                <a:latin typeface="Calibri" pitchFamily="34" charset="0"/>
                <a:ea typeface="Calibri" pitchFamily="34" charset="-122"/>
                <a:cs typeface="Calibri" pitchFamily="34" charset="-120"/>
              </a:rPr>
              <a:t>Regression (DTA)</a:t>
            </a:r>
            <a:endParaRPr lang="en-US" sz="1150" dirty="0"/>
          </a:p>
          <a:p>
            <a:r>
              <a:rPr lang="en-US" sz="1100" dirty="0">
                <a:solidFill>
                  <a:srgbClr val="1C2833"/>
                </a:solidFill>
                <a:latin typeface="Calibri" pitchFamily="34" charset="0"/>
                <a:ea typeface="Calibri" pitchFamily="34" charset="-122"/>
                <a:cs typeface="Calibri" pitchFamily="34" charset="-120"/>
              </a:rPr>
              <a:t>Binding affinity value: pKd, pKi, pIC₅₀ (continuous)</a:t>
            </a:r>
            <a:endParaRPr lang="en-US" sz="1150" dirty="0"/>
          </a:p>
          <a:p>
            <a:r>
              <a:rPr lang="en-US" sz="1050" dirty="0">
                <a:solidFill>
                  <a:srgbClr val="1C2833"/>
                </a:solidFill>
                <a:latin typeface="Calibri" pitchFamily="34" charset="0"/>
                <a:ea typeface="Calibri" pitchFamily="34" charset="-122"/>
                <a:cs typeface="Calibri" pitchFamily="34" charset="-120"/>
              </a:rPr>
              <a:t>Evaluated with RMSE, CI, PCC</a:t>
            </a:r>
            <a:endParaRPr lang="en-US" sz="1150" dirty="0"/>
          </a:p>
          <a:p>
            <a:r>
              <a:rPr lang="en-US" sz="1150" b="1" dirty="0">
                <a:solidFill>
                  <a:srgbClr val="1C2833"/>
                </a:solidFill>
                <a:latin typeface="Calibri" pitchFamily="34" charset="0"/>
                <a:ea typeface="Calibri" pitchFamily="34" charset="-122"/>
                <a:cs typeface="Calibri" pitchFamily="34" charset="-120"/>
              </a:rPr>
              <a:t>Target Protein Classes:</a:t>
            </a:r>
            <a:endParaRPr lang="en-US" sz="1150" dirty="0"/>
          </a:p>
          <a:p>
            <a:r>
              <a:rPr lang="en-US" sz="1050" dirty="0">
                <a:solidFill>
                  <a:srgbClr val="1C2833"/>
                </a:solidFill>
                <a:latin typeface="Calibri" pitchFamily="34" charset="0"/>
                <a:ea typeface="Calibri" pitchFamily="34" charset="-122"/>
                <a:cs typeface="Calibri" pitchFamily="34" charset="-120"/>
              </a:rPr>
              <a:t>Enzymes, Ion Channels, GPCRs, Nuclear Receptors</a:t>
            </a:r>
            <a:endParaRPr lang="en-US" sz="1150" dirty="0"/>
          </a:p>
        </p:txBody>
      </p:sp>
      <p:sp>
        <p:nvSpPr>
          <p:cNvPr id="21" name="Text 18"/>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B71C1C"/>
          </a:solidFill>
          <a:ln w="12700">
            <a:solidFill>
              <a:srgbClr val="B71C1C"/>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Four Critical Limitations in Existing DTI Models</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B71C1C"/>
          </a:solidFill>
          <a:ln w="12700">
            <a:solidFill>
              <a:srgbClr val="B71C1C"/>
            </a:solidFill>
            <a:prstDash val="solid"/>
          </a:ln>
        </p:spPr>
        <p:txBody>
          <a:bodyPr/>
          <a:lstStyle/>
          <a:p>
            <a:endParaRPr lang="en-US"/>
          </a:p>
        </p:txBody>
      </p:sp>
      <p:sp>
        <p:nvSpPr>
          <p:cNvPr id="8" name="Shape 6"/>
          <p:cNvSpPr/>
          <p:nvPr/>
        </p:nvSpPr>
        <p:spPr>
          <a:xfrm>
            <a:off x="256032" y="1078992"/>
            <a:ext cx="5797296" cy="2286000"/>
          </a:xfrm>
          <a:prstGeom prst="roundRect">
            <a:avLst>
              <a:gd name="adj" fmla="val 4000"/>
            </a:avLst>
          </a:prstGeom>
          <a:solidFill>
            <a:srgbClr val="FFCDD2"/>
          </a:solidFill>
          <a:ln w="12700">
            <a:solidFill>
              <a:srgbClr val="B71C1C"/>
            </a:solidFill>
            <a:prstDash val="solid"/>
          </a:ln>
        </p:spPr>
        <p:txBody>
          <a:bodyPr/>
          <a:lstStyle/>
          <a:p>
            <a:endParaRPr lang="en-US"/>
          </a:p>
        </p:txBody>
      </p:sp>
      <p:sp>
        <p:nvSpPr>
          <p:cNvPr id="9" name="Text 7"/>
          <p:cNvSpPr/>
          <p:nvPr/>
        </p:nvSpPr>
        <p:spPr>
          <a:xfrm>
            <a:off x="365760" y="1133856"/>
            <a:ext cx="548640" cy="530352"/>
          </a:xfrm>
          <a:prstGeom prst="rect">
            <a:avLst/>
          </a:prstGeom>
          <a:noFill/>
          <a:ln/>
        </p:spPr>
        <p:txBody>
          <a:bodyPr wrap="square" rtlCol="0" anchor="ctr"/>
          <a:lstStyle/>
          <a:p>
            <a:pPr marL="0" indent="0">
              <a:buNone/>
            </a:pPr>
            <a:r>
              <a:rPr lang="en-US" sz="2200" dirty="0">
                <a:solidFill>
                  <a:srgbClr val="B71C1C"/>
                </a:solidFill>
                <a:latin typeface="Segoe UI Emoji" pitchFamily="34" charset="0"/>
                <a:ea typeface="Segoe UI Emoji" pitchFamily="34" charset="-122"/>
                <a:cs typeface="Segoe UI Emoji" pitchFamily="34" charset="-120"/>
              </a:rPr>
              <a:t>🧩</a:t>
            </a:r>
            <a:endParaRPr lang="en-US" sz="2200" dirty="0"/>
          </a:p>
        </p:txBody>
      </p:sp>
      <p:sp>
        <p:nvSpPr>
          <p:cNvPr id="10" name="Text 8"/>
          <p:cNvSpPr/>
          <p:nvPr/>
        </p:nvSpPr>
        <p:spPr>
          <a:xfrm>
            <a:off x="914400" y="1152144"/>
            <a:ext cx="5029200" cy="530352"/>
          </a:xfrm>
          <a:prstGeom prst="rect">
            <a:avLst/>
          </a:prstGeom>
          <a:noFill/>
          <a:ln/>
        </p:spPr>
        <p:txBody>
          <a:bodyPr wrap="square" rtlCol="0" anchor="ctr"/>
          <a:lstStyle/>
          <a:p>
            <a:pPr marL="0" indent="0">
              <a:buNone/>
            </a:pPr>
            <a:r>
              <a:rPr lang="en-US" sz="1350" b="1" dirty="0">
                <a:solidFill>
                  <a:srgbClr val="B71C1C"/>
                </a:solidFill>
                <a:latin typeface="Calibri" pitchFamily="34" charset="0"/>
                <a:ea typeface="Calibri" pitchFamily="34" charset="-122"/>
                <a:cs typeface="Calibri" pitchFamily="34" charset="-120"/>
              </a:rPr>
              <a:t>Weak Cross-Modal</a:t>
            </a:r>
            <a:endParaRPr lang="en-US" sz="1350" dirty="0"/>
          </a:p>
          <a:p>
            <a:pPr marL="0" indent="0">
              <a:buNone/>
            </a:pPr>
            <a:r>
              <a:rPr lang="en-US" sz="1350" b="1" dirty="0">
                <a:solidFill>
                  <a:srgbClr val="B71C1C"/>
                </a:solidFill>
                <a:latin typeface="Calibri" pitchFamily="34" charset="0"/>
                <a:ea typeface="Calibri" pitchFamily="34" charset="-122"/>
                <a:cs typeface="Calibri" pitchFamily="34" charset="-120"/>
              </a:rPr>
              <a:t>Feature Integration</a:t>
            </a:r>
            <a:endParaRPr lang="en-US" sz="1350" dirty="0"/>
          </a:p>
        </p:txBody>
      </p:sp>
      <p:sp>
        <p:nvSpPr>
          <p:cNvPr id="11" name="Text 9"/>
          <p:cNvSpPr/>
          <p:nvPr/>
        </p:nvSpPr>
        <p:spPr>
          <a:xfrm>
            <a:off x="393192" y="1737360"/>
            <a:ext cx="5532120" cy="1536192"/>
          </a:xfrm>
          <a:prstGeom prst="rect">
            <a:avLst/>
          </a:prstGeom>
          <a:noFill/>
          <a:ln/>
        </p:spPr>
        <p:txBody>
          <a:bodyPr wrap="square" rtlCol="0" anchor="t"/>
          <a:lstStyle/>
          <a:p>
            <a:pPr marL="0" indent="0">
              <a:buNone/>
            </a:pPr>
            <a:r>
              <a:rPr lang="en-US" sz="1100" dirty="0">
                <a:solidFill>
                  <a:srgbClr val="1C2833"/>
                </a:solidFill>
                <a:latin typeface="Calibri" pitchFamily="34" charset="0"/>
                <a:ea typeface="Calibri" pitchFamily="34" charset="-122"/>
                <a:cs typeface="Calibri" pitchFamily="34" charset="-120"/>
              </a:rPr>
              <a:t>Existing models (GSRF-DTI, TTModel, DTKGIN) use static, shallow fusion — simple concatenation of drug and protein embeddings. This prevents meaningful cross-modal interaction and loses binding-site geometry information.</a:t>
            </a:r>
            <a:endParaRPr lang="en-US" sz="1100" dirty="0"/>
          </a:p>
        </p:txBody>
      </p:sp>
      <p:sp>
        <p:nvSpPr>
          <p:cNvPr id="12" name="Shape 10"/>
          <p:cNvSpPr/>
          <p:nvPr/>
        </p:nvSpPr>
        <p:spPr>
          <a:xfrm>
            <a:off x="6236208" y="1078992"/>
            <a:ext cx="5797296" cy="2286000"/>
          </a:xfrm>
          <a:prstGeom prst="roundRect">
            <a:avLst>
              <a:gd name="adj" fmla="val 4000"/>
            </a:avLst>
          </a:prstGeom>
          <a:solidFill>
            <a:srgbClr val="DDEEFF"/>
          </a:solidFill>
          <a:ln w="12700">
            <a:solidFill>
              <a:srgbClr val="1565C0"/>
            </a:solidFill>
            <a:prstDash val="solid"/>
          </a:ln>
        </p:spPr>
        <p:txBody>
          <a:bodyPr/>
          <a:lstStyle/>
          <a:p>
            <a:endParaRPr lang="en-US"/>
          </a:p>
        </p:txBody>
      </p:sp>
      <p:sp>
        <p:nvSpPr>
          <p:cNvPr id="13" name="Text 11"/>
          <p:cNvSpPr/>
          <p:nvPr/>
        </p:nvSpPr>
        <p:spPr>
          <a:xfrm>
            <a:off x="6345936" y="1133856"/>
            <a:ext cx="548640" cy="530352"/>
          </a:xfrm>
          <a:prstGeom prst="rect">
            <a:avLst/>
          </a:prstGeom>
          <a:noFill/>
          <a:ln/>
        </p:spPr>
        <p:txBody>
          <a:bodyPr wrap="square" rtlCol="0" anchor="ctr"/>
          <a:lstStyle/>
          <a:p>
            <a:pPr marL="0" indent="0">
              <a:buNone/>
            </a:pPr>
            <a:r>
              <a:rPr lang="en-US" sz="2200" dirty="0">
                <a:solidFill>
                  <a:srgbClr val="1565C0"/>
                </a:solidFill>
                <a:latin typeface="Segoe UI Emoji" pitchFamily="34" charset="0"/>
                <a:ea typeface="Segoe UI Emoji" pitchFamily="34" charset="-122"/>
                <a:cs typeface="Segoe UI Emoji" pitchFamily="34" charset="-120"/>
              </a:rPr>
              <a:t>❄️</a:t>
            </a:r>
            <a:endParaRPr lang="en-US" sz="2200" dirty="0"/>
          </a:p>
        </p:txBody>
      </p:sp>
      <p:sp>
        <p:nvSpPr>
          <p:cNvPr id="14" name="Text 12"/>
          <p:cNvSpPr/>
          <p:nvPr/>
        </p:nvSpPr>
        <p:spPr>
          <a:xfrm>
            <a:off x="6894576" y="1152144"/>
            <a:ext cx="5029200" cy="530352"/>
          </a:xfrm>
          <a:prstGeom prst="rect">
            <a:avLst/>
          </a:prstGeom>
          <a:noFill/>
          <a:ln/>
        </p:spPr>
        <p:txBody>
          <a:bodyPr wrap="square" rtlCol="0" anchor="ctr"/>
          <a:lstStyle/>
          <a:p>
            <a:pPr marL="0" indent="0">
              <a:buNone/>
            </a:pPr>
            <a:r>
              <a:rPr lang="en-US" sz="1350" b="1" dirty="0">
                <a:solidFill>
                  <a:srgbClr val="1565C0"/>
                </a:solidFill>
                <a:latin typeface="Calibri" pitchFamily="34" charset="0"/>
                <a:ea typeface="Calibri" pitchFamily="34" charset="-122"/>
                <a:cs typeface="Calibri" pitchFamily="34" charset="-120"/>
              </a:rPr>
              <a:t>Cold-Start</a:t>
            </a:r>
            <a:endParaRPr lang="en-US" sz="1350" dirty="0"/>
          </a:p>
          <a:p>
            <a:pPr marL="0" indent="0">
              <a:buNone/>
            </a:pPr>
            <a:r>
              <a:rPr lang="en-US" sz="1350" b="1" dirty="0">
                <a:solidFill>
                  <a:srgbClr val="1565C0"/>
                </a:solidFill>
                <a:latin typeface="Calibri" pitchFamily="34" charset="0"/>
                <a:ea typeface="Calibri" pitchFamily="34" charset="-122"/>
                <a:cs typeface="Calibri" pitchFamily="34" charset="-120"/>
              </a:rPr>
              <a:t>Generalization Failure</a:t>
            </a:r>
            <a:endParaRPr lang="en-US" sz="1350" dirty="0"/>
          </a:p>
        </p:txBody>
      </p:sp>
      <p:sp>
        <p:nvSpPr>
          <p:cNvPr id="15" name="Text 13"/>
          <p:cNvSpPr/>
          <p:nvPr/>
        </p:nvSpPr>
        <p:spPr>
          <a:xfrm>
            <a:off x="6373368" y="1737360"/>
            <a:ext cx="5532120" cy="1536192"/>
          </a:xfrm>
          <a:prstGeom prst="rect">
            <a:avLst/>
          </a:prstGeom>
          <a:noFill/>
          <a:ln/>
        </p:spPr>
        <p:txBody>
          <a:bodyPr wrap="square" rtlCol="0" anchor="t"/>
          <a:lstStyle/>
          <a:p>
            <a:pPr marL="0" indent="0">
              <a:buNone/>
            </a:pPr>
            <a:r>
              <a:rPr lang="en-US" sz="1100" dirty="0">
                <a:solidFill>
                  <a:srgbClr val="1C2833"/>
                </a:solidFill>
                <a:latin typeface="Calibri" pitchFamily="34" charset="0"/>
                <a:ea typeface="Calibri" pitchFamily="34" charset="-122"/>
                <a:cs typeface="Calibri" pitchFamily="34" charset="-120"/>
              </a:rPr>
              <a:t>Models fail to generalize to novel drugs or targets unseen during training (S2/S3 cold-start settings), due to data sparsity and biased training distributions. No foundation-model pretraining is employed.</a:t>
            </a:r>
            <a:endParaRPr lang="en-US" sz="1100" dirty="0"/>
          </a:p>
        </p:txBody>
      </p:sp>
      <p:sp>
        <p:nvSpPr>
          <p:cNvPr id="16" name="Shape 14"/>
          <p:cNvSpPr/>
          <p:nvPr/>
        </p:nvSpPr>
        <p:spPr>
          <a:xfrm>
            <a:off x="256032" y="3502152"/>
            <a:ext cx="5797296" cy="2286000"/>
          </a:xfrm>
          <a:prstGeom prst="roundRect">
            <a:avLst>
              <a:gd name="adj" fmla="val 4000"/>
            </a:avLst>
          </a:prstGeom>
          <a:solidFill>
            <a:srgbClr val="FFF9C4"/>
          </a:solidFill>
          <a:ln w="12700">
            <a:solidFill>
              <a:srgbClr val="F57F17"/>
            </a:solidFill>
            <a:prstDash val="solid"/>
          </a:ln>
        </p:spPr>
        <p:txBody>
          <a:bodyPr/>
          <a:lstStyle/>
          <a:p>
            <a:endParaRPr lang="en-US"/>
          </a:p>
        </p:txBody>
      </p:sp>
      <p:sp>
        <p:nvSpPr>
          <p:cNvPr id="17" name="Text 15"/>
          <p:cNvSpPr/>
          <p:nvPr/>
        </p:nvSpPr>
        <p:spPr>
          <a:xfrm>
            <a:off x="365760" y="3557016"/>
            <a:ext cx="548640" cy="530352"/>
          </a:xfrm>
          <a:prstGeom prst="rect">
            <a:avLst/>
          </a:prstGeom>
          <a:noFill/>
          <a:ln/>
        </p:spPr>
        <p:txBody>
          <a:bodyPr wrap="square" rtlCol="0" anchor="ctr"/>
          <a:lstStyle/>
          <a:p>
            <a:pPr marL="0" indent="0">
              <a:buNone/>
            </a:pPr>
            <a:r>
              <a:rPr lang="en-US" sz="2200" dirty="0">
                <a:solidFill>
                  <a:srgbClr val="F57F17"/>
                </a:solidFill>
                <a:latin typeface="Segoe UI Emoji" pitchFamily="34" charset="0"/>
                <a:ea typeface="Segoe UI Emoji" pitchFamily="34" charset="-122"/>
                <a:cs typeface="Segoe UI Emoji" pitchFamily="34" charset="-120"/>
              </a:rPr>
              <a:t>⬛</a:t>
            </a:r>
            <a:endParaRPr lang="en-US" sz="2200" dirty="0"/>
          </a:p>
        </p:txBody>
      </p:sp>
      <p:sp>
        <p:nvSpPr>
          <p:cNvPr id="18" name="Text 16"/>
          <p:cNvSpPr/>
          <p:nvPr/>
        </p:nvSpPr>
        <p:spPr>
          <a:xfrm>
            <a:off x="914400" y="3575304"/>
            <a:ext cx="5029200" cy="530352"/>
          </a:xfrm>
          <a:prstGeom prst="rect">
            <a:avLst/>
          </a:prstGeom>
          <a:noFill/>
          <a:ln/>
        </p:spPr>
        <p:txBody>
          <a:bodyPr wrap="square" rtlCol="0" anchor="ctr"/>
          <a:lstStyle/>
          <a:p>
            <a:pPr marL="0" indent="0">
              <a:buNone/>
            </a:pPr>
            <a:r>
              <a:rPr lang="en-US" sz="1350" b="1" dirty="0">
                <a:solidFill>
                  <a:srgbClr val="F57F17"/>
                </a:solidFill>
                <a:latin typeface="Calibri" pitchFamily="34" charset="0"/>
                <a:ea typeface="Calibri" pitchFamily="34" charset="-122"/>
                <a:cs typeface="Calibri" pitchFamily="34" charset="-120"/>
              </a:rPr>
              <a:t>"Black Box" Model</a:t>
            </a:r>
            <a:endParaRPr lang="en-US" sz="1350" dirty="0"/>
          </a:p>
          <a:p>
            <a:pPr marL="0" indent="0">
              <a:buNone/>
            </a:pPr>
            <a:r>
              <a:rPr lang="en-US" sz="1350" b="1" dirty="0">
                <a:solidFill>
                  <a:srgbClr val="F57F17"/>
                </a:solidFill>
                <a:latin typeface="Calibri" pitchFamily="34" charset="0"/>
                <a:ea typeface="Calibri" pitchFamily="34" charset="-122"/>
                <a:cs typeface="Calibri" pitchFamily="34" charset="-120"/>
              </a:rPr>
              <a:t>Predictions</a:t>
            </a:r>
            <a:endParaRPr lang="en-US" sz="1350" dirty="0"/>
          </a:p>
        </p:txBody>
      </p:sp>
      <p:sp>
        <p:nvSpPr>
          <p:cNvPr id="19" name="Text 17"/>
          <p:cNvSpPr/>
          <p:nvPr/>
        </p:nvSpPr>
        <p:spPr>
          <a:xfrm>
            <a:off x="393192" y="4160520"/>
            <a:ext cx="5532120" cy="1536192"/>
          </a:xfrm>
          <a:prstGeom prst="rect">
            <a:avLst/>
          </a:prstGeom>
          <a:noFill/>
          <a:ln/>
        </p:spPr>
        <p:txBody>
          <a:bodyPr wrap="square" rtlCol="0" anchor="t"/>
          <a:lstStyle/>
          <a:p>
            <a:pPr marL="0" indent="0">
              <a:buNone/>
            </a:pPr>
            <a:r>
              <a:rPr lang="en-US" sz="1100" dirty="0">
                <a:solidFill>
                  <a:srgbClr val="1C2833"/>
                </a:solidFill>
                <a:latin typeface="Calibri" pitchFamily="34" charset="0"/>
                <a:ea typeface="Calibri" pitchFamily="34" charset="-122"/>
                <a:cs typeface="Calibri" pitchFamily="34" charset="-120"/>
              </a:rPr>
              <a:t>High-performing models lack atom-level and residue-level interpretability mechanisms. Predictions cannot guide rational drug design or structure-activity relationship (SAR) studies — a critical translational barrier.</a:t>
            </a:r>
            <a:endParaRPr lang="en-US" sz="1100" dirty="0"/>
          </a:p>
        </p:txBody>
      </p:sp>
      <p:sp>
        <p:nvSpPr>
          <p:cNvPr id="20" name="Shape 18"/>
          <p:cNvSpPr/>
          <p:nvPr/>
        </p:nvSpPr>
        <p:spPr>
          <a:xfrm>
            <a:off x="6236208" y="3502152"/>
            <a:ext cx="5797296" cy="2286000"/>
          </a:xfrm>
          <a:prstGeom prst="roundRect">
            <a:avLst>
              <a:gd name="adj" fmla="val 4000"/>
            </a:avLst>
          </a:prstGeom>
          <a:solidFill>
            <a:srgbClr val="F3E5F5"/>
          </a:solidFill>
          <a:ln w="12700">
            <a:solidFill>
              <a:srgbClr val="4A148C"/>
            </a:solidFill>
            <a:prstDash val="solid"/>
          </a:ln>
        </p:spPr>
        <p:txBody>
          <a:bodyPr/>
          <a:lstStyle/>
          <a:p>
            <a:endParaRPr lang="en-US"/>
          </a:p>
        </p:txBody>
      </p:sp>
      <p:sp>
        <p:nvSpPr>
          <p:cNvPr id="21" name="Text 19"/>
          <p:cNvSpPr/>
          <p:nvPr/>
        </p:nvSpPr>
        <p:spPr>
          <a:xfrm>
            <a:off x="6345936" y="3557016"/>
            <a:ext cx="548640" cy="530352"/>
          </a:xfrm>
          <a:prstGeom prst="rect">
            <a:avLst/>
          </a:prstGeom>
          <a:noFill/>
          <a:ln/>
        </p:spPr>
        <p:txBody>
          <a:bodyPr wrap="square" rtlCol="0" anchor="ctr"/>
          <a:lstStyle/>
          <a:p>
            <a:pPr marL="0" indent="0">
              <a:buNone/>
            </a:pPr>
            <a:r>
              <a:rPr lang="en-US" sz="2200" dirty="0">
                <a:solidFill>
                  <a:srgbClr val="4A148C"/>
                </a:solidFill>
                <a:latin typeface="Segoe UI Emoji" pitchFamily="34" charset="0"/>
                <a:ea typeface="Segoe UI Emoji" pitchFamily="34" charset="-122"/>
                <a:cs typeface="Segoe UI Emoji" pitchFamily="34" charset="-120"/>
              </a:rPr>
              <a:t>⚖️</a:t>
            </a:r>
            <a:endParaRPr lang="en-US" sz="2200" dirty="0"/>
          </a:p>
        </p:txBody>
      </p:sp>
      <p:sp>
        <p:nvSpPr>
          <p:cNvPr id="22" name="Text 20"/>
          <p:cNvSpPr/>
          <p:nvPr/>
        </p:nvSpPr>
        <p:spPr>
          <a:xfrm>
            <a:off x="6894576" y="3575304"/>
            <a:ext cx="5029200" cy="530352"/>
          </a:xfrm>
          <a:prstGeom prst="rect">
            <a:avLst/>
          </a:prstGeom>
          <a:noFill/>
          <a:ln/>
        </p:spPr>
        <p:txBody>
          <a:bodyPr wrap="square" rtlCol="0" anchor="ctr"/>
          <a:lstStyle/>
          <a:p>
            <a:pPr marL="0" indent="0">
              <a:buNone/>
            </a:pPr>
            <a:r>
              <a:rPr lang="en-US" sz="1350" b="1" dirty="0">
                <a:solidFill>
                  <a:srgbClr val="4A148C"/>
                </a:solidFill>
                <a:latin typeface="Calibri" pitchFamily="34" charset="0"/>
                <a:ea typeface="Calibri" pitchFamily="34" charset="-122"/>
                <a:cs typeface="Calibri" pitchFamily="34" charset="-120"/>
              </a:rPr>
              <a:t>Severe Data</a:t>
            </a:r>
            <a:endParaRPr lang="en-US" sz="1350" dirty="0"/>
          </a:p>
          <a:p>
            <a:pPr marL="0" indent="0">
              <a:buNone/>
            </a:pPr>
            <a:r>
              <a:rPr lang="en-US" sz="1350" b="1" dirty="0">
                <a:solidFill>
                  <a:srgbClr val="4A148C"/>
                </a:solidFill>
                <a:latin typeface="Calibri" pitchFamily="34" charset="0"/>
                <a:ea typeface="Calibri" pitchFamily="34" charset="-122"/>
                <a:cs typeface="Calibri" pitchFamily="34" charset="-120"/>
              </a:rPr>
              <a:t>Imbalance</a:t>
            </a:r>
            <a:endParaRPr lang="en-US" sz="1350" dirty="0"/>
          </a:p>
        </p:txBody>
      </p:sp>
      <p:sp>
        <p:nvSpPr>
          <p:cNvPr id="23" name="Text 21"/>
          <p:cNvSpPr/>
          <p:nvPr/>
        </p:nvSpPr>
        <p:spPr>
          <a:xfrm>
            <a:off x="6373368" y="4160520"/>
            <a:ext cx="5532120" cy="1536192"/>
          </a:xfrm>
          <a:prstGeom prst="rect">
            <a:avLst/>
          </a:prstGeom>
          <a:noFill/>
          <a:ln/>
        </p:spPr>
        <p:txBody>
          <a:bodyPr wrap="square" rtlCol="0" anchor="t"/>
          <a:lstStyle/>
          <a:p>
            <a:pPr marL="0" indent="0">
              <a:buNone/>
            </a:pPr>
            <a:r>
              <a:rPr lang="en-US" sz="1100" dirty="0">
                <a:solidFill>
                  <a:srgbClr val="1C2833"/>
                </a:solidFill>
                <a:latin typeface="Calibri" pitchFamily="34" charset="0"/>
                <a:ea typeface="Calibri" pitchFamily="34" charset="-122"/>
                <a:cs typeface="Calibri" pitchFamily="34" charset="-120"/>
              </a:rPr>
              <a:t>Known positive DTI pairs are vastly outnumbered by unknown/negative pairs. Standard training without imbalance-aware loss functions produces biased models with inflated accuracy but poor recall on positives.</a:t>
            </a:r>
            <a:endParaRPr lang="en-US" sz="1100" dirty="0"/>
          </a:p>
        </p:txBody>
      </p:sp>
      <p:sp>
        <p:nvSpPr>
          <p:cNvPr id="24" name="Shape 22"/>
          <p:cNvSpPr/>
          <p:nvPr/>
        </p:nvSpPr>
        <p:spPr>
          <a:xfrm>
            <a:off x="256032" y="6080760"/>
            <a:ext cx="11658600" cy="475488"/>
          </a:xfrm>
          <a:prstGeom prst="rect">
            <a:avLst/>
          </a:prstGeom>
          <a:solidFill>
            <a:srgbClr val="1A3A6E"/>
          </a:solidFill>
          <a:ln w="12700">
            <a:solidFill>
              <a:srgbClr val="1A3A6E"/>
            </a:solidFill>
            <a:prstDash val="solid"/>
          </a:ln>
        </p:spPr>
        <p:txBody>
          <a:bodyPr/>
          <a:lstStyle/>
          <a:p>
            <a:endParaRPr lang="en-US"/>
          </a:p>
        </p:txBody>
      </p:sp>
      <p:sp>
        <p:nvSpPr>
          <p:cNvPr id="25" name="Text 23"/>
          <p:cNvSpPr/>
          <p:nvPr/>
        </p:nvSpPr>
        <p:spPr>
          <a:xfrm>
            <a:off x="365760" y="6089904"/>
            <a:ext cx="11430000" cy="45720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Research Motivation: H-GNN-RNN-DTI is designed to simultaneously address all four gaps through dynamic gated fusion, foundation-model pretraining, attention-based XAI, and imbalance-aware training.</a:t>
            </a:r>
            <a:endParaRPr lang="en-US" sz="1100" dirty="0"/>
          </a:p>
        </p:txBody>
      </p:sp>
      <p:sp>
        <p:nvSpPr>
          <p:cNvPr id="27" name="Text 24"/>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695C"/>
          </a:solidFill>
          <a:ln w="12700">
            <a:solidFill>
              <a:srgbClr val="00695C"/>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Research Questions &amp; Objectives</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Three Questions Driving Three Specific Objectives</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00695C"/>
          </a:solidFill>
          <a:ln w="12700">
            <a:solidFill>
              <a:srgbClr val="00695C"/>
            </a:solidFill>
            <a:prstDash val="solid"/>
          </a:ln>
        </p:spPr>
        <p:txBody>
          <a:bodyPr/>
          <a:lstStyle/>
          <a:p>
            <a:endParaRPr lang="en-US"/>
          </a:p>
        </p:txBody>
      </p:sp>
      <p:sp>
        <p:nvSpPr>
          <p:cNvPr id="8" name="Shape 6"/>
          <p:cNvSpPr/>
          <p:nvPr/>
        </p:nvSpPr>
        <p:spPr>
          <a:xfrm>
            <a:off x="256032" y="1078992"/>
            <a:ext cx="11658600" cy="621792"/>
          </a:xfrm>
          <a:prstGeom prst="roundRect">
            <a:avLst>
              <a:gd name="adj" fmla="val 14706"/>
            </a:avLst>
          </a:prstGeom>
          <a:solidFill>
            <a:srgbClr val="1A3A6E"/>
          </a:solidFill>
          <a:ln w="12700">
            <a:solidFill>
              <a:srgbClr val="F57F17"/>
            </a:solidFill>
            <a:prstDash val="solid"/>
          </a:ln>
        </p:spPr>
        <p:txBody>
          <a:bodyPr/>
          <a:lstStyle/>
          <a:p>
            <a:endParaRPr lang="en-US"/>
          </a:p>
        </p:txBody>
      </p:sp>
      <p:sp>
        <p:nvSpPr>
          <p:cNvPr id="9" name="Text 7"/>
          <p:cNvSpPr/>
          <p:nvPr/>
        </p:nvSpPr>
        <p:spPr>
          <a:xfrm>
            <a:off x="411480" y="1097280"/>
            <a:ext cx="11338560" cy="56692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Main Aim: Design an enhanced hybrid deep learning model integrating GNNs and RNNs through a novel dynamic cross-modal fusion mechanism to improve DTI prediction performance, generalization, and interpretability.</a:t>
            </a:r>
            <a:endParaRPr lang="en-US" sz="1200" dirty="0"/>
          </a:p>
        </p:txBody>
      </p:sp>
      <p:sp>
        <p:nvSpPr>
          <p:cNvPr id="10" name="Shape 8"/>
          <p:cNvSpPr/>
          <p:nvPr/>
        </p:nvSpPr>
        <p:spPr>
          <a:xfrm>
            <a:off x="256032" y="1810512"/>
            <a:ext cx="5760720" cy="1371600"/>
          </a:xfrm>
          <a:prstGeom prst="roundRect">
            <a:avLst>
              <a:gd name="adj" fmla="val 5333"/>
            </a:avLst>
          </a:prstGeom>
          <a:solidFill>
            <a:srgbClr val="E0F2F1"/>
          </a:solidFill>
          <a:ln w="12700">
            <a:solidFill>
              <a:srgbClr val="00695C"/>
            </a:solidFill>
            <a:prstDash val="solid"/>
          </a:ln>
        </p:spPr>
        <p:txBody>
          <a:bodyPr/>
          <a:lstStyle/>
          <a:p>
            <a:endParaRPr lang="en-US"/>
          </a:p>
        </p:txBody>
      </p:sp>
      <p:sp>
        <p:nvSpPr>
          <p:cNvPr id="11" name="Shape 9"/>
          <p:cNvSpPr/>
          <p:nvPr/>
        </p:nvSpPr>
        <p:spPr>
          <a:xfrm>
            <a:off x="256032" y="1810512"/>
            <a:ext cx="475488" cy="1371600"/>
          </a:xfrm>
          <a:prstGeom prst="rect">
            <a:avLst/>
          </a:prstGeom>
          <a:solidFill>
            <a:srgbClr val="00695C"/>
          </a:solidFill>
          <a:ln w="12700">
            <a:solidFill>
              <a:srgbClr val="00695C"/>
            </a:solidFill>
            <a:prstDash val="solid"/>
          </a:ln>
        </p:spPr>
        <p:txBody>
          <a:bodyPr/>
          <a:lstStyle/>
          <a:p>
            <a:endParaRPr lang="en-US"/>
          </a:p>
        </p:txBody>
      </p:sp>
      <p:sp>
        <p:nvSpPr>
          <p:cNvPr id="12" name="Text 10"/>
          <p:cNvSpPr/>
          <p:nvPr/>
        </p:nvSpPr>
        <p:spPr>
          <a:xfrm>
            <a:off x="274320" y="2286000"/>
            <a:ext cx="438912"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Q1</a:t>
            </a:r>
            <a:endParaRPr lang="en-US" sz="1600" dirty="0"/>
          </a:p>
        </p:txBody>
      </p:sp>
      <p:sp>
        <p:nvSpPr>
          <p:cNvPr id="13" name="Text 11"/>
          <p:cNvSpPr/>
          <p:nvPr/>
        </p:nvSpPr>
        <p:spPr>
          <a:xfrm>
            <a:off x="804672" y="1883664"/>
            <a:ext cx="5120640" cy="1225296"/>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How can a Gated Cross-Attention fusion mechanism effectively integrate GNN-based drug encoders and RNN-based protein encoders, and how does this improve DTI prediction over static concatenation methods?</a:t>
            </a:r>
            <a:endParaRPr lang="en-US" sz="1050" dirty="0"/>
          </a:p>
        </p:txBody>
      </p:sp>
      <p:sp>
        <p:nvSpPr>
          <p:cNvPr id="14" name="Text 12"/>
          <p:cNvSpPr/>
          <p:nvPr/>
        </p:nvSpPr>
        <p:spPr>
          <a:xfrm>
            <a:off x="6053328" y="2313432"/>
            <a:ext cx="320040" cy="457200"/>
          </a:xfrm>
          <a:prstGeom prst="rect">
            <a:avLst/>
          </a:prstGeom>
          <a:noFill/>
          <a:ln/>
        </p:spPr>
        <p:txBody>
          <a:bodyPr wrap="square" rtlCol="0" anchor="ctr"/>
          <a:lstStyle/>
          <a:p>
            <a:pPr marL="0" indent="0" algn="ctr">
              <a:buNone/>
            </a:pPr>
            <a:r>
              <a:rPr lang="en-US" sz="2200" dirty="0">
                <a:solidFill>
                  <a:srgbClr val="00695C"/>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400800" y="1810512"/>
            <a:ext cx="5513832" cy="1371600"/>
          </a:xfrm>
          <a:prstGeom prst="roundRect">
            <a:avLst>
              <a:gd name="adj" fmla="val 5333"/>
            </a:avLst>
          </a:prstGeom>
          <a:solidFill>
            <a:srgbClr val="ECEFF1"/>
          </a:solidFill>
          <a:ln w="12700">
            <a:solidFill>
              <a:srgbClr val="1A3A6E"/>
            </a:solidFill>
            <a:prstDash val="solid"/>
          </a:ln>
        </p:spPr>
        <p:txBody>
          <a:bodyPr/>
          <a:lstStyle/>
          <a:p>
            <a:endParaRPr lang="en-US"/>
          </a:p>
        </p:txBody>
      </p:sp>
      <p:sp>
        <p:nvSpPr>
          <p:cNvPr id="16" name="Shape 14"/>
          <p:cNvSpPr/>
          <p:nvPr/>
        </p:nvSpPr>
        <p:spPr>
          <a:xfrm>
            <a:off x="6400800" y="1810512"/>
            <a:ext cx="475488" cy="1371600"/>
          </a:xfrm>
          <a:prstGeom prst="rect">
            <a:avLst/>
          </a:prstGeom>
          <a:solidFill>
            <a:srgbClr val="1A3A6E"/>
          </a:solidFill>
          <a:ln w="12700">
            <a:solidFill>
              <a:srgbClr val="1A3A6E"/>
            </a:solidFill>
            <a:prstDash val="solid"/>
          </a:ln>
        </p:spPr>
        <p:txBody>
          <a:bodyPr/>
          <a:lstStyle/>
          <a:p>
            <a:endParaRPr lang="en-US"/>
          </a:p>
        </p:txBody>
      </p:sp>
      <p:sp>
        <p:nvSpPr>
          <p:cNvPr id="17" name="Text 15"/>
          <p:cNvSpPr/>
          <p:nvPr/>
        </p:nvSpPr>
        <p:spPr>
          <a:xfrm>
            <a:off x="6419088" y="2286000"/>
            <a:ext cx="438912"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O1</a:t>
            </a:r>
            <a:endParaRPr lang="en-US" sz="1600" dirty="0"/>
          </a:p>
        </p:txBody>
      </p:sp>
      <p:sp>
        <p:nvSpPr>
          <p:cNvPr id="18" name="Text 16"/>
          <p:cNvSpPr/>
          <p:nvPr/>
        </p:nvSpPr>
        <p:spPr>
          <a:xfrm>
            <a:off x="6949440" y="1883664"/>
            <a:ext cx="4873752" cy="1225296"/>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Design and evaluate H-GNN-RNN-DTI integrating structural graph and sequence encoders via an advanced cross-modal fusion mechanism, achieving statistically significant improvements over concatenation-based baselines.</a:t>
            </a:r>
            <a:endParaRPr lang="en-US" sz="1050" dirty="0"/>
          </a:p>
        </p:txBody>
      </p:sp>
      <p:sp>
        <p:nvSpPr>
          <p:cNvPr id="19" name="Shape 17"/>
          <p:cNvSpPr/>
          <p:nvPr/>
        </p:nvSpPr>
        <p:spPr>
          <a:xfrm>
            <a:off x="256032" y="3319272"/>
            <a:ext cx="5760720" cy="1371600"/>
          </a:xfrm>
          <a:prstGeom prst="roundRect">
            <a:avLst>
              <a:gd name="adj" fmla="val 5333"/>
            </a:avLst>
          </a:prstGeom>
          <a:solidFill>
            <a:srgbClr val="E0F2F1"/>
          </a:solidFill>
          <a:ln w="12700">
            <a:solidFill>
              <a:srgbClr val="00695C"/>
            </a:solidFill>
            <a:prstDash val="solid"/>
          </a:ln>
        </p:spPr>
        <p:txBody>
          <a:bodyPr/>
          <a:lstStyle/>
          <a:p>
            <a:endParaRPr lang="en-US"/>
          </a:p>
        </p:txBody>
      </p:sp>
      <p:sp>
        <p:nvSpPr>
          <p:cNvPr id="20" name="Shape 18"/>
          <p:cNvSpPr/>
          <p:nvPr/>
        </p:nvSpPr>
        <p:spPr>
          <a:xfrm>
            <a:off x="256032" y="3319272"/>
            <a:ext cx="475488" cy="1371600"/>
          </a:xfrm>
          <a:prstGeom prst="rect">
            <a:avLst/>
          </a:prstGeom>
          <a:solidFill>
            <a:srgbClr val="00695C"/>
          </a:solidFill>
          <a:ln w="12700">
            <a:solidFill>
              <a:srgbClr val="00695C"/>
            </a:solidFill>
            <a:prstDash val="solid"/>
          </a:ln>
        </p:spPr>
        <p:txBody>
          <a:bodyPr/>
          <a:lstStyle/>
          <a:p>
            <a:endParaRPr lang="en-US"/>
          </a:p>
        </p:txBody>
      </p:sp>
      <p:sp>
        <p:nvSpPr>
          <p:cNvPr id="21" name="Text 19"/>
          <p:cNvSpPr/>
          <p:nvPr/>
        </p:nvSpPr>
        <p:spPr>
          <a:xfrm>
            <a:off x="274320" y="3794760"/>
            <a:ext cx="438912"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Q2</a:t>
            </a:r>
            <a:endParaRPr lang="en-US" sz="1600" dirty="0"/>
          </a:p>
        </p:txBody>
      </p:sp>
      <p:sp>
        <p:nvSpPr>
          <p:cNvPr id="22" name="Text 20"/>
          <p:cNvSpPr/>
          <p:nvPr/>
        </p:nvSpPr>
        <p:spPr>
          <a:xfrm>
            <a:off x="804672" y="3392424"/>
            <a:ext cx="5120640" cy="1225296"/>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To what extent can pre-trained molecular and protein language embeddings, combined with imbalance-aware learning strategies, improve generalization to unseen drugs, targets, and cross-dataset scenarios?</a:t>
            </a:r>
            <a:endParaRPr lang="en-US" sz="1050" dirty="0"/>
          </a:p>
        </p:txBody>
      </p:sp>
      <p:sp>
        <p:nvSpPr>
          <p:cNvPr id="23" name="Text 21"/>
          <p:cNvSpPr/>
          <p:nvPr/>
        </p:nvSpPr>
        <p:spPr>
          <a:xfrm>
            <a:off x="6053328" y="3822192"/>
            <a:ext cx="320040" cy="457200"/>
          </a:xfrm>
          <a:prstGeom prst="rect">
            <a:avLst/>
          </a:prstGeom>
          <a:noFill/>
          <a:ln/>
        </p:spPr>
        <p:txBody>
          <a:bodyPr wrap="square" rtlCol="0" anchor="ctr"/>
          <a:lstStyle/>
          <a:p>
            <a:pPr marL="0" indent="0" algn="ctr">
              <a:buNone/>
            </a:pPr>
            <a:r>
              <a:rPr lang="en-US" sz="2200" dirty="0">
                <a:solidFill>
                  <a:srgbClr val="00695C"/>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6400800" y="3319272"/>
            <a:ext cx="5513832" cy="1371600"/>
          </a:xfrm>
          <a:prstGeom prst="roundRect">
            <a:avLst>
              <a:gd name="adj" fmla="val 5333"/>
            </a:avLst>
          </a:prstGeom>
          <a:solidFill>
            <a:srgbClr val="ECEFF1"/>
          </a:solidFill>
          <a:ln w="12700">
            <a:solidFill>
              <a:srgbClr val="1A3A6E"/>
            </a:solidFill>
            <a:prstDash val="solid"/>
          </a:ln>
        </p:spPr>
        <p:txBody>
          <a:bodyPr/>
          <a:lstStyle/>
          <a:p>
            <a:endParaRPr lang="en-US"/>
          </a:p>
        </p:txBody>
      </p:sp>
      <p:sp>
        <p:nvSpPr>
          <p:cNvPr id="25" name="Shape 23"/>
          <p:cNvSpPr/>
          <p:nvPr/>
        </p:nvSpPr>
        <p:spPr>
          <a:xfrm>
            <a:off x="6400800" y="3319272"/>
            <a:ext cx="475488" cy="1371600"/>
          </a:xfrm>
          <a:prstGeom prst="rect">
            <a:avLst/>
          </a:prstGeom>
          <a:solidFill>
            <a:srgbClr val="1A3A6E"/>
          </a:solidFill>
          <a:ln w="12700">
            <a:solidFill>
              <a:srgbClr val="1A3A6E"/>
            </a:solidFill>
            <a:prstDash val="solid"/>
          </a:ln>
        </p:spPr>
        <p:txBody>
          <a:bodyPr/>
          <a:lstStyle/>
          <a:p>
            <a:endParaRPr lang="en-US"/>
          </a:p>
        </p:txBody>
      </p:sp>
      <p:sp>
        <p:nvSpPr>
          <p:cNvPr id="26" name="Text 24"/>
          <p:cNvSpPr/>
          <p:nvPr/>
        </p:nvSpPr>
        <p:spPr>
          <a:xfrm>
            <a:off x="6419088" y="3794760"/>
            <a:ext cx="438912"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O2</a:t>
            </a:r>
            <a:endParaRPr lang="en-US" sz="1600" dirty="0"/>
          </a:p>
        </p:txBody>
      </p:sp>
      <p:sp>
        <p:nvSpPr>
          <p:cNvPr id="27" name="Text 25"/>
          <p:cNvSpPr/>
          <p:nvPr/>
        </p:nvSpPr>
        <p:spPr>
          <a:xfrm>
            <a:off x="6949440" y="3392424"/>
            <a:ext cx="4873752" cy="1225296"/>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Develop a robust representation learning and pretraining strategy integrating imbalance-aware learning and foundation-model embeddings to significantly enhance cold-start predictive performance.</a:t>
            </a:r>
            <a:endParaRPr lang="en-US" sz="1050" dirty="0"/>
          </a:p>
        </p:txBody>
      </p:sp>
      <p:sp>
        <p:nvSpPr>
          <p:cNvPr id="28" name="Shape 26"/>
          <p:cNvSpPr/>
          <p:nvPr/>
        </p:nvSpPr>
        <p:spPr>
          <a:xfrm>
            <a:off x="256032" y="4828032"/>
            <a:ext cx="5760720" cy="1371600"/>
          </a:xfrm>
          <a:prstGeom prst="roundRect">
            <a:avLst>
              <a:gd name="adj" fmla="val 5333"/>
            </a:avLst>
          </a:prstGeom>
          <a:solidFill>
            <a:srgbClr val="E0F2F1"/>
          </a:solidFill>
          <a:ln w="12700">
            <a:solidFill>
              <a:srgbClr val="00695C"/>
            </a:solidFill>
            <a:prstDash val="solid"/>
          </a:ln>
        </p:spPr>
        <p:txBody>
          <a:bodyPr/>
          <a:lstStyle/>
          <a:p>
            <a:endParaRPr lang="en-US"/>
          </a:p>
        </p:txBody>
      </p:sp>
      <p:sp>
        <p:nvSpPr>
          <p:cNvPr id="29" name="Shape 27"/>
          <p:cNvSpPr/>
          <p:nvPr/>
        </p:nvSpPr>
        <p:spPr>
          <a:xfrm>
            <a:off x="256032" y="4828032"/>
            <a:ext cx="475488" cy="1371600"/>
          </a:xfrm>
          <a:prstGeom prst="rect">
            <a:avLst/>
          </a:prstGeom>
          <a:solidFill>
            <a:srgbClr val="00695C"/>
          </a:solidFill>
          <a:ln w="12700">
            <a:solidFill>
              <a:srgbClr val="00695C"/>
            </a:solidFill>
            <a:prstDash val="solid"/>
          </a:ln>
        </p:spPr>
        <p:txBody>
          <a:bodyPr/>
          <a:lstStyle/>
          <a:p>
            <a:endParaRPr lang="en-US"/>
          </a:p>
        </p:txBody>
      </p:sp>
      <p:sp>
        <p:nvSpPr>
          <p:cNvPr id="30" name="Text 28"/>
          <p:cNvSpPr/>
          <p:nvPr/>
        </p:nvSpPr>
        <p:spPr>
          <a:xfrm>
            <a:off x="274320" y="5303520"/>
            <a:ext cx="438912"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Q3</a:t>
            </a:r>
            <a:endParaRPr lang="en-US" sz="1600" dirty="0"/>
          </a:p>
        </p:txBody>
      </p:sp>
      <p:sp>
        <p:nvSpPr>
          <p:cNvPr id="31" name="Text 29"/>
          <p:cNvSpPr/>
          <p:nvPr/>
        </p:nvSpPr>
        <p:spPr>
          <a:xfrm>
            <a:off x="804672" y="4901184"/>
            <a:ext cx="5120640" cy="1225296"/>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Can an attention-enhanced hybrid model provide interpretable, biologically meaningful insights by identifying key binding residues and pharmacophoric features?</a:t>
            </a:r>
            <a:endParaRPr lang="en-US" sz="1050" dirty="0"/>
          </a:p>
        </p:txBody>
      </p:sp>
      <p:sp>
        <p:nvSpPr>
          <p:cNvPr id="32" name="Text 30"/>
          <p:cNvSpPr/>
          <p:nvPr/>
        </p:nvSpPr>
        <p:spPr>
          <a:xfrm>
            <a:off x="6053328" y="5330952"/>
            <a:ext cx="320040" cy="457200"/>
          </a:xfrm>
          <a:prstGeom prst="rect">
            <a:avLst/>
          </a:prstGeom>
          <a:noFill/>
          <a:ln/>
        </p:spPr>
        <p:txBody>
          <a:bodyPr wrap="square" rtlCol="0" anchor="ctr"/>
          <a:lstStyle/>
          <a:p>
            <a:pPr marL="0" indent="0" algn="ctr">
              <a:buNone/>
            </a:pPr>
            <a:r>
              <a:rPr lang="en-US" sz="2200" dirty="0">
                <a:solidFill>
                  <a:srgbClr val="00695C"/>
                </a:solidFill>
                <a:latin typeface="Calibri" pitchFamily="34" charset="0"/>
                <a:ea typeface="Calibri" pitchFamily="34" charset="-122"/>
                <a:cs typeface="Calibri" pitchFamily="34" charset="-120"/>
              </a:rPr>
              <a:t>→</a:t>
            </a:r>
            <a:endParaRPr lang="en-US" sz="2200" dirty="0"/>
          </a:p>
        </p:txBody>
      </p:sp>
      <p:sp>
        <p:nvSpPr>
          <p:cNvPr id="33" name="Shape 31"/>
          <p:cNvSpPr/>
          <p:nvPr/>
        </p:nvSpPr>
        <p:spPr>
          <a:xfrm>
            <a:off x="6400800" y="4828032"/>
            <a:ext cx="5513832" cy="1371600"/>
          </a:xfrm>
          <a:prstGeom prst="roundRect">
            <a:avLst>
              <a:gd name="adj" fmla="val 5333"/>
            </a:avLst>
          </a:prstGeom>
          <a:solidFill>
            <a:srgbClr val="ECEFF1"/>
          </a:solidFill>
          <a:ln w="12700">
            <a:solidFill>
              <a:srgbClr val="1A3A6E"/>
            </a:solidFill>
            <a:prstDash val="solid"/>
          </a:ln>
        </p:spPr>
        <p:txBody>
          <a:bodyPr/>
          <a:lstStyle/>
          <a:p>
            <a:endParaRPr lang="en-US"/>
          </a:p>
        </p:txBody>
      </p:sp>
      <p:sp>
        <p:nvSpPr>
          <p:cNvPr id="34" name="Shape 32"/>
          <p:cNvSpPr/>
          <p:nvPr/>
        </p:nvSpPr>
        <p:spPr>
          <a:xfrm>
            <a:off x="6400800" y="4828032"/>
            <a:ext cx="475488" cy="1371600"/>
          </a:xfrm>
          <a:prstGeom prst="rect">
            <a:avLst/>
          </a:prstGeom>
          <a:solidFill>
            <a:srgbClr val="1A3A6E"/>
          </a:solidFill>
          <a:ln w="12700">
            <a:solidFill>
              <a:srgbClr val="1A3A6E"/>
            </a:solidFill>
            <a:prstDash val="solid"/>
          </a:ln>
        </p:spPr>
        <p:txBody>
          <a:bodyPr/>
          <a:lstStyle/>
          <a:p>
            <a:endParaRPr lang="en-US"/>
          </a:p>
        </p:txBody>
      </p:sp>
      <p:sp>
        <p:nvSpPr>
          <p:cNvPr id="35" name="Text 33"/>
          <p:cNvSpPr/>
          <p:nvPr/>
        </p:nvSpPr>
        <p:spPr>
          <a:xfrm>
            <a:off x="6419088" y="5303520"/>
            <a:ext cx="438912"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O3</a:t>
            </a:r>
            <a:endParaRPr lang="en-US" sz="1600" dirty="0"/>
          </a:p>
        </p:txBody>
      </p:sp>
      <p:sp>
        <p:nvSpPr>
          <p:cNvPr id="36" name="Text 34"/>
          <p:cNvSpPr/>
          <p:nvPr/>
        </p:nvSpPr>
        <p:spPr>
          <a:xfrm>
            <a:off x="6949440" y="4901184"/>
            <a:ext cx="4873752" cy="1225296"/>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Implement and benchmark an attention-based interpretability layer generating quantitative and visual explanations of DTI/DTA predictions to support structure–activity relationship (SAR) studies.</a:t>
            </a:r>
            <a:endParaRPr lang="en-US" sz="1050" dirty="0"/>
          </a:p>
        </p:txBody>
      </p:sp>
      <p:sp>
        <p:nvSpPr>
          <p:cNvPr id="38" name="Text 35"/>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4A148C"/>
          </a:solidFill>
          <a:ln w="12700">
            <a:solidFill>
              <a:srgbClr val="4A148C"/>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Scope &amp; Significance of the Research</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Research Boundaries and Expected Impact</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4A148C"/>
          </a:solidFill>
          <a:ln w="12700">
            <a:solidFill>
              <a:srgbClr val="4A148C"/>
            </a:solidFill>
            <a:prstDash val="solid"/>
          </a:ln>
        </p:spPr>
        <p:txBody>
          <a:bodyPr/>
          <a:lstStyle/>
          <a:p>
            <a:endParaRPr lang="en-US"/>
          </a:p>
        </p:txBody>
      </p:sp>
      <p:sp>
        <p:nvSpPr>
          <p:cNvPr id="8" name="Shape 6"/>
          <p:cNvSpPr/>
          <p:nvPr/>
        </p:nvSpPr>
        <p:spPr>
          <a:xfrm>
            <a:off x="256032" y="1078992"/>
            <a:ext cx="5669280" cy="3822192"/>
          </a:xfrm>
          <a:prstGeom prst="roundRect">
            <a:avLst>
              <a:gd name="adj" fmla="val 1914"/>
            </a:avLst>
          </a:prstGeom>
          <a:solidFill>
            <a:srgbClr val="F3E5F5"/>
          </a:solidFill>
          <a:ln w="12700">
            <a:solidFill>
              <a:srgbClr val="4A148C"/>
            </a:solidFill>
            <a:prstDash val="solid"/>
          </a:ln>
        </p:spPr>
        <p:txBody>
          <a:bodyPr/>
          <a:lstStyle/>
          <a:p>
            <a:endParaRPr lang="en-US"/>
          </a:p>
        </p:txBody>
      </p:sp>
      <p:sp>
        <p:nvSpPr>
          <p:cNvPr id="9" name="Shape 7"/>
          <p:cNvSpPr/>
          <p:nvPr/>
        </p:nvSpPr>
        <p:spPr>
          <a:xfrm>
            <a:off x="256032" y="1078992"/>
            <a:ext cx="5669280" cy="347472"/>
          </a:xfrm>
          <a:prstGeom prst="rect">
            <a:avLst/>
          </a:prstGeom>
          <a:solidFill>
            <a:srgbClr val="4A148C"/>
          </a:solidFill>
          <a:ln w="12700">
            <a:solidFill>
              <a:srgbClr val="4A148C"/>
            </a:solidFill>
            <a:prstDash val="solid"/>
          </a:ln>
        </p:spPr>
        <p:txBody>
          <a:bodyPr/>
          <a:lstStyle/>
          <a:p>
            <a:endParaRPr lang="en-US"/>
          </a:p>
        </p:txBody>
      </p:sp>
      <p:sp>
        <p:nvSpPr>
          <p:cNvPr id="10" name="Text 8"/>
          <p:cNvSpPr/>
          <p:nvPr/>
        </p:nvSpPr>
        <p:spPr>
          <a:xfrm>
            <a:off x="347472" y="1115568"/>
            <a:ext cx="5486400" cy="30175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Scope: What This Study Covers</a:t>
            </a:r>
            <a:endParaRPr lang="en-US" sz="1200" dirty="0"/>
          </a:p>
        </p:txBody>
      </p:sp>
      <p:sp>
        <p:nvSpPr>
          <p:cNvPr id="11" name="Text 9"/>
          <p:cNvSpPr/>
          <p:nvPr/>
        </p:nvSpPr>
        <p:spPr>
          <a:xfrm>
            <a:off x="393192" y="1463040"/>
            <a:ext cx="5413248" cy="3364992"/>
          </a:xfrm>
          <a:prstGeom prst="rect">
            <a:avLst/>
          </a:prstGeom>
          <a:noFill/>
          <a:ln/>
        </p:spPr>
        <p:txBody>
          <a:bodyPr wrap="square" rtlCol="0" anchor="t"/>
          <a:lstStyle/>
          <a:p>
            <a:r>
              <a:rPr lang="en-US" sz="1150" b="1" dirty="0">
                <a:solidFill>
                  <a:srgbClr val="1C2833"/>
                </a:solidFill>
                <a:latin typeface="Calibri" pitchFamily="34" charset="0"/>
                <a:ea typeface="Calibri" pitchFamily="34" charset="-122"/>
                <a:cs typeface="Calibri" pitchFamily="34" charset="-120"/>
              </a:rPr>
              <a:t>Prediction Tasks:</a:t>
            </a:r>
            <a:endParaRPr lang="en-US" sz="1150" dirty="0"/>
          </a:p>
          <a:p>
            <a:r>
              <a:rPr lang="en-US" sz="1100" dirty="0">
                <a:solidFill>
                  <a:srgbClr val="1C2833"/>
                </a:solidFill>
                <a:latin typeface="Calibri" pitchFamily="34" charset="0"/>
                <a:ea typeface="Calibri" pitchFamily="34" charset="-122"/>
                <a:cs typeface="Calibri" pitchFamily="34" charset="-120"/>
              </a:rPr>
              <a:t>Binary DTI classification AND continuous DTA regression (pKd, pKi, pIC₅₀)</a:t>
            </a:r>
            <a:endParaRPr lang="en-US" sz="1150" dirty="0"/>
          </a:p>
          <a:p>
            <a:r>
              <a:rPr lang="en-US" sz="1150" b="1" dirty="0">
                <a:solidFill>
                  <a:srgbClr val="1C2833"/>
                </a:solidFill>
                <a:latin typeface="Calibri" pitchFamily="34" charset="0"/>
                <a:ea typeface="Calibri" pitchFamily="34" charset="-122"/>
                <a:cs typeface="Calibri" pitchFamily="34" charset="-120"/>
              </a:rPr>
              <a:t>Drug Modality:</a:t>
            </a:r>
            <a:endParaRPr lang="en-US" sz="1150" dirty="0"/>
          </a:p>
          <a:p>
            <a:r>
              <a:rPr lang="en-US" sz="1100" dirty="0">
                <a:solidFill>
                  <a:srgbClr val="1C2833"/>
                </a:solidFill>
                <a:latin typeface="Calibri" pitchFamily="34" charset="0"/>
                <a:ea typeface="Calibri" pitchFamily="34" charset="-122"/>
                <a:cs typeface="Calibri" pitchFamily="34" charset="-120"/>
              </a:rPr>
              <a:t>SMILES → molecular graphs using RDKit; ChemBERTa node initialization</a:t>
            </a:r>
            <a:endParaRPr lang="en-US" sz="1150" dirty="0"/>
          </a:p>
          <a:p>
            <a:r>
              <a:rPr lang="en-US" sz="1150" b="1" dirty="0">
                <a:solidFill>
                  <a:srgbClr val="1C2833"/>
                </a:solidFill>
                <a:latin typeface="Calibri" pitchFamily="34" charset="0"/>
                <a:ea typeface="Calibri" pitchFamily="34" charset="-122"/>
                <a:cs typeface="Calibri" pitchFamily="34" charset="-120"/>
              </a:rPr>
              <a:t>Protein Modality:</a:t>
            </a:r>
            <a:endParaRPr lang="en-US" sz="1150" dirty="0"/>
          </a:p>
          <a:p>
            <a:r>
              <a:rPr lang="en-US" sz="1100" dirty="0">
                <a:solidFill>
                  <a:srgbClr val="1C2833"/>
                </a:solidFill>
                <a:latin typeface="Calibri" pitchFamily="34" charset="0"/>
                <a:ea typeface="Calibri" pitchFamily="34" charset="-122"/>
                <a:cs typeface="Calibri" pitchFamily="34" charset="-120"/>
              </a:rPr>
              <a:t>FASTA sequences; ESM-2 (650M params) contextual embeddings</a:t>
            </a:r>
            <a:endParaRPr lang="en-US" sz="1150" dirty="0"/>
          </a:p>
          <a:p>
            <a:r>
              <a:rPr lang="en-US" sz="1150" b="1" dirty="0">
                <a:solidFill>
                  <a:srgbClr val="1C2833"/>
                </a:solidFill>
                <a:latin typeface="Calibri" pitchFamily="34" charset="0"/>
                <a:ea typeface="Calibri" pitchFamily="34" charset="-122"/>
                <a:cs typeface="Calibri" pitchFamily="34" charset="-120"/>
              </a:rPr>
              <a:t>Benchmark Datasets:</a:t>
            </a:r>
            <a:endParaRPr lang="en-US" sz="1150" dirty="0"/>
          </a:p>
          <a:p>
            <a:r>
              <a:rPr lang="en-US" sz="1100" dirty="0">
                <a:solidFill>
                  <a:srgbClr val="1C2833"/>
                </a:solidFill>
                <a:latin typeface="Calibri" pitchFamily="34" charset="0"/>
                <a:ea typeface="Calibri" pitchFamily="34" charset="-122"/>
                <a:cs typeface="Calibri" pitchFamily="34" charset="-120"/>
              </a:rPr>
              <a:t>BindingDB, DAVIS, KIBA, DrugBank, ChEMBL, Yamanishi_08, Luo_17</a:t>
            </a:r>
            <a:endParaRPr lang="en-US" sz="1150" dirty="0"/>
          </a:p>
          <a:p>
            <a:r>
              <a:rPr lang="en-US" sz="1150" b="1" dirty="0">
                <a:solidFill>
                  <a:srgbClr val="1C2833"/>
                </a:solidFill>
                <a:latin typeface="Calibri" pitchFamily="34" charset="0"/>
                <a:ea typeface="Calibri" pitchFamily="34" charset="-122"/>
                <a:cs typeface="Calibri" pitchFamily="34" charset="-120"/>
              </a:rPr>
              <a:t>Architecture:</a:t>
            </a:r>
            <a:endParaRPr lang="en-US" sz="1150" dirty="0"/>
          </a:p>
          <a:p>
            <a:r>
              <a:rPr lang="en-US" sz="1100" dirty="0">
                <a:solidFill>
                  <a:srgbClr val="1C2833"/>
                </a:solidFill>
                <a:latin typeface="Calibri" pitchFamily="34" charset="0"/>
                <a:ea typeface="Calibri" pitchFamily="34" charset="-122"/>
                <a:cs typeface="Calibri" pitchFamily="34" charset="-120"/>
              </a:rPr>
              <a:t>H-GAT (3L/8 heads) + Bi-LSTM/Bi-GRU + Gated Cross-Attention Fusion</a:t>
            </a:r>
            <a:endParaRPr lang="en-US" sz="1150" dirty="0"/>
          </a:p>
          <a:p>
            <a:r>
              <a:rPr lang="en-US" sz="1150" b="1" dirty="0">
                <a:solidFill>
                  <a:srgbClr val="1C2833"/>
                </a:solidFill>
                <a:latin typeface="Calibri" pitchFamily="34" charset="0"/>
                <a:ea typeface="Calibri" pitchFamily="34" charset="-122"/>
                <a:cs typeface="Calibri" pitchFamily="34" charset="-120"/>
              </a:rPr>
              <a:t>Evaluation:</a:t>
            </a:r>
            <a:endParaRPr lang="en-US" sz="1150" dirty="0"/>
          </a:p>
          <a:p>
            <a:r>
              <a:rPr lang="en-US" sz="1100" dirty="0">
                <a:solidFill>
                  <a:srgbClr val="1C2833"/>
                </a:solidFill>
                <a:latin typeface="Calibri" pitchFamily="34" charset="0"/>
                <a:ea typeface="Calibri" pitchFamily="34" charset="-122"/>
                <a:cs typeface="Calibri" pitchFamily="34" charset="-120"/>
              </a:rPr>
              <a:t>AUC-ROC, AUPR, RMSE, MAE, CI, PCC; cold-start S1/S2/S3; ablation studies</a:t>
            </a:r>
            <a:endParaRPr lang="en-US" sz="1150" dirty="0"/>
          </a:p>
        </p:txBody>
      </p:sp>
      <p:sp>
        <p:nvSpPr>
          <p:cNvPr id="12" name="Shape 10"/>
          <p:cNvSpPr/>
          <p:nvPr/>
        </p:nvSpPr>
        <p:spPr>
          <a:xfrm>
            <a:off x="6035040" y="1078992"/>
            <a:ext cx="5879592" cy="1691640"/>
          </a:xfrm>
          <a:prstGeom prst="roundRect">
            <a:avLst>
              <a:gd name="adj" fmla="val 4324"/>
            </a:avLst>
          </a:prstGeom>
          <a:solidFill>
            <a:srgbClr val="FFCDD2"/>
          </a:solidFill>
          <a:ln w="12700">
            <a:solidFill>
              <a:srgbClr val="B71C1C"/>
            </a:solidFill>
            <a:prstDash val="solid"/>
          </a:ln>
        </p:spPr>
        <p:txBody>
          <a:bodyPr/>
          <a:lstStyle/>
          <a:p>
            <a:endParaRPr lang="en-US"/>
          </a:p>
        </p:txBody>
      </p:sp>
      <p:sp>
        <p:nvSpPr>
          <p:cNvPr id="13" name="Shape 11"/>
          <p:cNvSpPr/>
          <p:nvPr/>
        </p:nvSpPr>
        <p:spPr>
          <a:xfrm>
            <a:off x="6035040" y="1078992"/>
            <a:ext cx="5879592" cy="347472"/>
          </a:xfrm>
          <a:prstGeom prst="rect">
            <a:avLst/>
          </a:prstGeom>
          <a:solidFill>
            <a:srgbClr val="B71C1C"/>
          </a:solidFill>
          <a:ln w="12700">
            <a:solidFill>
              <a:srgbClr val="B71C1C"/>
            </a:solidFill>
            <a:prstDash val="solid"/>
          </a:ln>
        </p:spPr>
        <p:txBody>
          <a:bodyPr/>
          <a:lstStyle/>
          <a:p>
            <a:endParaRPr lang="en-US"/>
          </a:p>
        </p:txBody>
      </p:sp>
      <p:sp>
        <p:nvSpPr>
          <p:cNvPr id="14" name="Text 12"/>
          <p:cNvSpPr/>
          <p:nvPr/>
        </p:nvSpPr>
        <p:spPr>
          <a:xfrm>
            <a:off x="6126480" y="1115568"/>
            <a:ext cx="5696712" cy="301752"/>
          </a:xfrm>
          <a:prstGeom prst="rect">
            <a:avLst/>
          </a:prstGeom>
          <a:noFill/>
          <a:ln/>
        </p:spPr>
        <p:txBody>
          <a:bodyPr wrap="square" rtlCol="0" anchor="ctr"/>
          <a:lstStyle/>
          <a:p>
            <a:pPr marL="0" indent="0">
              <a:buNone/>
            </a:pPr>
            <a:r>
              <a:rPr lang="en-US" sz="1200" b="1" dirty="0">
                <a:solidFill>
                  <a:srgbClr val="B71C1C"/>
                </a:solidFill>
                <a:latin typeface="Calibri" pitchFamily="34" charset="0"/>
                <a:ea typeface="Calibri" pitchFamily="34" charset="-122"/>
                <a:cs typeface="Calibri" pitchFamily="34" charset="-120"/>
              </a:rPr>
              <a:t>Explicitly Outside Scope</a:t>
            </a:r>
            <a:endParaRPr lang="en-US" sz="1200" dirty="0"/>
          </a:p>
        </p:txBody>
      </p:sp>
      <p:sp>
        <p:nvSpPr>
          <p:cNvPr id="15" name="Text 13"/>
          <p:cNvSpPr/>
          <p:nvPr/>
        </p:nvSpPr>
        <p:spPr>
          <a:xfrm>
            <a:off x="6172200" y="1463040"/>
            <a:ext cx="5623560" cy="1234440"/>
          </a:xfrm>
          <a:prstGeom prst="rect">
            <a:avLst/>
          </a:prstGeom>
          <a:noFill/>
          <a:ln/>
        </p:spPr>
        <p:txBody>
          <a:bodyPr wrap="square" rtlCol="0" anchor="t"/>
          <a:lstStyle/>
          <a:p>
            <a:r>
              <a:rPr lang="en-US" sz="1100" dirty="0">
                <a:solidFill>
                  <a:srgbClr val="1C2833"/>
                </a:solidFill>
                <a:latin typeface="Calibri" pitchFamily="34" charset="0"/>
                <a:ea typeface="Calibri" pitchFamily="34" charset="-122"/>
                <a:cs typeface="Calibri" pitchFamily="34" charset="-120"/>
              </a:rPr>
              <a:t>Wet-lab experimental validation of predicted interactions</a:t>
            </a:r>
            <a:endParaRPr lang="en-US" sz="1100" dirty="0"/>
          </a:p>
          <a:p>
            <a:r>
              <a:rPr lang="en-US" sz="1100" dirty="0">
                <a:solidFill>
                  <a:srgbClr val="1C2833"/>
                </a:solidFill>
                <a:latin typeface="Calibri" pitchFamily="34" charset="0"/>
                <a:ea typeface="Calibri" pitchFamily="34" charset="-122"/>
                <a:cs typeface="Calibri" pitchFamily="34" charset="-120"/>
              </a:rPr>
              <a:t>Non-small-molecule ligands (peptides, antibodies, macromolecules)</a:t>
            </a:r>
            <a:endParaRPr lang="en-US" sz="1100" dirty="0"/>
          </a:p>
          <a:p>
            <a:r>
              <a:rPr lang="en-US" sz="1100" dirty="0">
                <a:solidFill>
                  <a:srgbClr val="1C2833"/>
                </a:solidFill>
                <a:latin typeface="Calibri" pitchFamily="34" charset="0"/>
                <a:ea typeface="Calibri" pitchFamily="34" charset="-122"/>
                <a:cs typeface="Calibri" pitchFamily="34" charset="-120"/>
              </a:rPr>
              <a:t>Large-scale industrial deployment or clinical applications</a:t>
            </a:r>
            <a:endParaRPr lang="en-US" sz="1100" dirty="0"/>
          </a:p>
        </p:txBody>
      </p:sp>
      <p:sp>
        <p:nvSpPr>
          <p:cNvPr id="16" name="Text 14"/>
          <p:cNvSpPr/>
          <p:nvPr/>
        </p:nvSpPr>
        <p:spPr>
          <a:xfrm>
            <a:off x="6035040" y="2834640"/>
            <a:ext cx="5879592" cy="274320"/>
          </a:xfrm>
          <a:prstGeom prst="rect">
            <a:avLst/>
          </a:prstGeom>
          <a:noFill/>
          <a:ln/>
        </p:spPr>
        <p:txBody>
          <a:bodyPr wrap="square" rtlCol="0" anchor="ctr"/>
          <a:lstStyle/>
          <a:p>
            <a:pPr marL="0" indent="0">
              <a:buNone/>
            </a:pPr>
            <a:r>
              <a:rPr lang="en-US" sz="1300" b="1" dirty="0">
                <a:solidFill>
                  <a:srgbClr val="1A3A6E"/>
                </a:solidFill>
                <a:latin typeface="Calibri" pitchFamily="34" charset="0"/>
                <a:ea typeface="Calibri" pitchFamily="34" charset="-122"/>
                <a:cs typeface="Calibri" pitchFamily="34" charset="-120"/>
              </a:rPr>
              <a:t>Significance:</a:t>
            </a:r>
            <a:endParaRPr lang="en-US" sz="1300" dirty="0"/>
          </a:p>
        </p:txBody>
      </p:sp>
      <p:sp>
        <p:nvSpPr>
          <p:cNvPr id="17" name="Shape 15"/>
          <p:cNvSpPr/>
          <p:nvPr/>
        </p:nvSpPr>
        <p:spPr>
          <a:xfrm>
            <a:off x="6035040" y="3127248"/>
            <a:ext cx="5879592" cy="658368"/>
          </a:xfrm>
          <a:prstGeom prst="roundRect">
            <a:avLst>
              <a:gd name="adj" fmla="val 9722"/>
            </a:avLst>
          </a:prstGeom>
          <a:solidFill>
            <a:srgbClr val="ECEFF1"/>
          </a:solidFill>
          <a:ln w="12700">
            <a:solidFill>
              <a:srgbClr val="1565C0"/>
            </a:solidFill>
            <a:prstDash val="solid"/>
          </a:ln>
        </p:spPr>
        <p:txBody>
          <a:bodyPr/>
          <a:lstStyle/>
          <a:p>
            <a:endParaRPr lang="en-US"/>
          </a:p>
        </p:txBody>
      </p:sp>
      <p:sp>
        <p:nvSpPr>
          <p:cNvPr id="18" name="Shape 16"/>
          <p:cNvSpPr/>
          <p:nvPr/>
        </p:nvSpPr>
        <p:spPr>
          <a:xfrm>
            <a:off x="6035040" y="3127248"/>
            <a:ext cx="1371600" cy="658368"/>
          </a:xfrm>
          <a:prstGeom prst="rect">
            <a:avLst/>
          </a:prstGeom>
          <a:solidFill>
            <a:srgbClr val="1565C0"/>
          </a:solidFill>
          <a:ln w="12700">
            <a:solidFill>
              <a:srgbClr val="1565C0"/>
            </a:solidFill>
            <a:prstDash val="solid"/>
          </a:ln>
        </p:spPr>
        <p:txBody>
          <a:bodyPr/>
          <a:lstStyle/>
          <a:p>
            <a:endParaRPr lang="en-US"/>
          </a:p>
        </p:txBody>
      </p:sp>
      <p:sp>
        <p:nvSpPr>
          <p:cNvPr id="19" name="Text 17"/>
          <p:cNvSpPr/>
          <p:nvPr/>
        </p:nvSpPr>
        <p:spPr>
          <a:xfrm>
            <a:off x="6053328" y="3291840"/>
            <a:ext cx="1335024"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Methodological</a:t>
            </a:r>
            <a:endParaRPr lang="en-US" sz="1100" dirty="0"/>
          </a:p>
        </p:txBody>
      </p:sp>
      <p:sp>
        <p:nvSpPr>
          <p:cNvPr id="20" name="Text 18"/>
          <p:cNvSpPr/>
          <p:nvPr/>
        </p:nvSpPr>
        <p:spPr>
          <a:xfrm>
            <a:off x="7498080" y="3200400"/>
            <a:ext cx="4315968" cy="512064"/>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Novel gated cross-attention fusion advances multimodal deep learning theory beyond static concatenation</a:t>
            </a:r>
            <a:endParaRPr lang="en-US" sz="1050" dirty="0"/>
          </a:p>
        </p:txBody>
      </p:sp>
      <p:sp>
        <p:nvSpPr>
          <p:cNvPr id="21" name="Shape 19"/>
          <p:cNvSpPr/>
          <p:nvPr/>
        </p:nvSpPr>
        <p:spPr>
          <a:xfrm>
            <a:off x="6035040" y="3840480"/>
            <a:ext cx="5879592" cy="658368"/>
          </a:xfrm>
          <a:prstGeom prst="roundRect">
            <a:avLst>
              <a:gd name="adj" fmla="val 9722"/>
            </a:avLst>
          </a:prstGeom>
          <a:solidFill>
            <a:srgbClr val="ECEFF1"/>
          </a:solidFill>
          <a:ln w="12700">
            <a:solidFill>
              <a:srgbClr val="1B5E20"/>
            </a:solidFill>
            <a:prstDash val="solid"/>
          </a:ln>
        </p:spPr>
        <p:txBody>
          <a:bodyPr/>
          <a:lstStyle/>
          <a:p>
            <a:endParaRPr lang="en-US"/>
          </a:p>
        </p:txBody>
      </p:sp>
      <p:sp>
        <p:nvSpPr>
          <p:cNvPr id="22" name="Shape 20"/>
          <p:cNvSpPr/>
          <p:nvPr/>
        </p:nvSpPr>
        <p:spPr>
          <a:xfrm>
            <a:off x="6035040" y="3840480"/>
            <a:ext cx="1371600" cy="658368"/>
          </a:xfrm>
          <a:prstGeom prst="rect">
            <a:avLst/>
          </a:prstGeom>
          <a:solidFill>
            <a:srgbClr val="1B5E20"/>
          </a:solidFill>
          <a:ln w="12700">
            <a:solidFill>
              <a:srgbClr val="1B5E20"/>
            </a:solidFill>
            <a:prstDash val="solid"/>
          </a:ln>
        </p:spPr>
        <p:txBody>
          <a:bodyPr/>
          <a:lstStyle/>
          <a:p>
            <a:endParaRPr lang="en-US"/>
          </a:p>
        </p:txBody>
      </p:sp>
      <p:sp>
        <p:nvSpPr>
          <p:cNvPr id="23" name="Text 21"/>
          <p:cNvSpPr/>
          <p:nvPr/>
        </p:nvSpPr>
        <p:spPr>
          <a:xfrm>
            <a:off x="6053328" y="4005072"/>
            <a:ext cx="1335024"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Practical</a:t>
            </a:r>
            <a:endParaRPr lang="en-US" sz="1100" dirty="0"/>
          </a:p>
        </p:txBody>
      </p:sp>
      <p:sp>
        <p:nvSpPr>
          <p:cNvPr id="24" name="Text 22"/>
          <p:cNvSpPr/>
          <p:nvPr/>
        </p:nvSpPr>
        <p:spPr>
          <a:xfrm>
            <a:off x="7498080" y="3913632"/>
            <a:ext cx="4315968" cy="512064"/>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Scalable virtual screening tool reduces experimental costs; supports drug repurposing</a:t>
            </a:r>
            <a:endParaRPr lang="en-US" sz="1050" dirty="0"/>
          </a:p>
        </p:txBody>
      </p:sp>
      <p:sp>
        <p:nvSpPr>
          <p:cNvPr id="25" name="Shape 23"/>
          <p:cNvSpPr/>
          <p:nvPr/>
        </p:nvSpPr>
        <p:spPr>
          <a:xfrm>
            <a:off x="6035040" y="4553712"/>
            <a:ext cx="5879592" cy="658368"/>
          </a:xfrm>
          <a:prstGeom prst="roundRect">
            <a:avLst>
              <a:gd name="adj" fmla="val 9722"/>
            </a:avLst>
          </a:prstGeom>
          <a:solidFill>
            <a:srgbClr val="ECEFF1"/>
          </a:solidFill>
          <a:ln w="12700">
            <a:solidFill>
              <a:srgbClr val="E65100"/>
            </a:solidFill>
            <a:prstDash val="solid"/>
          </a:ln>
        </p:spPr>
        <p:txBody>
          <a:bodyPr/>
          <a:lstStyle/>
          <a:p>
            <a:endParaRPr lang="en-US"/>
          </a:p>
        </p:txBody>
      </p:sp>
      <p:sp>
        <p:nvSpPr>
          <p:cNvPr id="26" name="Shape 24"/>
          <p:cNvSpPr/>
          <p:nvPr/>
        </p:nvSpPr>
        <p:spPr>
          <a:xfrm>
            <a:off x="6035040" y="4553712"/>
            <a:ext cx="1371600" cy="658368"/>
          </a:xfrm>
          <a:prstGeom prst="rect">
            <a:avLst/>
          </a:prstGeom>
          <a:solidFill>
            <a:srgbClr val="E65100"/>
          </a:solidFill>
          <a:ln w="12700">
            <a:solidFill>
              <a:srgbClr val="E65100"/>
            </a:solidFill>
            <a:prstDash val="solid"/>
          </a:ln>
        </p:spPr>
        <p:txBody>
          <a:bodyPr/>
          <a:lstStyle/>
          <a:p>
            <a:endParaRPr lang="en-US"/>
          </a:p>
        </p:txBody>
      </p:sp>
      <p:sp>
        <p:nvSpPr>
          <p:cNvPr id="27" name="Text 25"/>
          <p:cNvSpPr/>
          <p:nvPr/>
        </p:nvSpPr>
        <p:spPr>
          <a:xfrm>
            <a:off x="6053328" y="4718304"/>
            <a:ext cx="1335024"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Translational</a:t>
            </a:r>
            <a:endParaRPr lang="en-US" sz="1100" dirty="0"/>
          </a:p>
        </p:txBody>
      </p:sp>
      <p:sp>
        <p:nvSpPr>
          <p:cNvPr id="28" name="Text 26"/>
          <p:cNvSpPr/>
          <p:nvPr/>
        </p:nvSpPr>
        <p:spPr>
          <a:xfrm>
            <a:off x="7498080" y="4626864"/>
            <a:ext cx="4315968" cy="512064"/>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Attention-based XAI provides chemists with actionable binding site insights for SAR studies</a:t>
            </a:r>
            <a:endParaRPr lang="en-US" sz="1050" dirty="0"/>
          </a:p>
        </p:txBody>
      </p:sp>
      <p:sp>
        <p:nvSpPr>
          <p:cNvPr id="29" name="Shape 27"/>
          <p:cNvSpPr/>
          <p:nvPr/>
        </p:nvSpPr>
        <p:spPr>
          <a:xfrm>
            <a:off x="6035040" y="5266944"/>
            <a:ext cx="5879592" cy="658368"/>
          </a:xfrm>
          <a:prstGeom prst="roundRect">
            <a:avLst>
              <a:gd name="adj" fmla="val 9722"/>
            </a:avLst>
          </a:prstGeom>
          <a:solidFill>
            <a:srgbClr val="ECEFF1"/>
          </a:solidFill>
          <a:ln w="12700">
            <a:solidFill>
              <a:srgbClr val="4A148C"/>
            </a:solidFill>
            <a:prstDash val="solid"/>
          </a:ln>
        </p:spPr>
        <p:txBody>
          <a:bodyPr/>
          <a:lstStyle/>
          <a:p>
            <a:endParaRPr lang="en-US"/>
          </a:p>
        </p:txBody>
      </p:sp>
      <p:sp>
        <p:nvSpPr>
          <p:cNvPr id="30" name="Shape 28"/>
          <p:cNvSpPr/>
          <p:nvPr/>
        </p:nvSpPr>
        <p:spPr>
          <a:xfrm>
            <a:off x="6035040" y="5266944"/>
            <a:ext cx="1371600" cy="658368"/>
          </a:xfrm>
          <a:prstGeom prst="rect">
            <a:avLst/>
          </a:prstGeom>
          <a:solidFill>
            <a:srgbClr val="4A148C"/>
          </a:solidFill>
          <a:ln w="12700">
            <a:solidFill>
              <a:srgbClr val="4A148C"/>
            </a:solidFill>
            <a:prstDash val="solid"/>
          </a:ln>
        </p:spPr>
        <p:txBody>
          <a:bodyPr/>
          <a:lstStyle/>
          <a:p>
            <a:endParaRPr lang="en-US"/>
          </a:p>
        </p:txBody>
      </p:sp>
      <p:sp>
        <p:nvSpPr>
          <p:cNvPr id="31" name="Text 29"/>
          <p:cNvSpPr/>
          <p:nvPr/>
        </p:nvSpPr>
        <p:spPr>
          <a:xfrm>
            <a:off x="6053328" y="5431536"/>
            <a:ext cx="1335024"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Scientific</a:t>
            </a:r>
            <a:endParaRPr lang="en-US" sz="1100" dirty="0"/>
          </a:p>
        </p:txBody>
      </p:sp>
      <p:sp>
        <p:nvSpPr>
          <p:cNvPr id="32" name="Text 30"/>
          <p:cNvSpPr/>
          <p:nvPr/>
        </p:nvSpPr>
        <p:spPr>
          <a:xfrm>
            <a:off x="7498080" y="5340096"/>
            <a:ext cx="4315968" cy="512064"/>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Biologically grounded evaluation (cold-start, slice-aware) raises DTI benchmark standards</a:t>
            </a:r>
            <a:endParaRPr lang="en-US" sz="1050" dirty="0"/>
          </a:p>
        </p:txBody>
      </p:sp>
      <p:sp>
        <p:nvSpPr>
          <p:cNvPr id="34" name="Text 31"/>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A3A6E"/>
          </a:solidFill>
          <a:ln w="12700">
            <a:solidFill>
              <a:srgbClr val="1A3A6E"/>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Literature Review</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Overview of DTI Prediction Methodology Taxonomy</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1565C0"/>
          </a:solidFill>
          <a:ln w="12700">
            <a:solidFill>
              <a:srgbClr val="1565C0"/>
            </a:solidFill>
            <a:prstDash val="solid"/>
          </a:ln>
        </p:spPr>
        <p:txBody>
          <a:bodyPr/>
          <a:lstStyle/>
          <a:p>
            <a:endParaRPr lang="en-US"/>
          </a:p>
        </p:txBody>
      </p:sp>
      <p:pic>
        <p:nvPicPr>
          <p:cNvPr id="8" name="Image 0" descr="C:\Users\Jamila\Modeling-DTI\paper\figures\fig2_mindmap.png"/>
          <p:cNvPicPr>
            <a:picLocks noChangeAspect="1"/>
          </p:cNvPicPr>
          <p:nvPr/>
        </p:nvPicPr>
        <p:blipFill>
          <a:blip r:embed="rId3"/>
          <a:stretch>
            <a:fillRect/>
          </a:stretch>
        </p:blipFill>
        <p:spPr>
          <a:xfrm>
            <a:off x="256032" y="1024128"/>
            <a:ext cx="6583680" cy="5522976"/>
          </a:xfrm>
          <a:prstGeom prst="rect">
            <a:avLst/>
          </a:prstGeom>
        </p:spPr>
      </p:pic>
      <p:sp>
        <p:nvSpPr>
          <p:cNvPr id="9" name="Shape 6"/>
          <p:cNvSpPr/>
          <p:nvPr/>
        </p:nvSpPr>
        <p:spPr>
          <a:xfrm>
            <a:off x="7040880" y="1024128"/>
            <a:ext cx="4892040" cy="2606040"/>
          </a:xfrm>
          <a:prstGeom prst="roundRect">
            <a:avLst>
              <a:gd name="adj" fmla="val 2807"/>
            </a:avLst>
          </a:prstGeom>
          <a:solidFill>
            <a:srgbClr val="DDEEFF"/>
          </a:solidFill>
          <a:ln w="12700">
            <a:solidFill>
              <a:srgbClr val="1565C0"/>
            </a:solidFill>
            <a:prstDash val="solid"/>
          </a:ln>
        </p:spPr>
        <p:txBody>
          <a:bodyPr/>
          <a:lstStyle/>
          <a:p>
            <a:endParaRPr lang="en-US"/>
          </a:p>
        </p:txBody>
      </p:sp>
      <p:sp>
        <p:nvSpPr>
          <p:cNvPr id="10" name="Shape 7"/>
          <p:cNvSpPr/>
          <p:nvPr/>
        </p:nvSpPr>
        <p:spPr>
          <a:xfrm>
            <a:off x="7040880" y="1024128"/>
            <a:ext cx="4892040" cy="347472"/>
          </a:xfrm>
          <a:prstGeom prst="rect">
            <a:avLst/>
          </a:prstGeom>
          <a:solidFill>
            <a:srgbClr val="1565C0"/>
          </a:solidFill>
          <a:ln w="12700">
            <a:solidFill>
              <a:srgbClr val="1565C0"/>
            </a:solidFill>
            <a:prstDash val="solid"/>
          </a:ln>
        </p:spPr>
        <p:txBody>
          <a:bodyPr/>
          <a:lstStyle/>
          <a:p>
            <a:endParaRPr lang="en-US"/>
          </a:p>
        </p:txBody>
      </p:sp>
      <p:sp>
        <p:nvSpPr>
          <p:cNvPr id="11" name="Text 8"/>
          <p:cNvSpPr/>
          <p:nvPr/>
        </p:nvSpPr>
        <p:spPr>
          <a:xfrm>
            <a:off x="7132320" y="1060704"/>
            <a:ext cx="4709160" cy="30175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Five Methodological Generations</a:t>
            </a:r>
            <a:endParaRPr lang="en-US" sz="1200" dirty="0"/>
          </a:p>
        </p:txBody>
      </p:sp>
      <p:sp>
        <p:nvSpPr>
          <p:cNvPr id="12" name="Text 9"/>
          <p:cNvSpPr/>
          <p:nvPr/>
        </p:nvSpPr>
        <p:spPr>
          <a:xfrm>
            <a:off x="7178040" y="1408176"/>
            <a:ext cx="4636008" cy="2148840"/>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Generation 1: Molecular Docking — 3D physics simulation, structure-dependent, slow</a:t>
            </a:r>
            <a:endParaRPr lang="en-US" sz="1050" dirty="0"/>
          </a:p>
          <a:p>
            <a:r>
              <a:rPr lang="en-US" sz="1050" dirty="0">
                <a:solidFill>
                  <a:srgbClr val="1C2833"/>
                </a:solidFill>
                <a:latin typeface="Calibri" pitchFamily="34" charset="0"/>
                <a:ea typeface="Calibri" pitchFamily="34" charset="-122"/>
                <a:cs typeface="Calibri" pitchFamily="34" charset="-120"/>
              </a:rPr>
              <a:t>Generation 2: Ligand-Based / QSAR — fingerprint similarity, fails for novel scaffolds</a:t>
            </a:r>
            <a:endParaRPr lang="en-US" sz="1050" dirty="0"/>
          </a:p>
          <a:p>
            <a:r>
              <a:rPr lang="en-US" sz="1050" dirty="0">
                <a:solidFill>
                  <a:srgbClr val="1C2833"/>
                </a:solidFill>
                <a:latin typeface="Calibri" pitchFamily="34" charset="0"/>
                <a:ea typeface="Calibri" pitchFamily="34" charset="-122"/>
                <a:cs typeface="Calibri" pitchFamily="34" charset="-120"/>
              </a:rPr>
              <a:t>Generation 3: Classical ML — SVM, RF; requires hand-crafted features; cold-start problem</a:t>
            </a:r>
            <a:endParaRPr lang="en-US" sz="1050" dirty="0"/>
          </a:p>
          <a:p>
            <a:r>
              <a:rPr lang="en-US" sz="1050" dirty="0">
                <a:solidFill>
                  <a:srgbClr val="1C2833"/>
                </a:solidFill>
                <a:latin typeface="Calibri" pitchFamily="34" charset="0"/>
                <a:ea typeface="Calibri" pitchFamily="34" charset="-122"/>
                <a:cs typeface="Calibri" pitchFamily="34" charset="-120"/>
              </a:rPr>
              <a:t>Generation 4: Deep Learning — CNN (DeepDTA), GNN (GraphDTA), RNN; automatic feature learning</a:t>
            </a:r>
            <a:endParaRPr lang="en-US" sz="1050" dirty="0"/>
          </a:p>
          <a:p>
            <a:r>
              <a:rPr lang="en-US" sz="1050" b="1" dirty="0">
                <a:solidFill>
                  <a:srgbClr val="1C2833"/>
                </a:solidFill>
                <a:latin typeface="Calibri" pitchFamily="34" charset="0"/>
                <a:ea typeface="Calibri" pitchFamily="34" charset="-122"/>
                <a:cs typeface="Calibri" pitchFamily="34" charset="-120"/>
              </a:rPr>
              <a:t>Generation 5: Hybrid Multimodal DL — integrates multiple modalities with attention fusion [THIS STUDY]</a:t>
            </a:r>
            <a:endParaRPr lang="en-US" sz="1050" dirty="0"/>
          </a:p>
        </p:txBody>
      </p:sp>
      <p:sp>
        <p:nvSpPr>
          <p:cNvPr id="13" name="Shape 10"/>
          <p:cNvSpPr/>
          <p:nvPr/>
        </p:nvSpPr>
        <p:spPr>
          <a:xfrm>
            <a:off x="7040880" y="3767328"/>
            <a:ext cx="4892040" cy="2779776"/>
          </a:xfrm>
          <a:prstGeom prst="roundRect">
            <a:avLst>
              <a:gd name="adj" fmla="val 2632"/>
            </a:avLst>
          </a:prstGeom>
          <a:solidFill>
            <a:srgbClr val="ECEFF1"/>
          </a:solidFill>
          <a:ln w="12700">
            <a:solidFill>
              <a:srgbClr val="1A3A6E"/>
            </a:solidFill>
            <a:prstDash val="solid"/>
          </a:ln>
        </p:spPr>
        <p:txBody>
          <a:bodyPr/>
          <a:lstStyle/>
          <a:p>
            <a:endParaRPr lang="en-US"/>
          </a:p>
        </p:txBody>
      </p:sp>
      <p:sp>
        <p:nvSpPr>
          <p:cNvPr id="14" name="Shape 11"/>
          <p:cNvSpPr/>
          <p:nvPr/>
        </p:nvSpPr>
        <p:spPr>
          <a:xfrm>
            <a:off x="7040880" y="3767328"/>
            <a:ext cx="4892040" cy="347472"/>
          </a:xfrm>
          <a:prstGeom prst="rect">
            <a:avLst/>
          </a:prstGeom>
          <a:solidFill>
            <a:srgbClr val="1A3A6E"/>
          </a:solidFill>
          <a:ln w="12700">
            <a:solidFill>
              <a:srgbClr val="1A3A6E"/>
            </a:solidFill>
            <a:prstDash val="solid"/>
          </a:ln>
        </p:spPr>
        <p:txBody>
          <a:bodyPr/>
          <a:lstStyle/>
          <a:p>
            <a:endParaRPr lang="en-US"/>
          </a:p>
        </p:txBody>
      </p:sp>
      <p:sp>
        <p:nvSpPr>
          <p:cNvPr id="15" name="Text 12"/>
          <p:cNvSpPr/>
          <p:nvPr/>
        </p:nvSpPr>
        <p:spPr>
          <a:xfrm>
            <a:off x="7132320" y="3803904"/>
            <a:ext cx="4709160" cy="301752"/>
          </a:xfrm>
          <a:prstGeom prst="rect">
            <a:avLst/>
          </a:prstGeom>
          <a:noFill/>
          <a:ln/>
        </p:spPr>
        <p:txBody>
          <a:bodyPr wrap="square" rtlCol="0" anchor="ctr"/>
          <a:lstStyle/>
          <a:p>
            <a:pPr marL="0" indent="0">
              <a:buNone/>
            </a:pPr>
            <a:r>
              <a:rPr lang="en-US" sz="1200" b="1" dirty="0">
                <a:solidFill>
                  <a:srgbClr val="1A3A6E"/>
                </a:solidFill>
                <a:latin typeface="Calibri" pitchFamily="34" charset="0"/>
                <a:ea typeface="Calibri" pitchFamily="34" charset="-122"/>
                <a:cs typeface="Calibri" pitchFamily="34" charset="-120"/>
              </a:rPr>
              <a:t>36 Models Reviewed in This Study</a:t>
            </a:r>
            <a:endParaRPr lang="en-US" sz="1200" dirty="0"/>
          </a:p>
        </p:txBody>
      </p:sp>
      <p:sp>
        <p:nvSpPr>
          <p:cNvPr id="16" name="Text 13"/>
          <p:cNvSpPr/>
          <p:nvPr/>
        </p:nvSpPr>
        <p:spPr>
          <a:xfrm>
            <a:off x="7178040" y="4151376"/>
            <a:ext cx="4636008" cy="2322576"/>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CNN-based: DeepDTA, DTI-RCNN</a:t>
            </a:r>
            <a:endParaRPr lang="en-US" sz="1050" dirty="0"/>
          </a:p>
          <a:p>
            <a:r>
              <a:rPr lang="en-US" sz="1050" dirty="0">
                <a:solidFill>
                  <a:srgbClr val="1C2833"/>
                </a:solidFill>
                <a:latin typeface="Calibri" pitchFamily="34" charset="0"/>
                <a:ea typeface="Calibri" pitchFamily="34" charset="-122"/>
                <a:cs typeface="Calibri" pitchFamily="34" charset="-120"/>
              </a:rPr>
              <a:t>GNN-based: GraphDTA, SaeGraphDTI, NHGNN-DTA</a:t>
            </a:r>
            <a:endParaRPr lang="en-US" sz="1050" dirty="0"/>
          </a:p>
          <a:p>
            <a:r>
              <a:rPr lang="en-US" sz="1050" dirty="0">
                <a:solidFill>
                  <a:srgbClr val="1C2833"/>
                </a:solidFill>
                <a:latin typeface="Calibri" pitchFamily="34" charset="0"/>
                <a:ea typeface="Calibri" pitchFamily="34" charset="-122"/>
                <a:cs typeface="Calibri" pitchFamily="34" charset="-120"/>
              </a:rPr>
              <a:t>Attention: MutualDTA, GSAML-DTA, GraphATT-DTA</a:t>
            </a:r>
            <a:endParaRPr lang="en-US" sz="1050" dirty="0"/>
          </a:p>
          <a:p>
            <a:r>
              <a:rPr lang="en-US" sz="1050" dirty="0">
                <a:solidFill>
                  <a:srgbClr val="1C2833"/>
                </a:solidFill>
                <a:latin typeface="Calibri" pitchFamily="34" charset="0"/>
                <a:ea typeface="Calibri" pitchFamily="34" charset="-122"/>
                <a:cs typeface="Calibri" pitchFamily="34" charset="-120"/>
              </a:rPr>
              <a:t>Transformer: TransformerCPI, MolTrans, EmbedDTI</a:t>
            </a:r>
            <a:endParaRPr lang="en-US" sz="1050" dirty="0"/>
          </a:p>
          <a:p>
            <a:r>
              <a:rPr lang="en-US" sz="1050" dirty="0">
                <a:solidFill>
                  <a:srgbClr val="1C2833"/>
                </a:solidFill>
                <a:latin typeface="Calibri" pitchFamily="34" charset="0"/>
                <a:ea typeface="Calibri" pitchFamily="34" charset="-122"/>
                <a:cs typeface="Calibri" pitchFamily="34" charset="-120"/>
              </a:rPr>
              <a:t>KG-based: TTModel, DTKGIN (baseline)</a:t>
            </a:r>
            <a:endParaRPr lang="en-US" sz="1050" dirty="0"/>
          </a:p>
          <a:p>
            <a:r>
              <a:rPr lang="en-US" sz="1050" dirty="0">
                <a:solidFill>
                  <a:srgbClr val="1C2833"/>
                </a:solidFill>
                <a:latin typeface="Calibri" pitchFamily="34" charset="0"/>
                <a:ea typeface="Calibri" pitchFamily="34" charset="-122"/>
                <a:cs typeface="Calibri" pitchFamily="34" charset="-120"/>
              </a:rPr>
              <a:t>Network: GSRF-DTI (baseline), MINDG</a:t>
            </a:r>
            <a:endParaRPr lang="en-US" sz="1050" dirty="0"/>
          </a:p>
          <a:p>
            <a:r>
              <a:rPr lang="en-US" sz="1050" dirty="0">
                <a:solidFill>
                  <a:srgbClr val="1C2833"/>
                </a:solidFill>
                <a:latin typeface="Calibri" pitchFamily="34" charset="0"/>
                <a:ea typeface="Calibri" pitchFamily="34" charset="-122"/>
                <a:cs typeface="Calibri" pitchFamily="34" charset="-120"/>
              </a:rPr>
              <a:t>Advanced Hybrid: iNGNN-DTI, Top-DTI, HMSA-DTI, MMDG-DTI</a:t>
            </a:r>
            <a:endParaRPr lang="en-US" sz="1050" dirty="0"/>
          </a:p>
          <a:p>
            <a:r>
              <a:rPr lang="en-US" sz="1050" dirty="0">
                <a:solidFill>
                  <a:srgbClr val="1C2833"/>
                </a:solidFill>
                <a:latin typeface="Calibri" pitchFamily="34" charset="0"/>
                <a:ea typeface="Calibri" pitchFamily="34" charset="-122"/>
                <a:cs typeface="Calibri" pitchFamily="34" charset="-120"/>
              </a:rPr>
              <a:t>Cold-Start: DrugBAN, ColdDTA, CoaDTI, BACPI</a:t>
            </a:r>
            <a:endParaRPr lang="en-US" sz="1050" dirty="0"/>
          </a:p>
        </p:txBody>
      </p:sp>
      <p:sp>
        <p:nvSpPr>
          <p:cNvPr id="18" name="Text 14"/>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A3A6E"/>
          </a:solidFill>
          <a:ln w="12700">
            <a:solidFill>
              <a:srgbClr val="1A3A6E"/>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Literature Review</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Critical Analysis of Three Key Baseline Models</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1565C0"/>
          </a:solidFill>
          <a:ln w="12700">
            <a:solidFill>
              <a:srgbClr val="1565C0"/>
            </a:solidFill>
            <a:prstDash val="solid"/>
          </a:ln>
        </p:spPr>
        <p:txBody>
          <a:bodyPr/>
          <a:lstStyle/>
          <a:p>
            <a:endParaRPr lang="en-US"/>
          </a:p>
        </p:txBody>
      </p:sp>
      <p:sp>
        <p:nvSpPr>
          <p:cNvPr id="8" name="Shape 6"/>
          <p:cNvSpPr/>
          <p:nvPr/>
        </p:nvSpPr>
        <p:spPr>
          <a:xfrm>
            <a:off x="256032" y="1078992"/>
            <a:ext cx="3840480" cy="5120640"/>
          </a:xfrm>
          <a:prstGeom prst="roundRect">
            <a:avLst>
              <a:gd name="adj" fmla="val 2381"/>
            </a:avLst>
          </a:prstGeom>
          <a:solidFill>
            <a:srgbClr val="FFCDD2"/>
          </a:solidFill>
          <a:ln w="12700">
            <a:solidFill>
              <a:srgbClr val="1565C0"/>
            </a:solidFill>
            <a:prstDash val="solid"/>
          </a:ln>
        </p:spPr>
        <p:txBody>
          <a:bodyPr/>
          <a:lstStyle/>
          <a:p>
            <a:endParaRPr lang="en-US"/>
          </a:p>
        </p:txBody>
      </p:sp>
      <p:sp>
        <p:nvSpPr>
          <p:cNvPr id="9" name="Shape 7"/>
          <p:cNvSpPr/>
          <p:nvPr/>
        </p:nvSpPr>
        <p:spPr>
          <a:xfrm>
            <a:off x="256032" y="1078992"/>
            <a:ext cx="3840480" cy="475488"/>
          </a:xfrm>
          <a:prstGeom prst="rect">
            <a:avLst/>
          </a:prstGeom>
          <a:solidFill>
            <a:srgbClr val="1565C0"/>
          </a:solidFill>
          <a:ln w="12700">
            <a:solidFill>
              <a:srgbClr val="1565C0"/>
            </a:solidFill>
            <a:prstDash val="solid"/>
          </a:ln>
        </p:spPr>
        <p:txBody>
          <a:bodyPr/>
          <a:lstStyle/>
          <a:p>
            <a:endParaRPr lang="en-US"/>
          </a:p>
        </p:txBody>
      </p:sp>
      <p:sp>
        <p:nvSpPr>
          <p:cNvPr id="10" name="Text 8"/>
          <p:cNvSpPr/>
          <p:nvPr/>
        </p:nvSpPr>
        <p:spPr>
          <a:xfrm>
            <a:off x="347472" y="1124712"/>
            <a:ext cx="256032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GSRF-DTI</a:t>
            </a:r>
            <a:endParaRPr lang="en-US" sz="1600" dirty="0"/>
          </a:p>
        </p:txBody>
      </p:sp>
      <p:sp>
        <p:nvSpPr>
          <p:cNvPr id="11" name="Text 9"/>
          <p:cNvSpPr/>
          <p:nvPr/>
        </p:nvSpPr>
        <p:spPr>
          <a:xfrm>
            <a:off x="347472" y="1124712"/>
            <a:ext cx="3657600" cy="384048"/>
          </a:xfrm>
          <a:prstGeom prst="rect">
            <a:avLst/>
          </a:prstGeom>
          <a:noFill/>
          <a:ln/>
        </p:spPr>
        <p:txBody>
          <a:bodyPr wrap="square" rtlCol="0" anchor="ctr"/>
          <a:lstStyle/>
          <a:p>
            <a:pPr marL="0" indent="0" algn="r">
              <a:buNone/>
            </a:pPr>
            <a:r>
              <a:rPr lang="en-US" sz="900" dirty="0">
                <a:solidFill>
                  <a:srgbClr val="D0ECFF"/>
                </a:solidFill>
                <a:latin typeface="Calibri" pitchFamily="34" charset="0"/>
                <a:ea typeface="Calibri" pitchFamily="34" charset="-122"/>
                <a:cs typeface="Calibri" pitchFamily="34" charset="-120"/>
              </a:rPr>
              <a:t>Zhu et al., 2024</a:t>
            </a:r>
            <a:endParaRPr lang="en-US" sz="900" dirty="0"/>
          </a:p>
        </p:txBody>
      </p:sp>
      <p:sp>
        <p:nvSpPr>
          <p:cNvPr id="12" name="Shape 10"/>
          <p:cNvSpPr/>
          <p:nvPr/>
        </p:nvSpPr>
        <p:spPr>
          <a:xfrm>
            <a:off x="365760" y="1627632"/>
            <a:ext cx="3621024" cy="566928"/>
          </a:xfrm>
          <a:prstGeom prst="roundRect">
            <a:avLst>
              <a:gd name="adj" fmla="val 9677"/>
            </a:avLst>
          </a:prstGeom>
          <a:solidFill>
            <a:srgbClr val="1565C0"/>
          </a:solidFill>
          <a:ln w="12700">
            <a:solidFill>
              <a:srgbClr val="1565C0"/>
            </a:solidFill>
            <a:prstDash val="solid"/>
          </a:ln>
        </p:spPr>
        <p:txBody>
          <a:bodyPr/>
          <a:lstStyle/>
          <a:p>
            <a:endParaRPr lang="en-US"/>
          </a:p>
        </p:txBody>
      </p:sp>
      <p:sp>
        <p:nvSpPr>
          <p:cNvPr id="13" name="Text 11"/>
          <p:cNvSpPr/>
          <p:nvPr/>
        </p:nvSpPr>
        <p:spPr>
          <a:xfrm>
            <a:off x="393192" y="1645920"/>
            <a:ext cx="3566160"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Best Performance: AUROC 0.9818</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(Luo_17)</a:t>
            </a:r>
            <a:endParaRPr lang="en-US" sz="1100" dirty="0"/>
          </a:p>
        </p:txBody>
      </p:sp>
      <p:sp>
        <p:nvSpPr>
          <p:cNvPr id="14" name="Text 12"/>
          <p:cNvSpPr/>
          <p:nvPr/>
        </p:nvSpPr>
        <p:spPr>
          <a:xfrm>
            <a:off x="365760" y="2267712"/>
            <a:ext cx="3621024" cy="237744"/>
          </a:xfrm>
          <a:prstGeom prst="rect">
            <a:avLst/>
          </a:prstGeom>
          <a:noFill/>
          <a:ln/>
        </p:spPr>
        <p:txBody>
          <a:bodyPr wrap="square" rtlCol="0" anchor="ctr"/>
          <a:lstStyle/>
          <a:p>
            <a:pPr marL="0" indent="0">
              <a:buNone/>
            </a:pPr>
            <a:r>
              <a:rPr lang="en-US" sz="1050" b="1" dirty="0">
                <a:solidFill>
                  <a:srgbClr val="1565C0"/>
                </a:solidFill>
                <a:latin typeface="Calibri" pitchFamily="34" charset="0"/>
                <a:ea typeface="Calibri" pitchFamily="34" charset="-122"/>
                <a:cs typeface="Calibri" pitchFamily="34" charset="-120"/>
              </a:rPr>
              <a:t>Architecture:</a:t>
            </a:r>
            <a:endParaRPr lang="en-US" sz="1050" dirty="0"/>
          </a:p>
        </p:txBody>
      </p:sp>
      <p:sp>
        <p:nvSpPr>
          <p:cNvPr id="15" name="Text 13"/>
          <p:cNvSpPr/>
          <p:nvPr/>
        </p:nvSpPr>
        <p:spPr>
          <a:xfrm>
            <a:off x="420624" y="2505456"/>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DeepWalk + GraphSAGE + Random Forest</a:t>
            </a:r>
            <a:endParaRPr lang="en-US" sz="950" dirty="0"/>
          </a:p>
        </p:txBody>
      </p:sp>
      <p:sp>
        <p:nvSpPr>
          <p:cNvPr id="16" name="Text 14"/>
          <p:cNvSpPr/>
          <p:nvPr/>
        </p:nvSpPr>
        <p:spPr>
          <a:xfrm>
            <a:off x="420624" y="2798064"/>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Drug-Target Pair Network (DTP-NET)</a:t>
            </a:r>
            <a:endParaRPr lang="en-US" sz="950" dirty="0"/>
          </a:p>
        </p:txBody>
      </p:sp>
      <p:sp>
        <p:nvSpPr>
          <p:cNvPr id="17" name="Text 15"/>
          <p:cNvSpPr/>
          <p:nvPr/>
        </p:nvSpPr>
        <p:spPr>
          <a:xfrm>
            <a:off x="420624" y="3090672"/>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Network-level topological features</a:t>
            </a:r>
            <a:endParaRPr lang="en-US" sz="950" dirty="0"/>
          </a:p>
        </p:txBody>
      </p:sp>
      <p:sp>
        <p:nvSpPr>
          <p:cNvPr id="18" name="Text 16"/>
          <p:cNvSpPr/>
          <p:nvPr/>
        </p:nvSpPr>
        <p:spPr>
          <a:xfrm>
            <a:off x="365760" y="3511296"/>
            <a:ext cx="3621024" cy="237744"/>
          </a:xfrm>
          <a:prstGeom prst="rect">
            <a:avLst/>
          </a:prstGeom>
          <a:noFill/>
          <a:ln/>
        </p:spPr>
        <p:txBody>
          <a:bodyPr wrap="square" rtlCol="0" anchor="ctr"/>
          <a:lstStyle/>
          <a:p>
            <a:pPr marL="0" indent="0">
              <a:buNone/>
            </a:pPr>
            <a:r>
              <a:rPr lang="en-US" sz="1050" b="1" dirty="0">
                <a:solidFill>
                  <a:srgbClr val="B71C1C"/>
                </a:solidFill>
                <a:latin typeface="Calibri" pitchFamily="34" charset="0"/>
                <a:ea typeface="Calibri" pitchFamily="34" charset="-122"/>
                <a:cs typeface="Calibri" pitchFamily="34" charset="-120"/>
              </a:rPr>
              <a:t>Identified Gaps:</a:t>
            </a:r>
            <a:endParaRPr lang="en-US" sz="1050" dirty="0"/>
          </a:p>
        </p:txBody>
      </p:sp>
      <p:sp>
        <p:nvSpPr>
          <p:cNvPr id="19" name="Text 17"/>
          <p:cNvSpPr/>
          <p:nvPr/>
        </p:nvSpPr>
        <p:spPr>
          <a:xfrm>
            <a:off x="420624" y="3749040"/>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No GNN molecular graph or RNN sequence encoding</a:t>
            </a:r>
            <a:endParaRPr lang="en-US" sz="950" dirty="0"/>
          </a:p>
        </p:txBody>
      </p:sp>
      <p:sp>
        <p:nvSpPr>
          <p:cNvPr id="20" name="Text 18"/>
          <p:cNvSpPr/>
          <p:nvPr/>
        </p:nvSpPr>
        <p:spPr>
          <a:xfrm>
            <a:off x="420624" y="4224528"/>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Static concatenation fusion — no cross-modal interaction</a:t>
            </a:r>
            <a:endParaRPr lang="en-US" sz="950" dirty="0"/>
          </a:p>
        </p:txBody>
      </p:sp>
      <p:sp>
        <p:nvSpPr>
          <p:cNvPr id="21" name="Text 19"/>
          <p:cNvSpPr/>
          <p:nvPr/>
        </p:nvSpPr>
        <p:spPr>
          <a:xfrm>
            <a:off x="420624" y="4700016"/>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Random Forest lacks atom/residue-level XAI</a:t>
            </a:r>
            <a:endParaRPr lang="en-US" sz="950" dirty="0"/>
          </a:p>
        </p:txBody>
      </p:sp>
      <p:sp>
        <p:nvSpPr>
          <p:cNvPr id="22" name="Text 20"/>
          <p:cNvSpPr/>
          <p:nvPr/>
        </p:nvSpPr>
        <p:spPr>
          <a:xfrm>
            <a:off x="420624" y="5175504"/>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Explicitly acknowledged: "need for data imbalance strategies"</a:t>
            </a:r>
            <a:endParaRPr lang="en-US" sz="950" dirty="0"/>
          </a:p>
        </p:txBody>
      </p:sp>
      <p:sp>
        <p:nvSpPr>
          <p:cNvPr id="23" name="Shape 21"/>
          <p:cNvSpPr/>
          <p:nvPr/>
        </p:nvSpPr>
        <p:spPr>
          <a:xfrm>
            <a:off x="4242816" y="1078992"/>
            <a:ext cx="3840480" cy="5120640"/>
          </a:xfrm>
          <a:prstGeom prst="roundRect">
            <a:avLst>
              <a:gd name="adj" fmla="val 2381"/>
            </a:avLst>
          </a:prstGeom>
          <a:solidFill>
            <a:srgbClr val="FFF3E0"/>
          </a:solidFill>
          <a:ln w="12700">
            <a:solidFill>
              <a:srgbClr val="00695C"/>
            </a:solidFill>
            <a:prstDash val="solid"/>
          </a:ln>
        </p:spPr>
        <p:txBody>
          <a:bodyPr/>
          <a:lstStyle/>
          <a:p>
            <a:endParaRPr lang="en-US"/>
          </a:p>
        </p:txBody>
      </p:sp>
      <p:sp>
        <p:nvSpPr>
          <p:cNvPr id="24" name="Shape 22"/>
          <p:cNvSpPr/>
          <p:nvPr/>
        </p:nvSpPr>
        <p:spPr>
          <a:xfrm>
            <a:off x="4242816" y="1078992"/>
            <a:ext cx="3840480" cy="475488"/>
          </a:xfrm>
          <a:prstGeom prst="rect">
            <a:avLst/>
          </a:prstGeom>
          <a:solidFill>
            <a:srgbClr val="00695C"/>
          </a:solidFill>
          <a:ln w="12700">
            <a:solidFill>
              <a:srgbClr val="00695C"/>
            </a:solidFill>
            <a:prstDash val="solid"/>
          </a:ln>
        </p:spPr>
        <p:txBody>
          <a:bodyPr/>
          <a:lstStyle/>
          <a:p>
            <a:endParaRPr lang="en-US"/>
          </a:p>
        </p:txBody>
      </p:sp>
      <p:sp>
        <p:nvSpPr>
          <p:cNvPr id="25" name="Text 23"/>
          <p:cNvSpPr/>
          <p:nvPr/>
        </p:nvSpPr>
        <p:spPr>
          <a:xfrm>
            <a:off x="4334256" y="1124712"/>
            <a:ext cx="256032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TTModel</a:t>
            </a:r>
            <a:endParaRPr lang="en-US" sz="1600" dirty="0"/>
          </a:p>
        </p:txBody>
      </p:sp>
      <p:sp>
        <p:nvSpPr>
          <p:cNvPr id="26" name="Text 24"/>
          <p:cNvSpPr/>
          <p:nvPr/>
        </p:nvSpPr>
        <p:spPr>
          <a:xfrm>
            <a:off x="4334256" y="1124712"/>
            <a:ext cx="3657600" cy="384048"/>
          </a:xfrm>
          <a:prstGeom prst="rect">
            <a:avLst/>
          </a:prstGeom>
          <a:noFill/>
          <a:ln/>
        </p:spPr>
        <p:txBody>
          <a:bodyPr wrap="square" rtlCol="0" anchor="ctr"/>
          <a:lstStyle/>
          <a:p>
            <a:pPr marL="0" indent="0" algn="r">
              <a:buNone/>
            </a:pPr>
            <a:r>
              <a:rPr lang="en-US" sz="900" dirty="0">
                <a:solidFill>
                  <a:srgbClr val="D0ECFF"/>
                </a:solidFill>
                <a:latin typeface="Calibri" pitchFamily="34" charset="0"/>
                <a:ea typeface="Calibri" pitchFamily="34" charset="-122"/>
                <a:cs typeface="Calibri" pitchFamily="34" charset="-120"/>
              </a:rPr>
              <a:t>N. Li et al., 2024</a:t>
            </a:r>
            <a:endParaRPr lang="en-US" sz="900" dirty="0"/>
          </a:p>
        </p:txBody>
      </p:sp>
      <p:sp>
        <p:nvSpPr>
          <p:cNvPr id="27" name="Shape 25"/>
          <p:cNvSpPr/>
          <p:nvPr/>
        </p:nvSpPr>
        <p:spPr>
          <a:xfrm>
            <a:off x="4352544" y="1627632"/>
            <a:ext cx="3621024" cy="566928"/>
          </a:xfrm>
          <a:prstGeom prst="roundRect">
            <a:avLst>
              <a:gd name="adj" fmla="val 9677"/>
            </a:avLst>
          </a:prstGeom>
          <a:solidFill>
            <a:srgbClr val="00695C"/>
          </a:solidFill>
          <a:ln w="12700">
            <a:solidFill>
              <a:srgbClr val="00695C"/>
            </a:solidFill>
            <a:prstDash val="solid"/>
          </a:ln>
        </p:spPr>
        <p:txBody>
          <a:bodyPr/>
          <a:lstStyle/>
          <a:p>
            <a:endParaRPr lang="en-US"/>
          </a:p>
        </p:txBody>
      </p:sp>
      <p:sp>
        <p:nvSpPr>
          <p:cNvPr id="28" name="Text 26"/>
          <p:cNvSpPr/>
          <p:nvPr/>
        </p:nvSpPr>
        <p:spPr>
          <a:xfrm>
            <a:off x="4379976" y="1645920"/>
            <a:ext cx="3566160"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Best Performance: AUPR 0.95</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(GPCR class)</a:t>
            </a:r>
            <a:endParaRPr lang="en-US" sz="1100" dirty="0"/>
          </a:p>
        </p:txBody>
      </p:sp>
      <p:sp>
        <p:nvSpPr>
          <p:cNvPr id="29" name="Text 27"/>
          <p:cNvSpPr/>
          <p:nvPr/>
        </p:nvSpPr>
        <p:spPr>
          <a:xfrm>
            <a:off x="4352544" y="2267712"/>
            <a:ext cx="3621024" cy="237744"/>
          </a:xfrm>
          <a:prstGeom prst="rect">
            <a:avLst/>
          </a:prstGeom>
          <a:noFill/>
          <a:ln/>
        </p:spPr>
        <p:txBody>
          <a:bodyPr wrap="square" rtlCol="0" anchor="ctr"/>
          <a:lstStyle/>
          <a:p>
            <a:pPr marL="0" indent="0">
              <a:buNone/>
            </a:pPr>
            <a:r>
              <a:rPr lang="en-US" sz="1050" b="1" dirty="0">
                <a:solidFill>
                  <a:srgbClr val="00695C"/>
                </a:solidFill>
                <a:latin typeface="Calibri" pitchFamily="34" charset="0"/>
                <a:ea typeface="Calibri" pitchFamily="34" charset="-122"/>
                <a:cs typeface="Calibri" pitchFamily="34" charset="-120"/>
              </a:rPr>
              <a:t>Architecture:</a:t>
            </a:r>
            <a:endParaRPr lang="en-US" sz="1050" dirty="0"/>
          </a:p>
        </p:txBody>
      </p:sp>
      <p:sp>
        <p:nvSpPr>
          <p:cNvPr id="30" name="Text 28"/>
          <p:cNvSpPr/>
          <p:nvPr/>
        </p:nvSpPr>
        <p:spPr>
          <a:xfrm>
            <a:off x="4407408" y="2505456"/>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Knowledge Graph embedding</a:t>
            </a:r>
            <a:endParaRPr lang="en-US" sz="950" dirty="0"/>
          </a:p>
        </p:txBody>
      </p:sp>
      <p:sp>
        <p:nvSpPr>
          <p:cNvPr id="31" name="Text 29"/>
          <p:cNvSpPr/>
          <p:nvPr/>
        </p:nvSpPr>
        <p:spPr>
          <a:xfrm>
            <a:off x="4407408" y="2798064"/>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Relation triple encoder (structural + textual)</a:t>
            </a:r>
            <a:endParaRPr lang="en-US" sz="950" dirty="0"/>
          </a:p>
        </p:txBody>
      </p:sp>
      <p:sp>
        <p:nvSpPr>
          <p:cNvPr id="32" name="Text 30"/>
          <p:cNvSpPr/>
          <p:nvPr/>
        </p:nvSpPr>
        <p:spPr>
          <a:xfrm>
            <a:off x="4407408" y="3090672"/>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Type triple encoder (entity type info)</a:t>
            </a:r>
            <a:endParaRPr lang="en-US" sz="950" dirty="0"/>
          </a:p>
        </p:txBody>
      </p:sp>
      <p:sp>
        <p:nvSpPr>
          <p:cNvPr id="33" name="Text 31"/>
          <p:cNvSpPr/>
          <p:nvPr/>
        </p:nvSpPr>
        <p:spPr>
          <a:xfrm>
            <a:off x="4352544" y="3511296"/>
            <a:ext cx="3621024" cy="237744"/>
          </a:xfrm>
          <a:prstGeom prst="rect">
            <a:avLst/>
          </a:prstGeom>
          <a:noFill/>
          <a:ln/>
        </p:spPr>
        <p:txBody>
          <a:bodyPr wrap="square" rtlCol="0" anchor="ctr"/>
          <a:lstStyle/>
          <a:p>
            <a:pPr marL="0" indent="0">
              <a:buNone/>
            </a:pPr>
            <a:r>
              <a:rPr lang="en-US" sz="1050" b="1" dirty="0">
                <a:solidFill>
                  <a:srgbClr val="B71C1C"/>
                </a:solidFill>
                <a:latin typeface="Calibri" pitchFamily="34" charset="0"/>
                <a:ea typeface="Calibri" pitchFamily="34" charset="-122"/>
                <a:cs typeface="Calibri" pitchFamily="34" charset="-120"/>
              </a:rPr>
              <a:t>Identified Gaps:</a:t>
            </a:r>
            <a:endParaRPr lang="en-US" sz="1050" dirty="0"/>
          </a:p>
        </p:txBody>
      </p:sp>
      <p:sp>
        <p:nvSpPr>
          <p:cNvPr id="34" name="Text 32"/>
          <p:cNvSpPr/>
          <p:nvPr/>
        </p:nvSpPr>
        <p:spPr>
          <a:xfrm>
            <a:off x="4407408" y="3749040"/>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No SMILES molecular graph encoding</a:t>
            </a:r>
            <a:endParaRPr lang="en-US" sz="950" dirty="0"/>
          </a:p>
        </p:txBody>
      </p:sp>
      <p:sp>
        <p:nvSpPr>
          <p:cNvPr id="35" name="Text 33"/>
          <p:cNvSpPr/>
          <p:nvPr/>
        </p:nvSpPr>
        <p:spPr>
          <a:xfrm>
            <a:off x="4407408" y="4224528"/>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No direct amino acid sequence processing</a:t>
            </a:r>
            <a:endParaRPr lang="en-US" sz="950" dirty="0"/>
          </a:p>
        </p:txBody>
      </p:sp>
      <p:sp>
        <p:nvSpPr>
          <p:cNvPr id="36" name="Text 34"/>
          <p:cNvSpPr/>
          <p:nvPr/>
        </p:nvSpPr>
        <p:spPr>
          <a:xfrm>
            <a:off x="4407408" y="4700016"/>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Performance depends on KG completeness</a:t>
            </a:r>
            <a:endParaRPr lang="en-US" sz="950" dirty="0"/>
          </a:p>
        </p:txBody>
      </p:sp>
      <p:sp>
        <p:nvSpPr>
          <p:cNvPr id="37" name="Text 35"/>
          <p:cNvSpPr/>
          <p:nvPr/>
        </p:nvSpPr>
        <p:spPr>
          <a:xfrm>
            <a:off x="4407408" y="5175504"/>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No dynamic cross-modal attention</a:t>
            </a:r>
            <a:endParaRPr lang="en-US" sz="950" dirty="0"/>
          </a:p>
        </p:txBody>
      </p:sp>
      <p:sp>
        <p:nvSpPr>
          <p:cNvPr id="38" name="Shape 36"/>
          <p:cNvSpPr/>
          <p:nvPr/>
        </p:nvSpPr>
        <p:spPr>
          <a:xfrm>
            <a:off x="8229600" y="1078992"/>
            <a:ext cx="3840480" cy="5120640"/>
          </a:xfrm>
          <a:prstGeom prst="roundRect">
            <a:avLst>
              <a:gd name="adj" fmla="val 2381"/>
            </a:avLst>
          </a:prstGeom>
          <a:solidFill>
            <a:srgbClr val="C8E6C9"/>
          </a:solidFill>
          <a:ln w="12700">
            <a:solidFill>
              <a:srgbClr val="4A148C"/>
            </a:solidFill>
            <a:prstDash val="solid"/>
          </a:ln>
        </p:spPr>
        <p:txBody>
          <a:bodyPr/>
          <a:lstStyle/>
          <a:p>
            <a:endParaRPr lang="en-US"/>
          </a:p>
        </p:txBody>
      </p:sp>
      <p:sp>
        <p:nvSpPr>
          <p:cNvPr id="39" name="Shape 37"/>
          <p:cNvSpPr/>
          <p:nvPr/>
        </p:nvSpPr>
        <p:spPr>
          <a:xfrm>
            <a:off x="8229600" y="1078992"/>
            <a:ext cx="3840480" cy="475488"/>
          </a:xfrm>
          <a:prstGeom prst="rect">
            <a:avLst/>
          </a:prstGeom>
          <a:solidFill>
            <a:srgbClr val="4A148C"/>
          </a:solidFill>
          <a:ln w="12700">
            <a:solidFill>
              <a:srgbClr val="4A148C"/>
            </a:solidFill>
            <a:prstDash val="solid"/>
          </a:ln>
        </p:spPr>
        <p:txBody>
          <a:bodyPr/>
          <a:lstStyle/>
          <a:p>
            <a:endParaRPr lang="en-US"/>
          </a:p>
        </p:txBody>
      </p:sp>
      <p:sp>
        <p:nvSpPr>
          <p:cNvPr id="40" name="Text 38"/>
          <p:cNvSpPr/>
          <p:nvPr/>
        </p:nvSpPr>
        <p:spPr>
          <a:xfrm>
            <a:off x="8321040" y="1124712"/>
            <a:ext cx="256032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DTKGIN</a:t>
            </a:r>
            <a:endParaRPr lang="en-US" sz="1600" dirty="0"/>
          </a:p>
        </p:txBody>
      </p:sp>
      <p:sp>
        <p:nvSpPr>
          <p:cNvPr id="41" name="Text 39"/>
          <p:cNvSpPr/>
          <p:nvPr/>
        </p:nvSpPr>
        <p:spPr>
          <a:xfrm>
            <a:off x="8321040" y="1124712"/>
            <a:ext cx="3657600" cy="384048"/>
          </a:xfrm>
          <a:prstGeom prst="rect">
            <a:avLst/>
          </a:prstGeom>
          <a:noFill/>
          <a:ln/>
        </p:spPr>
        <p:txBody>
          <a:bodyPr wrap="square" rtlCol="0" anchor="ctr"/>
          <a:lstStyle/>
          <a:p>
            <a:pPr marL="0" indent="0" algn="r">
              <a:buNone/>
            </a:pPr>
            <a:r>
              <a:rPr lang="en-US" sz="900" dirty="0">
                <a:solidFill>
                  <a:srgbClr val="D0ECFF"/>
                </a:solidFill>
                <a:latin typeface="Calibri" pitchFamily="34" charset="0"/>
                <a:ea typeface="Calibri" pitchFamily="34" charset="-122"/>
                <a:cs typeface="Calibri" pitchFamily="34" charset="-120"/>
              </a:rPr>
              <a:t>Luo et al., 2024</a:t>
            </a:r>
            <a:endParaRPr lang="en-US" sz="900" dirty="0"/>
          </a:p>
        </p:txBody>
      </p:sp>
      <p:sp>
        <p:nvSpPr>
          <p:cNvPr id="42" name="Shape 40"/>
          <p:cNvSpPr/>
          <p:nvPr/>
        </p:nvSpPr>
        <p:spPr>
          <a:xfrm>
            <a:off x="8339328" y="1627632"/>
            <a:ext cx="3621024" cy="566928"/>
          </a:xfrm>
          <a:prstGeom prst="roundRect">
            <a:avLst>
              <a:gd name="adj" fmla="val 9677"/>
            </a:avLst>
          </a:prstGeom>
          <a:solidFill>
            <a:srgbClr val="4A148C"/>
          </a:solidFill>
          <a:ln w="12700">
            <a:solidFill>
              <a:srgbClr val="4A148C"/>
            </a:solidFill>
            <a:prstDash val="solid"/>
          </a:ln>
        </p:spPr>
        <p:txBody>
          <a:bodyPr/>
          <a:lstStyle/>
          <a:p>
            <a:endParaRPr lang="en-US"/>
          </a:p>
        </p:txBody>
      </p:sp>
      <p:sp>
        <p:nvSpPr>
          <p:cNvPr id="43" name="Text 41"/>
          <p:cNvSpPr/>
          <p:nvPr/>
        </p:nvSpPr>
        <p:spPr>
          <a:xfrm>
            <a:off x="8366760" y="1645920"/>
            <a:ext cx="3566160"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Best Performance: AUC 0.894 (S2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cold-drug)</a:t>
            </a:r>
            <a:endParaRPr lang="en-US" sz="1100" dirty="0"/>
          </a:p>
        </p:txBody>
      </p:sp>
      <p:sp>
        <p:nvSpPr>
          <p:cNvPr id="44" name="Text 42"/>
          <p:cNvSpPr/>
          <p:nvPr/>
        </p:nvSpPr>
        <p:spPr>
          <a:xfrm>
            <a:off x="8339328" y="2267712"/>
            <a:ext cx="3621024" cy="237744"/>
          </a:xfrm>
          <a:prstGeom prst="rect">
            <a:avLst/>
          </a:prstGeom>
          <a:noFill/>
          <a:ln/>
        </p:spPr>
        <p:txBody>
          <a:bodyPr wrap="square" rtlCol="0" anchor="ctr"/>
          <a:lstStyle/>
          <a:p>
            <a:pPr marL="0" indent="0">
              <a:buNone/>
            </a:pPr>
            <a:r>
              <a:rPr lang="en-US" sz="1050" b="1" dirty="0">
                <a:solidFill>
                  <a:srgbClr val="4A148C"/>
                </a:solidFill>
                <a:latin typeface="Calibri" pitchFamily="34" charset="0"/>
                <a:ea typeface="Calibri" pitchFamily="34" charset="-122"/>
                <a:cs typeface="Calibri" pitchFamily="34" charset="-120"/>
              </a:rPr>
              <a:t>Architecture:</a:t>
            </a:r>
            <a:endParaRPr lang="en-US" sz="1050" dirty="0"/>
          </a:p>
        </p:txBody>
      </p:sp>
      <p:sp>
        <p:nvSpPr>
          <p:cNvPr id="45" name="Text 43"/>
          <p:cNvSpPr/>
          <p:nvPr/>
        </p:nvSpPr>
        <p:spPr>
          <a:xfrm>
            <a:off x="8394192" y="2505456"/>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KG + Intent Graph mechanism</a:t>
            </a:r>
            <a:endParaRPr lang="en-US" sz="950" dirty="0"/>
          </a:p>
        </p:txBody>
      </p:sp>
      <p:sp>
        <p:nvSpPr>
          <p:cNvPr id="46" name="Text 44"/>
          <p:cNvSpPr/>
          <p:nvPr/>
        </p:nvSpPr>
        <p:spPr>
          <a:xfrm>
            <a:off x="8394192" y="2798064"/>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Latent intent nodes for interaction granularity</a:t>
            </a:r>
            <a:endParaRPr lang="en-US" sz="950" dirty="0"/>
          </a:p>
        </p:txBody>
      </p:sp>
      <p:sp>
        <p:nvSpPr>
          <p:cNvPr id="47" name="Text 45"/>
          <p:cNvSpPr/>
          <p:nvPr/>
        </p:nvSpPr>
        <p:spPr>
          <a:xfrm>
            <a:off x="8394192" y="3090672"/>
            <a:ext cx="3493008" cy="274320"/>
          </a:xfrm>
          <a:prstGeom prst="rect">
            <a:avLst/>
          </a:prstGeom>
          <a:noFill/>
          <a:ln/>
        </p:spPr>
        <p:txBody>
          <a:bodyPr wrap="square" rtlCol="0" anchor="ctr"/>
          <a:lstStyle/>
          <a:p>
            <a:pPr marL="0" indent="0">
              <a:buNone/>
            </a:pPr>
            <a:r>
              <a:rPr lang="en-US" sz="950" dirty="0">
                <a:solidFill>
                  <a:srgbClr val="1C2833"/>
                </a:solidFill>
                <a:latin typeface="Calibri" pitchFamily="34" charset="0"/>
                <a:ea typeface="Calibri" pitchFamily="34" charset="-122"/>
                <a:cs typeface="Calibri" pitchFamily="34" charset="-120"/>
              </a:rPr>
              <a:t>• Relation path-aware GNN aggregation</a:t>
            </a:r>
            <a:endParaRPr lang="en-US" sz="950" dirty="0"/>
          </a:p>
        </p:txBody>
      </p:sp>
      <p:sp>
        <p:nvSpPr>
          <p:cNvPr id="48" name="Text 46"/>
          <p:cNvSpPr/>
          <p:nvPr/>
        </p:nvSpPr>
        <p:spPr>
          <a:xfrm>
            <a:off x="8339328" y="3511296"/>
            <a:ext cx="3621024" cy="237744"/>
          </a:xfrm>
          <a:prstGeom prst="rect">
            <a:avLst/>
          </a:prstGeom>
          <a:noFill/>
          <a:ln/>
        </p:spPr>
        <p:txBody>
          <a:bodyPr wrap="square" rtlCol="0" anchor="ctr"/>
          <a:lstStyle/>
          <a:p>
            <a:pPr marL="0" indent="0">
              <a:buNone/>
            </a:pPr>
            <a:r>
              <a:rPr lang="en-US" sz="1050" b="1" dirty="0">
                <a:solidFill>
                  <a:srgbClr val="B71C1C"/>
                </a:solidFill>
                <a:latin typeface="Calibri" pitchFamily="34" charset="0"/>
                <a:ea typeface="Calibri" pitchFamily="34" charset="-122"/>
                <a:cs typeface="Calibri" pitchFamily="34" charset="-120"/>
              </a:rPr>
              <a:t>Identified Gaps:</a:t>
            </a:r>
            <a:endParaRPr lang="en-US" sz="1050" dirty="0"/>
          </a:p>
        </p:txBody>
      </p:sp>
      <p:sp>
        <p:nvSpPr>
          <p:cNvPr id="49" name="Text 47"/>
          <p:cNvSpPr/>
          <p:nvPr/>
        </p:nvSpPr>
        <p:spPr>
          <a:xfrm>
            <a:off x="8394192" y="3749040"/>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No modality-specific encoders (GNN/RNN)</a:t>
            </a:r>
            <a:endParaRPr lang="en-US" sz="950" dirty="0"/>
          </a:p>
        </p:txBody>
      </p:sp>
      <p:sp>
        <p:nvSpPr>
          <p:cNvPr id="50" name="Text 48"/>
          <p:cNvSpPr/>
          <p:nvPr/>
        </p:nvSpPr>
        <p:spPr>
          <a:xfrm>
            <a:off x="8394192" y="4224528"/>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Inner product prediction — no attention fusion</a:t>
            </a:r>
            <a:endParaRPr lang="en-US" sz="950" dirty="0"/>
          </a:p>
        </p:txBody>
      </p:sp>
      <p:sp>
        <p:nvSpPr>
          <p:cNvPr id="51" name="Text 49"/>
          <p:cNvSpPr/>
          <p:nvPr/>
        </p:nvSpPr>
        <p:spPr>
          <a:xfrm>
            <a:off x="8394192" y="4700016"/>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Random initialization — no foundation model pretraining</a:t>
            </a:r>
            <a:endParaRPr lang="en-US" sz="950" dirty="0"/>
          </a:p>
        </p:txBody>
      </p:sp>
      <p:sp>
        <p:nvSpPr>
          <p:cNvPr id="52" name="Text 50"/>
          <p:cNvSpPr/>
          <p:nvPr/>
        </p:nvSpPr>
        <p:spPr>
          <a:xfrm>
            <a:off x="8394192" y="5175504"/>
            <a:ext cx="3493008" cy="438912"/>
          </a:xfrm>
          <a:prstGeom prst="rect">
            <a:avLst/>
          </a:prstGeom>
          <a:noFill/>
          <a:ln/>
        </p:spPr>
        <p:txBody>
          <a:bodyPr wrap="square" rtlCol="0" anchor="ctr"/>
          <a:lstStyle/>
          <a:p>
            <a:pPr marL="0" indent="0">
              <a:buNone/>
            </a:pPr>
            <a:r>
              <a:rPr lang="en-US" sz="950" dirty="0">
                <a:solidFill>
                  <a:srgbClr val="B71C1C"/>
                </a:solidFill>
                <a:latin typeface="Calibri" pitchFamily="34" charset="0"/>
                <a:ea typeface="Calibri" pitchFamily="34" charset="-122"/>
                <a:cs typeface="Calibri" pitchFamily="34" charset="-120"/>
              </a:rPr>
              <a:t>✗ Intent node count is dataset-specific hyperparameter</a:t>
            </a:r>
            <a:endParaRPr lang="en-US" sz="950" dirty="0"/>
          </a:p>
        </p:txBody>
      </p:sp>
      <p:sp>
        <p:nvSpPr>
          <p:cNvPr id="53" name="Shape 51"/>
          <p:cNvSpPr/>
          <p:nvPr/>
        </p:nvSpPr>
        <p:spPr>
          <a:xfrm>
            <a:off x="256032" y="6099048"/>
            <a:ext cx="11658600" cy="457200"/>
          </a:xfrm>
          <a:prstGeom prst="rect">
            <a:avLst/>
          </a:prstGeom>
          <a:solidFill>
            <a:srgbClr val="ECEFF1"/>
          </a:solidFill>
          <a:ln w="12700">
            <a:solidFill>
              <a:srgbClr val="1A3A6E"/>
            </a:solidFill>
            <a:prstDash val="solid"/>
          </a:ln>
        </p:spPr>
        <p:txBody>
          <a:bodyPr/>
          <a:lstStyle/>
          <a:p>
            <a:endParaRPr lang="en-US"/>
          </a:p>
        </p:txBody>
      </p:sp>
      <p:sp>
        <p:nvSpPr>
          <p:cNvPr id="54" name="Text 52"/>
          <p:cNvSpPr/>
          <p:nvPr/>
        </p:nvSpPr>
        <p:spPr>
          <a:xfrm>
            <a:off x="384048" y="6108192"/>
            <a:ext cx="11411712" cy="438912"/>
          </a:xfrm>
          <a:prstGeom prst="rect">
            <a:avLst/>
          </a:prstGeom>
          <a:noFill/>
          <a:ln/>
        </p:spPr>
        <p:txBody>
          <a:bodyPr wrap="square" rtlCol="0" anchor="ctr"/>
          <a:lstStyle/>
          <a:p>
            <a:pPr marL="0" indent="0">
              <a:buNone/>
            </a:pPr>
            <a:r>
              <a:rPr lang="en-US" sz="1100" b="1" dirty="0">
                <a:solidFill>
                  <a:srgbClr val="1A3A6E"/>
                </a:solidFill>
                <a:latin typeface="Calibri" pitchFamily="34" charset="0"/>
                <a:ea typeface="Calibri" pitchFamily="34" charset="-122"/>
                <a:cs typeface="Calibri" pitchFamily="34" charset="-120"/>
              </a:rPr>
              <a:t>Common Thread: All three models lack dynamic cross-modal attention, foundation-model pretraining, and comprehensive cold-start evaluation — directly motivating H-GNN-RNN-DTI.</a:t>
            </a:r>
            <a:endParaRPr lang="en-US" sz="1100" dirty="0"/>
          </a:p>
        </p:txBody>
      </p:sp>
      <p:sp>
        <p:nvSpPr>
          <p:cNvPr id="56" name="Text 53"/>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Research Design: Three-Pillar Framework</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sp>
        <p:nvSpPr>
          <p:cNvPr id="8" name="Shape 6"/>
          <p:cNvSpPr/>
          <p:nvPr/>
        </p:nvSpPr>
        <p:spPr>
          <a:xfrm>
            <a:off x="256032" y="1097280"/>
            <a:ext cx="3840480" cy="2377440"/>
          </a:xfrm>
          <a:prstGeom prst="roundRect">
            <a:avLst>
              <a:gd name="adj" fmla="val 4615"/>
            </a:avLst>
          </a:prstGeom>
          <a:solidFill>
            <a:srgbClr val="ECEFF1"/>
          </a:solidFill>
          <a:ln w="12700">
            <a:solidFill>
              <a:srgbClr val="1565C0"/>
            </a:solidFill>
            <a:prstDash val="solid"/>
          </a:ln>
        </p:spPr>
        <p:txBody>
          <a:bodyPr/>
          <a:lstStyle/>
          <a:p>
            <a:endParaRPr lang="en-US"/>
          </a:p>
        </p:txBody>
      </p:sp>
      <p:sp>
        <p:nvSpPr>
          <p:cNvPr id="9" name="Shape 7"/>
          <p:cNvSpPr/>
          <p:nvPr/>
        </p:nvSpPr>
        <p:spPr>
          <a:xfrm>
            <a:off x="256032" y="1097280"/>
            <a:ext cx="3840480" cy="420624"/>
          </a:xfrm>
          <a:prstGeom prst="rect">
            <a:avLst/>
          </a:prstGeom>
          <a:solidFill>
            <a:srgbClr val="1565C0"/>
          </a:solidFill>
          <a:ln w="12700">
            <a:solidFill>
              <a:srgbClr val="1565C0"/>
            </a:solidFill>
            <a:prstDash val="solid"/>
          </a:ln>
        </p:spPr>
        <p:txBody>
          <a:bodyPr/>
          <a:lstStyle/>
          <a:p>
            <a:endParaRPr lang="en-US"/>
          </a:p>
        </p:txBody>
      </p:sp>
      <p:sp>
        <p:nvSpPr>
          <p:cNvPr id="10" name="Text 8"/>
          <p:cNvSpPr/>
          <p:nvPr/>
        </p:nvSpPr>
        <p:spPr>
          <a:xfrm>
            <a:off x="347472" y="1143000"/>
            <a:ext cx="3657600" cy="32918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Pillar 1</a:t>
            </a:r>
            <a:endParaRPr lang="en-US" sz="1200" dirty="0"/>
          </a:p>
        </p:txBody>
      </p:sp>
      <p:sp>
        <p:nvSpPr>
          <p:cNvPr id="11" name="Text 9"/>
          <p:cNvSpPr/>
          <p:nvPr/>
        </p:nvSpPr>
        <p:spPr>
          <a:xfrm>
            <a:off x="365760" y="1572768"/>
            <a:ext cx="3621024" cy="566928"/>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Dynamic Cross-Modal</a:t>
            </a:r>
            <a:endParaRPr lang="en-US" sz="1300" dirty="0"/>
          </a:p>
          <a:p>
            <a:pPr marL="0" indent="0">
              <a:buNone/>
            </a:pPr>
            <a:r>
              <a:rPr lang="en-US" sz="1300" b="1" dirty="0">
                <a:solidFill>
                  <a:srgbClr val="1565C0"/>
                </a:solidFill>
                <a:latin typeface="Calibri" pitchFamily="34" charset="0"/>
                <a:ea typeface="Calibri" pitchFamily="34" charset="-122"/>
                <a:cs typeface="Calibri" pitchFamily="34" charset="-120"/>
              </a:rPr>
              <a:t>Feature Integration</a:t>
            </a:r>
            <a:endParaRPr lang="en-US" sz="1300" dirty="0"/>
          </a:p>
        </p:txBody>
      </p:sp>
      <p:sp>
        <p:nvSpPr>
          <p:cNvPr id="12" name="Text 10"/>
          <p:cNvSpPr/>
          <p:nvPr/>
        </p:nvSpPr>
        <p:spPr>
          <a:xfrm>
            <a:off x="365760" y="2157984"/>
            <a:ext cx="3621024" cy="1243584"/>
          </a:xfrm>
          <a:prstGeom prst="rect">
            <a:avLst/>
          </a:prstGeom>
          <a:noFill/>
          <a:ln/>
        </p:spPr>
        <p:txBody>
          <a:bodyPr wrap="square" rtlCol="0" anchor="t"/>
          <a:lstStyle/>
          <a:p>
            <a:pPr marL="0" indent="0">
              <a:buNone/>
            </a:pPr>
            <a:r>
              <a:rPr lang="en-US" sz="1100" dirty="0">
                <a:solidFill>
                  <a:srgbClr val="1C2833"/>
                </a:solidFill>
                <a:latin typeface="Calibri" pitchFamily="34" charset="0"/>
                <a:ea typeface="Calibri" pitchFamily="34" charset="-122"/>
                <a:cs typeface="Calibri" pitchFamily="34" charset="-120"/>
              </a:rPr>
              <a:t>H-GAT drug encoder</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BiGRU protein encoder</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Gated Cross-Attention Fusion</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Objective 1</a:t>
            </a:r>
            <a:endParaRPr lang="en-US" sz="1100" dirty="0"/>
          </a:p>
        </p:txBody>
      </p:sp>
      <p:sp>
        <p:nvSpPr>
          <p:cNvPr id="13" name="Shape 11"/>
          <p:cNvSpPr/>
          <p:nvPr/>
        </p:nvSpPr>
        <p:spPr>
          <a:xfrm>
            <a:off x="4242816" y="1097280"/>
            <a:ext cx="3840480" cy="2377440"/>
          </a:xfrm>
          <a:prstGeom prst="roundRect">
            <a:avLst>
              <a:gd name="adj" fmla="val 4615"/>
            </a:avLst>
          </a:prstGeom>
          <a:solidFill>
            <a:srgbClr val="ECEFF1"/>
          </a:solidFill>
          <a:ln w="12700">
            <a:solidFill>
              <a:srgbClr val="1B5E20"/>
            </a:solidFill>
            <a:prstDash val="solid"/>
          </a:ln>
        </p:spPr>
        <p:txBody>
          <a:bodyPr/>
          <a:lstStyle/>
          <a:p>
            <a:endParaRPr lang="en-US"/>
          </a:p>
        </p:txBody>
      </p:sp>
      <p:sp>
        <p:nvSpPr>
          <p:cNvPr id="14" name="Shape 12"/>
          <p:cNvSpPr/>
          <p:nvPr/>
        </p:nvSpPr>
        <p:spPr>
          <a:xfrm>
            <a:off x="4242816" y="1097280"/>
            <a:ext cx="3840480" cy="420624"/>
          </a:xfrm>
          <a:prstGeom prst="rect">
            <a:avLst/>
          </a:prstGeom>
          <a:solidFill>
            <a:srgbClr val="1B5E20"/>
          </a:solidFill>
          <a:ln w="12700">
            <a:solidFill>
              <a:srgbClr val="1B5E20"/>
            </a:solidFill>
            <a:prstDash val="solid"/>
          </a:ln>
        </p:spPr>
        <p:txBody>
          <a:bodyPr/>
          <a:lstStyle/>
          <a:p>
            <a:endParaRPr lang="en-US"/>
          </a:p>
        </p:txBody>
      </p:sp>
      <p:sp>
        <p:nvSpPr>
          <p:cNvPr id="15" name="Text 13"/>
          <p:cNvSpPr/>
          <p:nvPr/>
        </p:nvSpPr>
        <p:spPr>
          <a:xfrm>
            <a:off x="4334256" y="1143000"/>
            <a:ext cx="3657600" cy="32918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Pillar 2</a:t>
            </a:r>
            <a:endParaRPr lang="en-US" sz="1200" dirty="0"/>
          </a:p>
        </p:txBody>
      </p:sp>
      <p:sp>
        <p:nvSpPr>
          <p:cNvPr id="16" name="Text 14"/>
          <p:cNvSpPr/>
          <p:nvPr/>
        </p:nvSpPr>
        <p:spPr>
          <a:xfrm>
            <a:off x="4352544" y="1572768"/>
            <a:ext cx="3621024" cy="566928"/>
          </a:xfrm>
          <a:prstGeom prst="rect">
            <a:avLst/>
          </a:prstGeom>
          <a:noFill/>
          <a:ln/>
        </p:spPr>
        <p:txBody>
          <a:bodyPr wrap="square" rtlCol="0" anchor="ctr"/>
          <a:lstStyle/>
          <a:p>
            <a:pPr marL="0" indent="0">
              <a:buNone/>
            </a:pPr>
            <a:r>
              <a:rPr lang="en-US" sz="1300" b="1" dirty="0">
                <a:solidFill>
                  <a:srgbClr val="1B5E20"/>
                </a:solidFill>
                <a:latin typeface="Calibri" pitchFamily="34" charset="0"/>
                <a:ea typeface="Calibri" pitchFamily="34" charset="-122"/>
                <a:cs typeface="Calibri" pitchFamily="34" charset="-120"/>
              </a:rPr>
              <a:t>Robust Representation</a:t>
            </a:r>
            <a:endParaRPr lang="en-US" sz="1300" dirty="0"/>
          </a:p>
          <a:p>
            <a:pPr marL="0" indent="0">
              <a:buNone/>
            </a:pPr>
            <a:r>
              <a:rPr lang="en-US" sz="1300" b="1" dirty="0">
                <a:solidFill>
                  <a:srgbClr val="1B5E20"/>
                </a:solidFill>
                <a:latin typeface="Calibri" pitchFamily="34" charset="0"/>
                <a:ea typeface="Calibri" pitchFamily="34" charset="-122"/>
                <a:cs typeface="Calibri" pitchFamily="34" charset="-120"/>
              </a:rPr>
              <a:t>Learning &amp; Pretraining</a:t>
            </a:r>
            <a:endParaRPr lang="en-US" sz="1300" dirty="0"/>
          </a:p>
        </p:txBody>
      </p:sp>
      <p:sp>
        <p:nvSpPr>
          <p:cNvPr id="17" name="Text 15"/>
          <p:cNvSpPr/>
          <p:nvPr/>
        </p:nvSpPr>
        <p:spPr>
          <a:xfrm>
            <a:off x="4352544" y="2157984"/>
            <a:ext cx="3621024" cy="1243584"/>
          </a:xfrm>
          <a:prstGeom prst="rect">
            <a:avLst/>
          </a:prstGeom>
          <a:noFill/>
          <a:ln/>
        </p:spPr>
        <p:txBody>
          <a:bodyPr wrap="square" rtlCol="0" anchor="t"/>
          <a:lstStyle/>
          <a:p>
            <a:pPr marL="0" indent="0">
              <a:buNone/>
            </a:pPr>
            <a:r>
              <a:rPr lang="en-US" sz="1100" dirty="0">
                <a:solidFill>
                  <a:srgbClr val="1C2833"/>
                </a:solidFill>
                <a:latin typeface="Calibri" pitchFamily="34" charset="0"/>
                <a:ea typeface="Calibri" pitchFamily="34" charset="-122"/>
                <a:cs typeface="Calibri" pitchFamily="34" charset="-120"/>
              </a:rPr>
              <a:t>ChemBERTa + ESM-2 init</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Focal loss + Weighted BCE</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Self-supervised pretraining</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Objective 2</a:t>
            </a:r>
            <a:endParaRPr lang="en-US" sz="1100" dirty="0"/>
          </a:p>
        </p:txBody>
      </p:sp>
      <p:sp>
        <p:nvSpPr>
          <p:cNvPr id="18" name="Shape 16"/>
          <p:cNvSpPr/>
          <p:nvPr/>
        </p:nvSpPr>
        <p:spPr>
          <a:xfrm>
            <a:off x="8229600" y="1097280"/>
            <a:ext cx="3840480" cy="2377440"/>
          </a:xfrm>
          <a:prstGeom prst="roundRect">
            <a:avLst>
              <a:gd name="adj" fmla="val 4615"/>
            </a:avLst>
          </a:prstGeom>
          <a:solidFill>
            <a:srgbClr val="ECEFF1"/>
          </a:solidFill>
          <a:ln w="12700">
            <a:solidFill>
              <a:srgbClr val="4A148C"/>
            </a:solidFill>
            <a:prstDash val="solid"/>
          </a:ln>
        </p:spPr>
        <p:txBody>
          <a:bodyPr/>
          <a:lstStyle/>
          <a:p>
            <a:endParaRPr lang="en-US"/>
          </a:p>
        </p:txBody>
      </p:sp>
      <p:sp>
        <p:nvSpPr>
          <p:cNvPr id="19" name="Shape 17"/>
          <p:cNvSpPr/>
          <p:nvPr/>
        </p:nvSpPr>
        <p:spPr>
          <a:xfrm>
            <a:off x="8229600" y="1097280"/>
            <a:ext cx="3840480" cy="420624"/>
          </a:xfrm>
          <a:prstGeom prst="rect">
            <a:avLst/>
          </a:prstGeom>
          <a:solidFill>
            <a:srgbClr val="4A148C"/>
          </a:solidFill>
          <a:ln w="12700">
            <a:solidFill>
              <a:srgbClr val="4A148C"/>
            </a:solidFill>
            <a:prstDash val="solid"/>
          </a:ln>
        </p:spPr>
        <p:txBody>
          <a:bodyPr/>
          <a:lstStyle/>
          <a:p>
            <a:endParaRPr lang="en-US"/>
          </a:p>
        </p:txBody>
      </p:sp>
      <p:sp>
        <p:nvSpPr>
          <p:cNvPr id="20" name="Text 18"/>
          <p:cNvSpPr/>
          <p:nvPr/>
        </p:nvSpPr>
        <p:spPr>
          <a:xfrm>
            <a:off x="8321040" y="1143000"/>
            <a:ext cx="3657600" cy="32918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Pillar 3</a:t>
            </a:r>
            <a:endParaRPr lang="en-US" sz="1200" dirty="0"/>
          </a:p>
        </p:txBody>
      </p:sp>
      <p:sp>
        <p:nvSpPr>
          <p:cNvPr id="21" name="Text 19"/>
          <p:cNvSpPr/>
          <p:nvPr/>
        </p:nvSpPr>
        <p:spPr>
          <a:xfrm>
            <a:off x="8339328" y="1572768"/>
            <a:ext cx="3621024" cy="566928"/>
          </a:xfrm>
          <a:prstGeom prst="rect">
            <a:avLst/>
          </a:prstGeom>
          <a:noFill/>
          <a:ln/>
        </p:spPr>
        <p:txBody>
          <a:bodyPr wrap="square" rtlCol="0" anchor="ctr"/>
          <a:lstStyle/>
          <a:p>
            <a:pPr marL="0" indent="0">
              <a:buNone/>
            </a:pPr>
            <a:r>
              <a:rPr lang="en-US" sz="1300" b="1" dirty="0">
                <a:solidFill>
                  <a:srgbClr val="4A148C"/>
                </a:solidFill>
                <a:latin typeface="Calibri" pitchFamily="34" charset="0"/>
                <a:ea typeface="Calibri" pitchFamily="34" charset="-122"/>
                <a:cs typeface="Calibri" pitchFamily="34" charset="-120"/>
              </a:rPr>
              <a:t>Attention-Based</a:t>
            </a:r>
            <a:endParaRPr lang="en-US" sz="1300" dirty="0"/>
          </a:p>
          <a:p>
            <a:pPr marL="0" indent="0">
              <a:buNone/>
            </a:pPr>
            <a:r>
              <a:rPr lang="en-US" sz="1300" b="1" dirty="0">
                <a:solidFill>
                  <a:srgbClr val="4A148C"/>
                </a:solidFill>
                <a:latin typeface="Calibri" pitchFamily="34" charset="0"/>
                <a:ea typeface="Calibri" pitchFamily="34" charset="-122"/>
                <a:cs typeface="Calibri" pitchFamily="34" charset="-120"/>
              </a:rPr>
              <a:t>Interpretability</a:t>
            </a:r>
            <a:endParaRPr lang="en-US" sz="1300" dirty="0"/>
          </a:p>
        </p:txBody>
      </p:sp>
      <p:sp>
        <p:nvSpPr>
          <p:cNvPr id="22" name="Text 20"/>
          <p:cNvSpPr/>
          <p:nvPr/>
        </p:nvSpPr>
        <p:spPr>
          <a:xfrm>
            <a:off x="8339328" y="2157984"/>
            <a:ext cx="3621024" cy="1243584"/>
          </a:xfrm>
          <a:prstGeom prst="rect">
            <a:avLst/>
          </a:prstGeom>
          <a:noFill/>
          <a:ln/>
        </p:spPr>
        <p:txBody>
          <a:bodyPr wrap="square" rtlCol="0" anchor="t"/>
          <a:lstStyle/>
          <a:p>
            <a:pPr marL="0" indent="0">
              <a:buNone/>
            </a:pPr>
            <a:r>
              <a:rPr lang="en-US" sz="1100" dirty="0">
                <a:solidFill>
                  <a:srgbClr val="1C2833"/>
                </a:solidFill>
                <a:latin typeface="Calibri" pitchFamily="34" charset="0"/>
                <a:ea typeface="Calibri" pitchFamily="34" charset="-122"/>
                <a:cs typeface="Calibri" pitchFamily="34" charset="-120"/>
              </a:rPr>
              <a:t>Cross-attention heatmaps</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Grad-CAM subgraphs</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Biological case studies</a:t>
            </a:r>
            <a:endParaRPr lang="en-US" sz="1100" dirty="0"/>
          </a:p>
          <a:p>
            <a:pPr marL="0" indent="0">
              <a:buNone/>
            </a:pPr>
            <a:r>
              <a:rPr lang="en-US" sz="1100" dirty="0">
                <a:solidFill>
                  <a:srgbClr val="1C2833"/>
                </a:solidFill>
                <a:latin typeface="Calibri" pitchFamily="34" charset="0"/>
                <a:ea typeface="Calibri" pitchFamily="34" charset="-122"/>
                <a:cs typeface="Calibri" pitchFamily="34" charset="-120"/>
              </a:rPr>
              <a:t>→ Objective 3</a:t>
            </a:r>
            <a:endParaRPr lang="en-US" sz="1100" dirty="0"/>
          </a:p>
        </p:txBody>
      </p:sp>
      <p:sp>
        <p:nvSpPr>
          <p:cNvPr id="23" name="Text 21"/>
          <p:cNvSpPr/>
          <p:nvPr/>
        </p:nvSpPr>
        <p:spPr>
          <a:xfrm>
            <a:off x="256032" y="3611880"/>
            <a:ext cx="4572000" cy="274320"/>
          </a:xfrm>
          <a:prstGeom prst="rect">
            <a:avLst/>
          </a:prstGeom>
          <a:noFill/>
          <a:ln/>
        </p:spPr>
        <p:txBody>
          <a:bodyPr wrap="square" rtlCol="0" anchor="ctr"/>
          <a:lstStyle/>
          <a:p>
            <a:pPr marL="0" indent="0">
              <a:buNone/>
            </a:pPr>
            <a:r>
              <a:rPr lang="en-US" sz="1200" b="1" dirty="0">
                <a:solidFill>
                  <a:srgbClr val="1A3A6E"/>
                </a:solidFill>
                <a:latin typeface="Calibri" pitchFamily="34" charset="0"/>
                <a:ea typeface="Calibri" pitchFamily="34" charset="-122"/>
                <a:cs typeface="Calibri" pitchFamily="34" charset="-120"/>
              </a:rPr>
              <a:t>Research Pipeline:</a:t>
            </a:r>
            <a:endParaRPr lang="en-US" sz="1200" dirty="0"/>
          </a:p>
        </p:txBody>
      </p:sp>
      <p:sp>
        <p:nvSpPr>
          <p:cNvPr id="24" name="Shape 22"/>
          <p:cNvSpPr/>
          <p:nvPr/>
        </p:nvSpPr>
        <p:spPr>
          <a:xfrm>
            <a:off x="256032" y="3913632"/>
            <a:ext cx="1874520" cy="1481328"/>
          </a:xfrm>
          <a:prstGeom prst="roundRect">
            <a:avLst>
              <a:gd name="adj" fmla="val 4938"/>
            </a:avLst>
          </a:prstGeom>
          <a:solidFill>
            <a:srgbClr val="ECEFF1"/>
          </a:solidFill>
          <a:ln w="12700">
            <a:solidFill>
              <a:srgbClr val="1565C0"/>
            </a:solidFill>
            <a:prstDash val="solid"/>
          </a:ln>
        </p:spPr>
        <p:txBody>
          <a:bodyPr/>
          <a:lstStyle/>
          <a:p>
            <a:endParaRPr lang="en-US"/>
          </a:p>
        </p:txBody>
      </p:sp>
      <p:sp>
        <p:nvSpPr>
          <p:cNvPr id="25" name="Shape 23"/>
          <p:cNvSpPr/>
          <p:nvPr/>
        </p:nvSpPr>
        <p:spPr>
          <a:xfrm>
            <a:off x="256032" y="3913632"/>
            <a:ext cx="1874520" cy="310896"/>
          </a:xfrm>
          <a:prstGeom prst="rect">
            <a:avLst/>
          </a:prstGeom>
          <a:solidFill>
            <a:srgbClr val="1565C0"/>
          </a:solidFill>
          <a:ln w="12700">
            <a:solidFill>
              <a:srgbClr val="1565C0"/>
            </a:solidFill>
            <a:prstDash val="solid"/>
          </a:ln>
        </p:spPr>
        <p:txBody>
          <a:bodyPr/>
          <a:lstStyle/>
          <a:p>
            <a:endParaRPr lang="en-US"/>
          </a:p>
        </p:txBody>
      </p:sp>
      <p:sp>
        <p:nvSpPr>
          <p:cNvPr id="26" name="Text 24"/>
          <p:cNvSpPr/>
          <p:nvPr/>
        </p:nvSpPr>
        <p:spPr>
          <a:xfrm>
            <a:off x="292608" y="3931920"/>
            <a:ext cx="2560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7" name="Text 25"/>
          <p:cNvSpPr/>
          <p:nvPr/>
        </p:nvSpPr>
        <p:spPr>
          <a:xfrm>
            <a:off x="566928" y="3931920"/>
            <a:ext cx="153619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Collection</a:t>
            </a:r>
            <a:endParaRPr lang="en-US" sz="1100" dirty="0"/>
          </a:p>
        </p:txBody>
      </p:sp>
      <p:sp>
        <p:nvSpPr>
          <p:cNvPr id="28" name="Text 26"/>
          <p:cNvSpPr/>
          <p:nvPr/>
        </p:nvSpPr>
        <p:spPr>
          <a:xfrm>
            <a:off x="347472" y="4279392"/>
            <a:ext cx="1700784" cy="1042416"/>
          </a:xfrm>
          <a:prstGeom prst="rect">
            <a:avLst/>
          </a:prstGeom>
          <a:noFill/>
          <a:ln/>
        </p:spPr>
        <p:txBody>
          <a:bodyPr wrap="square" rtlCol="0" anchor="t"/>
          <a:lstStyle/>
          <a:p>
            <a:pPr marL="0" indent="0">
              <a:buNone/>
            </a:pPr>
            <a:r>
              <a:rPr lang="en-US" sz="1000" dirty="0">
                <a:solidFill>
                  <a:srgbClr val="1C2833"/>
                </a:solidFill>
                <a:latin typeface="Calibri" pitchFamily="34" charset="0"/>
                <a:ea typeface="Calibri" pitchFamily="34" charset="-122"/>
                <a:cs typeface="Calibri" pitchFamily="34" charset="-120"/>
              </a:rPr>
              <a:t>7 public DTI/DTA</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benchmark datasets</a:t>
            </a:r>
            <a:endParaRPr lang="en-US" sz="1000" dirty="0"/>
          </a:p>
        </p:txBody>
      </p:sp>
      <p:sp>
        <p:nvSpPr>
          <p:cNvPr id="29" name="Text 27"/>
          <p:cNvSpPr/>
          <p:nvPr/>
        </p:nvSpPr>
        <p:spPr>
          <a:xfrm>
            <a:off x="2139696" y="4462272"/>
            <a:ext cx="100584" cy="384048"/>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2249424" y="3913632"/>
            <a:ext cx="1874520" cy="1481328"/>
          </a:xfrm>
          <a:prstGeom prst="roundRect">
            <a:avLst>
              <a:gd name="adj" fmla="val 4938"/>
            </a:avLst>
          </a:prstGeom>
          <a:solidFill>
            <a:srgbClr val="ECEFF1"/>
          </a:solidFill>
          <a:ln w="12700">
            <a:solidFill>
              <a:srgbClr val="00695C"/>
            </a:solidFill>
            <a:prstDash val="solid"/>
          </a:ln>
        </p:spPr>
        <p:txBody>
          <a:bodyPr/>
          <a:lstStyle/>
          <a:p>
            <a:endParaRPr lang="en-US"/>
          </a:p>
        </p:txBody>
      </p:sp>
      <p:sp>
        <p:nvSpPr>
          <p:cNvPr id="31" name="Shape 29"/>
          <p:cNvSpPr/>
          <p:nvPr/>
        </p:nvSpPr>
        <p:spPr>
          <a:xfrm>
            <a:off x="2249424" y="3913632"/>
            <a:ext cx="1874520" cy="310896"/>
          </a:xfrm>
          <a:prstGeom prst="rect">
            <a:avLst/>
          </a:prstGeom>
          <a:solidFill>
            <a:srgbClr val="00695C"/>
          </a:solidFill>
          <a:ln w="12700">
            <a:solidFill>
              <a:srgbClr val="00695C"/>
            </a:solidFill>
            <a:prstDash val="solid"/>
          </a:ln>
        </p:spPr>
        <p:txBody>
          <a:bodyPr/>
          <a:lstStyle/>
          <a:p>
            <a:endParaRPr lang="en-US"/>
          </a:p>
        </p:txBody>
      </p:sp>
      <p:sp>
        <p:nvSpPr>
          <p:cNvPr id="32" name="Text 30"/>
          <p:cNvSpPr/>
          <p:nvPr/>
        </p:nvSpPr>
        <p:spPr>
          <a:xfrm>
            <a:off x="2286000" y="3931920"/>
            <a:ext cx="2560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2560320" y="3931920"/>
            <a:ext cx="153619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Preprocessing</a:t>
            </a:r>
            <a:endParaRPr lang="en-US" sz="1100" dirty="0"/>
          </a:p>
        </p:txBody>
      </p:sp>
      <p:sp>
        <p:nvSpPr>
          <p:cNvPr id="34" name="Text 32"/>
          <p:cNvSpPr/>
          <p:nvPr/>
        </p:nvSpPr>
        <p:spPr>
          <a:xfrm>
            <a:off x="2340864" y="4279392"/>
            <a:ext cx="1700784" cy="1042416"/>
          </a:xfrm>
          <a:prstGeom prst="rect">
            <a:avLst/>
          </a:prstGeom>
          <a:noFill/>
          <a:ln/>
        </p:spPr>
        <p:txBody>
          <a:bodyPr wrap="square" rtlCol="0" anchor="t"/>
          <a:lstStyle/>
          <a:p>
            <a:pPr marL="0" indent="0">
              <a:buNone/>
            </a:pPr>
            <a:r>
              <a:rPr lang="en-US" sz="1000" dirty="0">
                <a:solidFill>
                  <a:srgbClr val="1C2833"/>
                </a:solidFill>
                <a:latin typeface="Calibri" pitchFamily="34" charset="0"/>
                <a:ea typeface="Calibri" pitchFamily="34" charset="-122"/>
                <a:cs typeface="Calibri" pitchFamily="34" charset="-120"/>
              </a:rPr>
              <a:t>SMILES→Graph</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FASTA→ESM-2</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Neg. sampling</a:t>
            </a:r>
            <a:endParaRPr lang="en-US" sz="1000" dirty="0"/>
          </a:p>
        </p:txBody>
      </p:sp>
      <p:sp>
        <p:nvSpPr>
          <p:cNvPr id="35" name="Text 33"/>
          <p:cNvSpPr/>
          <p:nvPr/>
        </p:nvSpPr>
        <p:spPr>
          <a:xfrm>
            <a:off x="4133088" y="4462272"/>
            <a:ext cx="100584" cy="384048"/>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4242816" y="3913632"/>
            <a:ext cx="1874520" cy="1481328"/>
          </a:xfrm>
          <a:prstGeom prst="roundRect">
            <a:avLst>
              <a:gd name="adj" fmla="val 4938"/>
            </a:avLst>
          </a:prstGeom>
          <a:solidFill>
            <a:srgbClr val="ECEFF1"/>
          </a:solidFill>
          <a:ln w="12700">
            <a:solidFill>
              <a:srgbClr val="4A148C"/>
            </a:solidFill>
            <a:prstDash val="solid"/>
          </a:ln>
        </p:spPr>
        <p:txBody>
          <a:bodyPr/>
          <a:lstStyle/>
          <a:p>
            <a:endParaRPr lang="en-US"/>
          </a:p>
        </p:txBody>
      </p:sp>
      <p:sp>
        <p:nvSpPr>
          <p:cNvPr id="37" name="Shape 35"/>
          <p:cNvSpPr/>
          <p:nvPr/>
        </p:nvSpPr>
        <p:spPr>
          <a:xfrm>
            <a:off x="4242816" y="3913632"/>
            <a:ext cx="1874520" cy="310896"/>
          </a:xfrm>
          <a:prstGeom prst="rect">
            <a:avLst/>
          </a:prstGeom>
          <a:solidFill>
            <a:srgbClr val="4A148C"/>
          </a:solidFill>
          <a:ln w="12700">
            <a:solidFill>
              <a:srgbClr val="4A148C"/>
            </a:solidFill>
            <a:prstDash val="solid"/>
          </a:ln>
        </p:spPr>
        <p:txBody>
          <a:bodyPr/>
          <a:lstStyle/>
          <a:p>
            <a:endParaRPr lang="en-US"/>
          </a:p>
        </p:txBody>
      </p:sp>
      <p:sp>
        <p:nvSpPr>
          <p:cNvPr id="38" name="Text 36"/>
          <p:cNvSpPr/>
          <p:nvPr/>
        </p:nvSpPr>
        <p:spPr>
          <a:xfrm>
            <a:off x="4279392" y="3931920"/>
            <a:ext cx="2560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9" name="Text 37"/>
          <p:cNvSpPr/>
          <p:nvPr/>
        </p:nvSpPr>
        <p:spPr>
          <a:xfrm>
            <a:off x="4553712" y="3931920"/>
            <a:ext cx="153619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Model Design</a:t>
            </a:r>
            <a:endParaRPr lang="en-US" sz="1100" dirty="0"/>
          </a:p>
        </p:txBody>
      </p:sp>
      <p:sp>
        <p:nvSpPr>
          <p:cNvPr id="40" name="Text 38"/>
          <p:cNvSpPr/>
          <p:nvPr/>
        </p:nvSpPr>
        <p:spPr>
          <a:xfrm>
            <a:off x="4334256" y="4279392"/>
            <a:ext cx="1700784" cy="1042416"/>
          </a:xfrm>
          <a:prstGeom prst="rect">
            <a:avLst/>
          </a:prstGeom>
          <a:noFill/>
          <a:ln/>
        </p:spPr>
        <p:txBody>
          <a:bodyPr wrap="square" rtlCol="0" anchor="t"/>
          <a:lstStyle/>
          <a:p>
            <a:pPr marL="0" indent="0">
              <a:buNone/>
            </a:pPr>
            <a:r>
              <a:rPr lang="en-US" sz="1000" dirty="0">
                <a:solidFill>
                  <a:srgbClr val="1C2833"/>
                </a:solidFill>
                <a:latin typeface="Calibri" pitchFamily="34" charset="0"/>
                <a:ea typeface="Calibri" pitchFamily="34" charset="-122"/>
                <a:cs typeface="Calibri" pitchFamily="34" charset="-120"/>
              </a:rPr>
              <a:t>H-GNN-RNN-DTI</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architecture</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implementation</a:t>
            </a:r>
            <a:endParaRPr lang="en-US" sz="1000" dirty="0"/>
          </a:p>
        </p:txBody>
      </p:sp>
      <p:sp>
        <p:nvSpPr>
          <p:cNvPr id="41" name="Text 39"/>
          <p:cNvSpPr/>
          <p:nvPr/>
        </p:nvSpPr>
        <p:spPr>
          <a:xfrm>
            <a:off x="6126480" y="4462272"/>
            <a:ext cx="100584" cy="384048"/>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42" name="Shape 40"/>
          <p:cNvSpPr/>
          <p:nvPr/>
        </p:nvSpPr>
        <p:spPr>
          <a:xfrm>
            <a:off x="6236208" y="3913632"/>
            <a:ext cx="1874520" cy="1481328"/>
          </a:xfrm>
          <a:prstGeom prst="roundRect">
            <a:avLst>
              <a:gd name="adj" fmla="val 4938"/>
            </a:avLst>
          </a:prstGeom>
          <a:solidFill>
            <a:srgbClr val="ECEFF1"/>
          </a:solidFill>
          <a:ln w="12700">
            <a:solidFill>
              <a:srgbClr val="E65100"/>
            </a:solidFill>
            <a:prstDash val="solid"/>
          </a:ln>
        </p:spPr>
        <p:txBody>
          <a:bodyPr/>
          <a:lstStyle/>
          <a:p>
            <a:endParaRPr lang="en-US"/>
          </a:p>
        </p:txBody>
      </p:sp>
      <p:sp>
        <p:nvSpPr>
          <p:cNvPr id="43" name="Shape 41"/>
          <p:cNvSpPr/>
          <p:nvPr/>
        </p:nvSpPr>
        <p:spPr>
          <a:xfrm>
            <a:off x="6236208" y="3913632"/>
            <a:ext cx="1874520" cy="310896"/>
          </a:xfrm>
          <a:prstGeom prst="rect">
            <a:avLst/>
          </a:prstGeom>
          <a:solidFill>
            <a:srgbClr val="E65100"/>
          </a:solidFill>
          <a:ln w="12700">
            <a:solidFill>
              <a:srgbClr val="E65100"/>
            </a:solidFill>
            <a:prstDash val="solid"/>
          </a:ln>
        </p:spPr>
        <p:txBody>
          <a:bodyPr/>
          <a:lstStyle/>
          <a:p>
            <a:endParaRPr lang="en-US"/>
          </a:p>
        </p:txBody>
      </p:sp>
      <p:sp>
        <p:nvSpPr>
          <p:cNvPr id="44" name="Text 42"/>
          <p:cNvSpPr/>
          <p:nvPr/>
        </p:nvSpPr>
        <p:spPr>
          <a:xfrm>
            <a:off x="6272784" y="3931920"/>
            <a:ext cx="2560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Text 43"/>
          <p:cNvSpPr/>
          <p:nvPr/>
        </p:nvSpPr>
        <p:spPr>
          <a:xfrm>
            <a:off x="6547104" y="3931920"/>
            <a:ext cx="153619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Training</a:t>
            </a:r>
            <a:endParaRPr lang="en-US" sz="1100" dirty="0"/>
          </a:p>
        </p:txBody>
      </p:sp>
      <p:sp>
        <p:nvSpPr>
          <p:cNvPr id="46" name="Text 44"/>
          <p:cNvSpPr/>
          <p:nvPr/>
        </p:nvSpPr>
        <p:spPr>
          <a:xfrm>
            <a:off x="6327648" y="4279392"/>
            <a:ext cx="1700784" cy="1042416"/>
          </a:xfrm>
          <a:prstGeom prst="rect">
            <a:avLst/>
          </a:prstGeom>
          <a:noFill/>
          <a:ln/>
        </p:spPr>
        <p:txBody>
          <a:bodyPr wrap="square" rtlCol="0" anchor="t"/>
          <a:lstStyle/>
          <a:p>
            <a:pPr marL="0" indent="0">
              <a:buNone/>
            </a:pPr>
            <a:r>
              <a:rPr lang="en-US" sz="1000" dirty="0">
                <a:solidFill>
                  <a:srgbClr val="1C2833"/>
                </a:solidFill>
                <a:latin typeface="Calibri" pitchFamily="34" charset="0"/>
                <a:ea typeface="Calibri" pitchFamily="34" charset="-122"/>
                <a:cs typeface="Calibri" pitchFamily="34" charset="-120"/>
              </a:rPr>
              <a:t>Focal loss</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Adam optimizer</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10-fold CV</a:t>
            </a:r>
            <a:endParaRPr lang="en-US" sz="1000" dirty="0"/>
          </a:p>
        </p:txBody>
      </p:sp>
      <p:sp>
        <p:nvSpPr>
          <p:cNvPr id="47" name="Text 45"/>
          <p:cNvSpPr/>
          <p:nvPr/>
        </p:nvSpPr>
        <p:spPr>
          <a:xfrm>
            <a:off x="8119872" y="4462272"/>
            <a:ext cx="100584" cy="384048"/>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48" name="Shape 46"/>
          <p:cNvSpPr/>
          <p:nvPr/>
        </p:nvSpPr>
        <p:spPr>
          <a:xfrm>
            <a:off x="8229600" y="3913632"/>
            <a:ext cx="1874520" cy="1481328"/>
          </a:xfrm>
          <a:prstGeom prst="roundRect">
            <a:avLst>
              <a:gd name="adj" fmla="val 4938"/>
            </a:avLst>
          </a:prstGeom>
          <a:solidFill>
            <a:srgbClr val="ECEFF1"/>
          </a:solidFill>
          <a:ln w="12700">
            <a:solidFill>
              <a:srgbClr val="1B5E20"/>
            </a:solidFill>
            <a:prstDash val="solid"/>
          </a:ln>
        </p:spPr>
        <p:txBody>
          <a:bodyPr/>
          <a:lstStyle/>
          <a:p>
            <a:endParaRPr lang="en-US"/>
          </a:p>
        </p:txBody>
      </p:sp>
      <p:sp>
        <p:nvSpPr>
          <p:cNvPr id="49" name="Shape 47"/>
          <p:cNvSpPr/>
          <p:nvPr/>
        </p:nvSpPr>
        <p:spPr>
          <a:xfrm>
            <a:off x="8229600" y="3913632"/>
            <a:ext cx="1874520" cy="310896"/>
          </a:xfrm>
          <a:prstGeom prst="rect">
            <a:avLst/>
          </a:prstGeom>
          <a:solidFill>
            <a:srgbClr val="1B5E20"/>
          </a:solidFill>
          <a:ln w="12700">
            <a:solidFill>
              <a:srgbClr val="1B5E20"/>
            </a:solidFill>
            <a:prstDash val="solid"/>
          </a:ln>
        </p:spPr>
        <p:txBody>
          <a:bodyPr/>
          <a:lstStyle/>
          <a:p>
            <a:endParaRPr lang="en-US"/>
          </a:p>
        </p:txBody>
      </p:sp>
      <p:sp>
        <p:nvSpPr>
          <p:cNvPr id="50" name="Text 48"/>
          <p:cNvSpPr/>
          <p:nvPr/>
        </p:nvSpPr>
        <p:spPr>
          <a:xfrm>
            <a:off x="8266176" y="3931920"/>
            <a:ext cx="2560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1" name="Text 49"/>
          <p:cNvSpPr/>
          <p:nvPr/>
        </p:nvSpPr>
        <p:spPr>
          <a:xfrm>
            <a:off x="8540496" y="3931920"/>
            <a:ext cx="153619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Evaluation</a:t>
            </a:r>
            <a:endParaRPr lang="en-US" sz="1100" dirty="0"/>
          </a:p>
        </p:txBody>
      </p:sp>
      <p:sp>
        <p:nvSpPr>
          <p:cNvPr id="52" name="Text 50"/>
          <p:cNvSpPr/>
          <p:nvPr/>
        </p:nvSpPr>
        <p:spPr>
          <a:xfrm>
            <a:off x="8321040" y="4279392"/>
            <a:ext cx="1700784" cy="1042416"/>
          </a:xfrm>
          <a:prstGeom prst="rect">
            <a:avLst/>
          </a:prstGeom>
          <a:noFill/>
          <a:ln/>
        </p:spPr>
        <p:txBody>
          <a:bodyPr wrap="square" rtlCol="0" anchor="t"/>
          <a:lstStyle/>
          <a:p>
            <a:pPr marL="0" indent="0">
              <a:buNone/>
            </a:pPr>
            <a:r>
              <a:rPr lang="en-US" sz="1000" dirty="0">
                <a:solidFill>
                  <a:srgbClr val="1C2833"/>
                </a:solidFill>
                <a:latin typeface="Calibri" pitchFamily="34" charset="0"/>
                <a:ea typeface="Calibri" pitchFamily="34" charset="-122"/>
                <a:cs typeface="Calibri" pitchFamily="34" charset="-120"/>
              </a:rPr>
              <a:t>AUC/AUPR/RMSE</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Cold-start S1/S2/S3</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Ablation studies</a:t>
            </a:r>
            <a:endParaRPr lang="en-US" sz="1000" dirty="0"/>
          </a:p>
        </p:txBody>
      </p:sp>
      <p:sp>
        <p:nvSpPr>
          <p:cNvPr id="53" name="Text 51"/>
          <p:cNvSpPr/>
          <p:nvPr/>
        </p:nvSpPr>
        <p:spPr>
          <a:xfrm>
            <a:off x="10113264" y="4462272"/>
            <a:ext cx="100584" cy="384048"/>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54" name="Shape 52"/>
          <p:cNvSpPr/>
          <p:nvPr/>
        </p:nvSpPr>
        <p:spPr>
          <a:xfrm>
            <a:off x="10222992" y="3913632"/>
            <a:ext cx="1874520" cy="1481328"/>
          </a:xfrm>
          <a:prstGeom prst="roundRect">
            <a:avLst>
              <a:gd name="adj" fmla="val 4938"/>
            </a:avLst>
          </a:prstGeom>
          <a:solidFill>
            <a:srgbClr val="ECEFF1"/>
          </a:solidFill>
          <a:ln w="12700">
            <a:solidFill>
              <a:srgbClr val="4A148C"/>
            </a:solidFill>
            <a:prstDash val="solid"/>
          </a:ln>
        </p:spPr>
        <p:txBody>
          <a:bodyPr/>
          <a:lstStyle/>
          <a:p>
            <a:endParaRPr lang="en-US"/>
          </a:p>
        </p:txBody>
      </p:sp>
      <p:sp>
        <p:nvSpPr>
          <p:cNvPr id="55" name="Shape 53"/>
          <p:cNvSpPr/>
          <p:nvPr/>
        </p:nvSpPr>
        <p:spPr>
          <a:xfrm>
            <a:off x="10222992" y="3913632"/>
            <a:ext cx="1874520" cy="310896"/>
          </a:xfrm>
          <a:prstGeom prst="rect">
            <a:avLst/>
          </a:prstGeom>
          <a:solidFill>
            <a:srgbClr val="4A148C"/>
          </a:solidFill>
          <a:ln w="12700">
            <a:solidFill>
              <a:srgbClr val="4A148C"/>
            </a:solidFill>
            <a:prstDash val="solid"/>
          </a:ln>
        </p:spPr>
        <p:txBody>
          <a:bodyPr/>
          <a:lstStyle/>
          <a:p>
            <a:endParaRPr lang="en-US"/>
          </a:p>
        </p:txBody>
      </p:sp>
      <p:sp>
        <p:nvSpPr>
          <p:cNvPr id="56" name="Text 54"/>
          <p:cNvSpPr/>
          <p:nvPr/>
        </p:nvSpPr>
        <p:spPr>
          <a:xfrm>
            <a:off x="10259568" y="3931920"/>
            <a:ext cx="2560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7" name="Text 55"/>
          <p:cNvSpPr/>
          <p:nvPr/>
        </p:nvSpPr>
        <p:spPr>
          <a:xfrm>
            <a:off x="10533888" y="3931920"/>
            <a:ext cx="153619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Interpretability</a:t>
            </a:r>
            <a:endParaRPr lang="en-US" sz="1100" dirty="0"/>
          </a:p>
        </p:txBody>
      </p:sp>
      <p:sp>
        <p:nvSpPr>
          <p:cNvPr id="58" name="Text 56"/>
          <p:cNvSpPr/>
          <p:nvPr/>
        </p:nvSpPr>
        <p:spPr>
          <a:xfrm>
            <a:off x="10314432" y="4279392"/>
            <a:ext cx="1700784" cy="1042416"/>
          </a:xfrm>
          <a:prstGeom prst="rect">
            <a:avLst/>
          </a:prstGeom>
          <a:noFill/>
          <a:ln/>
        </p:spPr>
        <p:txBody>
          <a:bodyPr wrap="square" rtlCol="0" anchor="t"/>
          <a:lstStyle/>
          <a:p>
            <a:pPr marL="0" indent="0">
              <a:buNone/>
            </a:pPr>
            <a:r>
              <a:rPr lang="en-US" sz="1000" dirty="0">
                <a:solidFill>
                  <a:srgbClr val="1C2833"/>
                </a:solidFill>
                <a:latin typeface="Calibri" pitchFamily="34" charset="0"/>
                <a:ea typeface="Calibri" pitchFamily="34" charset="-122"/>
                <a:cs typeface="Calibri" pitchFamily="34" charset="-120"/>
              </a:rPr>
              <a:t>Attention maps</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Grad-CAM</a:t>
            </a:r>
            <a:endParaRPr lang="en-US" sz="1000" dirty="0"/>
          </a:p>
          <a:p>
            <a:pPr marL="0" indent="0">
              <a:buNone/>
            </a:pPr>
            <a:r>
              <a:rPr lang="en-US" sz="1000" dirty="0">
                <a:solidFill>
                  <a:srgbClr val="1C2833"/>
                </a:solidFill>
                <a:latin typeface="Calibri" pitchFamily="34" charset="0"/>
                <a:ea typeface="Calibri" pitchFamily="34" charset="-122"/>
                <a:cs typeface="Calibri" pitchFamily="34" charset="-120"/>
              </a:rPr>
              <a:t>Case studies</a:t>
            </a:r>
            <a:endParaRPr lang="en-US" sz="1000" dirty="0"/>
          </a:p>
        </p:txBody>
      </p:sp>
      <p:sp>
        <p:nvSpPr>
          <p:cNvPr id="59" name="Text 57"/>
          <p:cNvSpPr/>
          <p:nvPr/>
        </p:nvSpPr>
        <p:spPr>
          <a:xfrm>
            <a:off x="256032" y="6117336"/>
            <a:ext cx="11658600" cy="429768"/>
          </a:xfrm>
          <a:prstGeom prst="rect">
            <a:avLst/>
          </a:prstGeom>
          <a:noFill/>
          <a:ln/>
        </p:spPr>
        <p:txBody>
          <a:bodyPr wrap="square" rtlCol="0" anchor="ctr"/>
          <a:lstStyle/>
          <a:p>
            <a:pPr marL="0" indent="0">
              <a:buNone/>
            </a:pPr>
            <a:r>
              <a:rPr lang="en-US" sz="1000" i="1" dirty="0">
                <a:solidFill>
                  <a:srgbClr val="546E7A"/>
                </a:solidFill>
                <a:latin typeface="Calibri" pitchFamily="34" charset="0"/>
                <a:ea typeface="Calibri" pitchFamily="34" charset="-122"/>
                <a:cs typeface="Calibri" pitchFamily="34" charset="-120"/>
              </a:rPr>
              <a:t>Implementation: Python 3.10 | PyTorch 2.0+ | PyTorch Geometric | RDKit | HuggingFace Transformers (ESM-2) | Optuna | NVIDIA A100 GPU</a:t>
            </a:r>
            <a:endParaRPr lang="en-US" sz="1000" dirty="0"/>
          </a:p>
        </p:txBody>
      </p:sp>
      <p:sp>
        <p:nvSpPr>
          <p:cNvPr id="61" name="Text 58"/>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Data Collection: Benchmark Datasets</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sp>
        <p:nvSpPr>
          <p:cNvPr id="8" name="Shape 6"/>
          <p:cNvSpPr/>
          <p:nvPr/>
        </p:nvSpPr>
        <p:spPr>
          <a:xfrm>
            <a:off x="256032" y="1078992"/>
            <a:ext cx="1463040" cy="347472"/>
          </a:xfrm>
          <a:prstGeom prst="rect">
            <a:avLst/>
          </a:prstGeom>
          <a:solidFill>
            <a:srgbClr val="1A3A6E"/>
          </a:solidFill>
          <a:ln w="12700">
            <a:solidFill>
              <a:srgbClr val="1A3A6E"/>
            </a:solidFill>
            <a:prstDash val="solid"/>
          </a:ln>
        </p:spPr>
        <p:txBody>
          <a:bodyPr/>
          <a:lstStyle/>
          <a:p>
            <a:endParaRPr lang="en-US"/>
          </a:p>
        </p:txBody>
      </p:sp>
      <p:sp>
        <p:nvSpPr>
          <p:cNvPr id="9" name="Text 7"/>
          <p:cNvSpPr/>
          <p:nvPr/>
        </p:nvSpPr>
        <p:spPr>
          <a:xfrm>
            <a:off x="301752" y="1088136"/>
            <a:ext cx="137160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p>
        </p:txBody>
      </p:sp>
      <p:sp>
        <p:nvSpPr>
          <p:cNvPr id="10" name="Shape 8"/>
          <p:cNvSpPr/>
          <p:nvPr/>
        </p:nvSpPr>
        <p:spPr>
          <a:xfrm>
            <a:off x="1755648" y="1078992"/>
            <a:ext cx="1188720" cy="347472"/>
          </a:xfrm>
          <a:prstGeom prst="rect">
            <a:avLst/>
          </a:prstGeom>
          <a:solidFill>
            <a:srgbClr val="1A3A6E"/>
          </a:solidFill>
          <a:ln w="12700">
            <a:solidFill>
              <a:srgbClr val="1A3A6E"/>
            </a:solidFill>
            <a:prstDash val="solid"/>
          </a:ln>
        </p:spPr>
        <p:txBody>
          <a:bodyPr/>
          <a:lstStyle/>
          <a:p>
            <a:endParaRPr lang="en-US"/>
          </a:p>
        </p:txBody>
      </p:sp>
      <p:sp>
        <p:nvSpPr>
          <p:cNvPr id="11" name="Text 9"/>
          <p:cNvSpPr/>
          <p:nvPr/>
        </p:nvSpPr>
        <p:spPr>
          <a:xfrm>
            <a:off x="1801368" y="1088136"/>
            <a:ext cx="109728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Scale</a:t>
            </a:r>
            <a:endParaRPr lang="en-US" sz="1100" dirty="0"/>
          </a:p>
        </p:txBody>
      </p:sp>
      <p:sp>
        <p:nvSpPr>
          <p:cNvPr id="12" name="Shape 10"/>
          <p:cNvSpPr/>
          <p:nvPr/>
        </p:nvSpPr>
        <p:spPr>
          <a:xfrm>
            <a:off x="2980944" y="1078992"/>
            <a:ext cx="1280160" cy="347472"/>
          </a:xfrm>
          <a:prstGeom prst="rect">
            <a:avLst/>
          </a:prstGeom>
          <a:solidFill>
            <a:srgbClr val="1A3A6E"/>
          </a:solidFill>
          <a:ln w="12700">
            <a:solidFill>
              <a:srgbClr val="1A3A6E"/>
            </a:solidFill>
            <a:prstDash val="solid"/>
          </a:ln>
        </p:spPr>
        <p:txBody>
          <a:bodyPr/>
          <a:lstStyle/>
          <a:p>
            <a:endParaRPr lang="en-US"/>
          </a:p>
        </p:txBody>
      </p:sp>
      <p:sp>
        <p:nvSpPr>
          <p:cNvPr id="13" name="Text 11"/>
          <p:cNvSpPr/>
          <p:nvPr/>
        </p:nvSpPr>
        <p:spPr>
          <a:xfrm>
            <a:off x="3026664" y="1088136"/>
            <a:ext cx="11887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a:t>
            </a:r>
            <a:endParaRPr lang="en-US" sz="1100" dirty="0"/>
          </a:p>
        </p:txBody>
      </p:sp>
      <p:sp>
        <p:nvSpPr>
          <p:cNvPr id="14" name="Shape 12"/>
          <p:cNvSpPr/>
          <p:nvPr/>
        </p:nvSpPr>
        <p:spPr>
          <a:xfrm>
            <a:off x="4297680" y="1078992"/>
            <a:ext cx="5029200" cy="347472"/>
          </a:xfrm>
          <a:prstGeom prst="rect">
            <a:avLst/>
          </a:prstGeom>
          <a:solidFill>
            <a:srgbClr val="1A3A6E"/>
          </a:solidFill>
          <a:ln w="12700">
            <a:solidFill>
              <a:srgbClr val="1A3A6E"/>
            </a:solidFill>
            <a:prstDash val="solid"/>
          </a:ln>
        </p:spPr>
        <p:txBody>
          <a:bodyPr/>
          <a:lstStyle/>
          <a:p>
            <a:endParaRPr lang="en-US"/>
          </a:p>
        </p:txBody>
      </p:sp>
      <p:sp>
        <p:nvSpPr>
          <p:cNvPr id="15" name="Text 13"/>
          <p:cNvSpPr/>
          <p:nvPr/>
        </p:nvSpPr>
        <p:spPr>
          <a:xfrm>
            <a:off x="4343400" y="1088136"/>
            <a:ext cx="493776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p>
        </p:txBody>
      </p:sp>
      <p:sp>
        <p:nvSpPr>
          <p:cNvPr id="16" name="Shape 14"/>
          <p:cNvSpPr/>
          <p:nvPr/>
        </p:nvSpPr>
        <p:spPr>
          <a:xfrm>
            <a:off x="9363456" y="1078992"/>
            <a:ext cx="2331720" cy="347472"/>
          </a:xfrm>
          <a:prstGeom prst="rect">
            <a:avLst/>
          </a:prstGeom>
          <a:solidFill>
            <a:srgbClr val="1A3A6E"/>
          </a:solidFill>
          <a:ln w="12700">
            <a:solidFill>
              <a:srgbClr val="1A3A6E"/>
            </a:solidFill>
            <a:prstDash val="solid"/>
          </a:ln>
        </p:spPr>
        <p:txBody>
          <a:bodyPr/>
          <a:lstStyle/>
          <a:p>
            <a:endParaRPr lang="en-US"/>
          </a:p>
        </p:txBody>
      </p:sp>
      <p:sp>
        <p:nvSpPr>
          <p:cNvPr id="17" name="Text 15"/>
          <p:cNvSpPr/>
          <p:nvPr/>
        </p:nvSpPr>
        <p:spPr>
          <a:xfrm>
            <a:off x="9409176" y="1088136"/>
            <a:ext cx="224028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 in Study</a:t>
            </a:r>
            <a:endParaRPr lang="en-US" sz="1100" dirty="0"/>
          </a:p>
        </p:txBody>
      </p:sp>
      <p:sp>
        <p:nvSpPr>
          <p:cNvPr id="18" name="Shape 16"/>
          <p:cNvSpPr/>
          <p:nvPr/>
        </p:nvSpPr>
        <p:spPr>
          <a:xfrm>
            <a:off x="256032" y="1463040"/>
            <a:ext cx="1463040" cy="585216"/>
          </a:xfrm>
          <a:prstGeom prst="rect">
            <a:avLst/>
          </a:prstGeom>
          <a:solidFill>
            <a:srgbClr val="ECEFF1"/>
          </a:solidFill>
          <a:ln w="12700">
            <a:solidFill>
              <a:srgbClr val="CFD8DC"/>
            </a:solidFill>
            <a:prstDash val="solid"/>
          </a:ln>
        </p:spPr>
        <p:txBody>
          <a:bodyPr/>
          <a:lstStyle/>
          <a:p>
            <a:endParaRPr lang="en-US"/>
          </a:p>
        </p:txBody>
      </p:sp>
      <p:sp>
        <p:nvSpPr>
          <p:cNvPr id="19" name="Text 17"/>
          <p:cNvSpPr/>
          <p:nvPr/>
        </p:nvSpPr>
        <p:spPr>
          <a:xfrm>
            <a:off x="301752" y="1499616"/>
            <a:ext cx="1371600" cy="512064"/>
          </a:xfrm>
          <a:prstGeom prst="rect">
            <a:avLst/>
          </a:prstGeom>
          <a:noFill/>
          <a:ln/>
        </p:spPr>
        <p:txBody>
          <a:bodyPr wrap="square" rtlCol="0" anchor="ctr"/>
          <a:lstStyle/>
          <a:p>
            <a:pPr marL="0" indent="0" algn="ctr">
              <a:buNone/>
            </a:pPr>
            <a:r>
              <a:rPr lang="en-US" sz="1050" b="1" dirty="0">
                <a:solidFill>
                  <a:srgbClr val="1565C0"/>
                </a:solidFill>
                <a:latin typeface="Calibri" pitchFamily="34" charset="0"/>
                <a:ea typeface="Calibri" pitchFamily="34" charset="-122"/>
                <a:cs typeface="Calibri" pitchFamily="34" charset="-120"/>
              </a:rPr>
              <a:t>BindingDB</a:t>
            </a:r>
            <a:endParaRPr lang="en-US" sz="1050" dirty="0"/>
          </a:p>
        </p:txBody>
      </p:sp>
      <p:sp>
        <p:nvSpPr>
          <p:cNvPr id="20" name="Shape 18"/>
          <p:cNvSpPr/>
          <p:nvPr/>
        </p:nvSpPr>
        <p:spPr>
          <a:xfrm>
            <a:off x="1755648" y="1463040"/>
            <a:ext cx="1188720" cy="585216"/>
          </a:xfrm>
          <a:prstGeom prst="rect">
            <a:avLst/>
          </a:prstGeom>
          <a:solidFill>
            <a:srgbClr val="ECEFF1"/>
          </a:solidFill>
          <a:ln w="12700">
            <a:solidFill>
              <a:srgbClr val="CFD8DC"/>
            </a:solidFill>
            <a:prstDash val="solid"/>
          </a:ln>
        </p:spPr>
        <p:txBody>
          <a:bodyPr/>
          <a:lstStyle/>
          <a:p>
            <a:endParaRPr lang="en-US"/>
          </a:p>
        </p:txBody>
      </p:sp>
      <p:sp>
        <p:nvSpPr>
          <p:cNvPr id="21" name="Text 19"/>
          <p:cNvSpPr/>
          <p:nvPr/>
        </p:nvSpPr>
        <p:spPr>
          <a:xfrm>
            <a:off x="1801368" y="1499616"/>
            <a:ext cx="109728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Large-scale</a:t>
            </a:r>
            <a:endParaRPr lang="en-US" sz="1050" dirty="0"/>
          </a:p>
        </p:txBody>
      </p:sp>
      <p:sp>
        <p:nvSpPr>
          <p:cNvPr id="22" name="Shape 20"/>
          <p:cNvSpPr/>
          <p:nvPr/>
        </p:nvSpPr>
        <p:spPr>
          <a:xfrm>
            <a:off x="2980944" y="1463040"/>
            <a:ext cx="1280160" cy="585216"/>
          </a:xfrm>
          <a:prstGeom prst="rect">
            <a:avLst/>
          </a:prstGeom>
          <a:solidFill>
            <a:srgbClr val="ECEFF1"/>
          </a:solidFill>
          <a:ln w="12700">
            <a:solidFill>
              <a:srgbClr val="CFD8DC"/>
            </a:solidFill>
            <a:prstDash val="solid"/>
          </a:ln>
        </p:spPr>
        <p:txBody>
          <a:bodyPr/>
          <a:lstStyle/>
          <a:p>
            <a:endParaRPr lang="en-US"/>
          </a:p>
        </p:txBody>
      </p:sp>
      <p:sp>
        <p:nvSpPr>
          <p:cNvPr id="23" name="Text 21"/>
          <p:cNvSpPr/>
          <p:nvPr/>
        </p:nvSpPr>
        <p:spPr>
          <a:xfrm>
            <a:off x="3026664" y="1499616"/>
            <a:ext cx="118872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DTI + DTA</a:t>
            </a:r>
            <a:endParaRPr lang="en-US" sz="1050" dirty="0"/>
          </a:p>
        </p:txBody>
      </p:sp>
      <p:sp>
        <p:nvSpPr>
          <p:cNvPr id="24" name="Shape 22"/>
          <p:cNvSpPr/>
          <p:nvPr/>
        </p:nvSpPr>
        <p:spPr>
          <a:xfrm>
            <a:off x="4297680" y="1463040"/>
            <a:ext cx="5029200" cy="585216"/>
          </a:xfrm>
          <a:prstGeom prst="rect">
            <a:avLst/>
          </a:prstGeom>
          <a:solidFill>
            <a:srgbClr val="ECEFF1"/>
          </a:solidFill>
          <a:ln w="12700">
            <a:solidFill>
              <a:srgbClr val="CFD8DC"/>
            </a:solidFill>
            <a:prstDash val="solid"/>
          </a:ln>
        </p:spPr>
        <p:txBody>
          <a:bodyPr/>
          <a:lstStyle/>
          <a:p>
            <a:endParaRPr lang="en-US"/>
          </a:p>
        </p:txBody>
      </p:sp>
      <p:sp>
        <p:nvSpPr>
          <p:cNvPr id="25" name="Text 23"/>
          <p:cNvSpPr/>
          <p:nvPr/>
        </p:nvSpPr>
        <p:spPr>
          <a:xfrm>
            <a:off x="4343400" y="1499616"/>
            <a:ext cx="4937760" cy="512064"/>
          </a:xfrm>
          <a:prstGeom prst="rect">
            <a:avLst/>
          </a:prstGeom>
          <a:noFill/>
          <a:ln/>
        </p:spPr>
        <p:txBody>
          <a:bodyPr wrap="square" rtlCol="0" anchor="ctr"/>
          <a:lstStyle/>
          <a:p>
            <a:pPr marL="0" indent="0" algn="l">
              <a:buNone/>
            </a:pPr>
            <a:r>
              <a:rPr lang="en-US" sz="950" dirty="0">
                <a:solidFill>
                  <a:srgbClr val="1C2833"/>
                </a:solidFill>
                <a:latin typeface="Calibri" pitchFamily="34" charset="0"/>
                <a:ea typeface="Calibri" pitchFamily="34" charset="-122"/>
                <a:cs typeface="Calibri" pitchFamily="34" charset="-120"/>
              </a:rPr>
              <a:t>Millions of K_d, K_i, IC₅₀ measurements; diverse targets; primary large-scale training source</a:t>
            </a:r>
            <a:endParaRPr lang="en-US" sz="950" dirty="0"/>
          </a:p>
        </p:txBody>
      </p:sp>
      <p:sp>
        <p:nvSpPr>
          <p:cNvPr id="26" name="Shape 24"/>
          <p:cNvSpPr/>
          <p:nvPr/>
        </p:nvSpPr>
        <p:spPr>
          <a:xfrm>
            <a:off x="9363456" y="1554480"/>
            <a:ext cx="2331720" cy="402336"/>
          </a:xfrm>
          <a:prstGeom prst="roundRect">
            <a:avLst>
              <a:gd name="adj" fmla="val 13636"/>
            </a:avLst>
          </a:prstGeom>
          <a:solidFill>
            <a:srgbClr val="1565C0"/>
          </a:solidFill>
          <a:ln w="12700">
            <a:solidFill>
              <a:srgbClr val="1565C0"/>
            </a:solidFill>
            <a:prstDash val="solid"/>
          </a:ln>
        </p:spPr>
        <p:txBody>
          <a:bodyPr/>
          <a:lstStyle/>
          <a:p>
            <a:endParaRPr lang="en-US"/>
          </a:p>
        </p:txBody>
      </p:sp>
      <p:sp>
        <p:nvSpPr>
          <p:cNvPr id="27" name="Text 25"/>
          <p:cNvSpPr/>
          <p:nvPr/>
        </p:nvSpPr>
        <p:spPr>
          <a:xfrm>
            <a:off x="9409176" y="1554480"/>
            <a:ext cx="2240280"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DTI + DTA</a:t>
            </a:r>
            <a:endParaRPr lang="en-US" sz="1000" dirty="0"/>
          </a:p>
        </p:txBody>
      </p:sp>
      <p:sp>
        <p:nvSpPr>
          <p:cNvPr id="28" name="Shape 26"/>
          <p:cNvSpPr/>
          <p:nvPr/>
        </p:nvSpPr>
        <p:spPr>
          <a:xfrm>
            <a:off x="256032" y="2084832"/>
            <a:ext cx="1463040" cy="585216"/>
          </a:xfrm>
          <a:prstGeom prst="rect">
            <a:avLst/>
          </a:prstGeom>
          <a:solidFill>
            <a:srgbClr val="FFFFFF"/>
          </a:solidFill>
          <a:ln w="12700">
            <a:solidFill>
              <a:srgbClr val="CFD8DC"/>
            </a:solidFill>
            <a:prstDash val="solid"/>
          </a:ln>
        </p:spPr>
        <p:txBody>
          <a:bodyPr/>
          <a:lstStyle/>
          <a:p>
            <a:endParaRPr lang="en-US"/>
          </a:p>
        </p:txBody>
      </p:sp>
      <p:sp>
        <p:nvSpPr>
          <p:cNvPr id="29" name="Text 27"/>
          <p:cNvSpPr/>
          <p:nvPr/>
        </p:nvSpPr>
        <p:spPr>
          <a:xfrm>
            <a:off x="301752" y="2121408"/>
            <a:ext cx="1371600" cy="512064"/>
          </a:xfrm>
          <a:prstGeom prst="rect">
            <a:avLst/>
          </a:prstGeom>
          <a:noFill/>
          <a:ln/>
        </p:spPr>
        <p:txBody>
          <a:bodyPr wrap="square" rtlCol="0" anchor="ctr"/>
          <a:lstStyle/>
          <a:p>
            <a:pPr marL="0" indent="0" algn="ctr">
              <a:buNone/>
            </a:pPr>
            <a:r>
              <a:rPr lang="en-US" sz="1050" b="1" dirty="0">
                <a:solidFill>
                  <a:srgbClr val="00695C"/>
                </a:solidFill>
                <a:latin typeface="Calibri" pitchFamily="34" charset="0"/>
                <a:ea typeface="Calibri" pitchFamily="34" charset="-122"/>
                <a:cs typeface="Calibri" pitchFamily="34" charset="-120"/>
              </a:rPr>
              <a:t>DAVIS</a:t>
            </a:r>
            <a:endParaRPr lang="en-US" sz="1050" dirty="0"/>
          </a:p>
        </p:txBody>
      </p:sp>
      <p:sp>
        <p:nvSpPr>
          <p:cNvPr id="30" name="Shape 28"/>
          <p:cNvSpPr/>
          <p:nvPr/>
        </p:nvSpPr>
        <p:spPr>
          <a:xfrm>
            <a:off x="1755648" y="2084832"/>
            <a:ext cx="1188720" cy="585216"/>
          </a:xfrm>
          <a:prstGeom prst="rect">
            <a:avLst/>
          </a:prstGeom>
          <a:solidFill>
            <a:srgbClr val="FFFFFF"/>
          </a:solidFill>
          <a:ln w="12700">
            <a:solidFill>
              <a:srgbClr val="CFD8DC"/>
            </a:solidFill>
            <a:prstDash val="solid"/>
          </a:ln>
        </p:spPr>
        <p:txBody>
          <a:bodyPr/>
          <a:lstStyle/>
          <a:p>
            <a:endParaRPr lang="en-US"/>
          </a:p>
        </p:txBody>
      </p:sp>
      <p:sp>
        <p:nvSpPr>
          <p:cNvPr id="31" name="Text 29"/>
          <p:cNvSpPr/>
          <p:nvPr/>
        </p:nvSpPr>
        <p:spPr>
          <a:xfrm>
            <a:off x="1801368" y="2121408"/>
            <a:ext cx="109728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Medium-scale</a:t>
            </a:r>
            <a:endParaRPr lang="en-US" sz="1050" dirty="0"/>
          </a:p>
        </p:txBody>
      </p:sp>
      <p:sp>
        <p:nvSpPr>
          <p:cNvPr id="32" name="Shape 30"/>
          <p:cNvSpPr/>
          <p:nvPr/>
        </p:nvSpPr>
        <p:spPr>
          <a:xfrm>
            <a:off x="2980944" y="2084832"/>
            <a:ext cx="1280160" cy="585216"/>
          </a:xfrm>
          <a:prstGeom prst="rect">
            <a:avLst/>
          </a:prstGeom>
          <a:solidFill>
            <a:srgbClr val="FFFFFF"/>
          </a:solidFill>
          <a:ln w="12700">
            <a:solidFill>
              <a:srgbClr val="CFD8DC"/>
            </a:solidFill>
            <a:prstDash val="solid"/>
          </a:ln>
        </p:spPr>
        <p:txBody>
          <a:bodyPr/>
          <a:lstStyle/>
          <a:p>
            <a:endParaRPr lang="en-US"/>
          </a:p>
        </p:txBody>
      </p:sp>
      <p:sp>
        <p:nvSpPr>
          <p:cNvPr id="33" name="Text 31"/>
          <p:cNvSpPr/>
          <p:nvPr/>
        </p:nvSpPr>
        <p:spPr>
          <a:xfrm>
            <a:off x="3026664" y="2121408"/>
            <a:ext cx="118872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DTA Regression</a:t>
            </a:r>
            <a:endParaRPr lang="en-US" sz="1050" dirty="0"/>
          </a:p>
        </p:txBody>
      </p:sp>
      <p:sp>
        <p:nvSpPr>
          <p:cNvPr id="34" name="Shape 32"/>
          <p:cNvSpPr/>
          <p:nvPr/>
        </p:nvSpPr>
        <p:spPr>
          <a:xfrm>
            <a:off x="4297680" y="2084832"/>
            <a:ext cx="5029200" cy="585216"/>
          </a:xfrm>
          <a:prstGeom prst="rect">
            <a:avLst/>
          </a:prstGeom>
          <a:solidFill>
            <a:srgbClr val="FFFFFF"/>
          </a:solidFill>
          <a:ln w="12700">
            <a:solidFill>
              <a:srgbClr val="CFD8DC"/>
            </a:solidFill>
            <a:prstDash val="solid"/>
          </a:ln>
        </p:spPr>
        <p:txBody>
          <a:bodyPr/>
          <a:lstStyle/>
          <a:p>
            <a:endParaRPr lang="en-US"/>
          </a:p>
        </p:txBody>
      </p:sp>
      <p:sp>
        <p:nvSpPr>
          <p:cNvPr id="35" name="Text 33"/>
          <p:cNvSpPr/>
          <p:nvPr/>
        </p:nvSpPr>
        <p:spPr>
          <a:xfrm>
            <a:off x="4343400" y="2121408"/>
            <a:ext cx="4937760" cy="512064"/>
          </a:xfrm>
          <a:prstGeom prst="rect">
            <a:avLst/>
          </a:prstGeom>
          <a:noFill/>
          <a:ln/>
        </p:spPr>
        <p:txBody>
          <a:bodyPr wrap="square" rtlCol="0" anchor="ctr"/>
          <a:lstStyle/>
          <a:p>
            <a:pPr marL="0" indent="0" algn="l">
              <a:buNone/>
            </a:pPr>
            <a:r>
              <a:rPr lang="en-US" sz="950" dirty="0">
                <a:solidFill>
                  <a:srgbClr val="1C2833"/>
                </a:solidFill>
                <a:latin typeface="Calibri" pitchFamily="34" charset="0"/>
                <a:ea typeface="Calibri" pitchFamily="34" charset="-122"/>
                <a:cs typeface="Calibri" pitchFamily="34" charset="-120"/>
              </a:rPr>
              <a:t>30,056 K_d values; 442 kinases × 68 inhibitors; standard affinity benchmark (CI, RMSE)</a:t>
            </a:r>
            <a:endParaRPr lang="en-US" sz="950" dirty="0"/>
          </a:p>
        </p:txBody>
      </p:sp>
      <p:sp>
        <p:nvSpPr>
          <p:cNvPr id="36" name="Shape 34"/>
          <p:cNvSpPr/>
          <p:nvPr/>
        </p:nvSpPr>
        <p:spPr>
          <a:xfrm>
            <a:off x="9363456" y="2176272"/>
            <a:ext cx="2331720" cy="402336"/>
          </a:xfrm>
          <a:prstGeom prst="roundRect">
            <a:avLst>
              <a:gd name="adj" fmla="val 13636"/>
            </a:avLst>
          </a:prstGeom>
          <a:solidFill>
            <a:srgbClr val="00695C"/>
          </a:solidFill>
          <a:ln w="12700">
            <a:solidFill>
              <a:srgbClr val="00695C"/>
            </a:solidFill>
            <a:prstDash val="solid"/>
          </a:ln>
        </p:spPr>
        <p:txBody>
          <a:bodyPr/>
          <a:lstStyle/>
          <a:p>
            <a:endParaRPr lang="en-US"/>
          </a:p>
        </p:txBody>
      </p:sp>
      <p:sp>
        <p:nvSpPr>
          <p:cNvPr id="37" name="Text 35"/>
          <p:cNvSpPr/>
          <p:nvPr/>
        </p:nvSpPr>
        <p:spPr>
          <a:xfrm>
            <a:off x="9409176" y="2176272"/>
            <a:ext cx="2240280"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DTA Regression</a:t>
            </a:r>
            <a:endParaRPr lang="en-US" sz="1000" dirty="0"/>
          </a:p>
        </p:txBody>
      </p:sp>
      <p:sp>
        <p:nvSpPr>
          <p:cNvPr id="38" name="Shape 36"/>
          <p:cNvSpPr/>
          <p:nvPr/>
        </p:nvSpPr>
        <p:spPr>
          <a:xfrm>
            <a:off x="256032" y="2706624"/>
            <a:ext cx="1463040" cy="585216"/>
          </a:xfrm>
          <a:prstGeom prst="rect">
            <a:avLst/>
          </a:prstGeom>
          <a:solidFill>
            <a:srgbClr val="ECEFF1"/>
          </a:solidFill>
          <a:ln w="12700">
            <a:solidFill>
              <a:srgbClr val="CFD8DC"/>
            </a:solidFill>
            <a:prstDash val="solid"/>
          </a:ln>
        </p:spPr>
        <p:txBody>
          <a:bodyPr/>
          <a:lstStyle/>
          <a:p>
            <a:endParaRPr lang="en-US"/>
          </a:p>
        </p:txBody>
      </p:sp>
      <p:sp>
        <p:nvSpPr>
          <p:cNvPr id="39" name="Text 37"/>
          <p:cNvSpPr/>
          <p:nvPr/>
        </p:nvSpPr>
        <p:spPr>
          <a:xfrm>
            <a:off x="301752" y="2743200"/>
            <a:ext cx="1371600" cy="512064"/>
          </a:xfrm>
          <a:prstGeom prst="rect">
            <a:avLst/>
          </a:prstGeom>
          <a:noFill/>
          <a:ln/>
        </p:spPr>
        <p:txBody>
          <a:bodyPr wrap="square" rtlCol="0" anchor="ctr"/>
          <a:lstStyle/>
          <a:p>
            <a:pPr marL="0" indent="0" algn="ctr">
              <a:buNone/>
            </a:pPr>
            <a:r>
              <a:rPr lang="en-US" sz="1050" b="1" dirty="0">
                <a:solidFill>
                  <a:srgbClr val="1B5E20"/>
                </a:solidFill>
                <a:latin typeface="Calibri" pitchFamily="34" charset="0"/>
                <a:ea typeface="Calibri" pitchFamily="34" charset="-122"/>
                <a:cs typeface="Calibri" pitchFamily="34" charset="-120"/>
              </a:rPr>
              <a:t>KIBA</a:t>
            </a:r>
            <a:endParaRPr lang="en-US" sz="1050" dirty="0"/>
          </a:p>
        </p:txBody>
      </p:sp>
      <p:sp>
        <p:nvSpPr>
          <p:cNvPr id="40" name="Shape 38"/>
          <p:cNvSpPr/>
          <p:nvPr/>
        </p:nvSpPr>
        <p:spPr>
          <a:xfrm>
            <a:off x="1755648" y="2706624"/>
            <a:ext cx="1188720" cy="585216"/>
          </a:xfrm>
          <a:prstGeom prst="rect">
            <a:avLst/>
          </a:prstGeom>
          <a:solidFill>
            <a:srgbClr val="ECEFF1"/>
          </a:solidFill>
          <a:ln w="12700">
            <a:solidFill>
              <a:srgbClr val="CFD8DC"/>
            </a:solidFill>
            <a:prstDash val="solid"/>
          </a:ln>
        </p:spPr>
        <p:txBody>
          <a:bodyPr/>
          <a:lstStyle/>
          <a:p>
            <a:endParaRPr lang="en-US"/>
          </a:p>
        </p:txBody>
      </p:sp>
      <p:sp>
        <p:nvSpPr>
          <p:cNvPr id="41" name="Text 39"/>
          <p:cNvSpPr/>
          <p:nvPr/>
        </p:nvSpPr>
        <p:spPr>
          <a:xfrm>
            <a:off x="1801368" y="2743200"/>
            <a:ext cx="109728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Medium-scale</a:t>
            </a:r>
            <a:endParaRPr lang="en-US" sz="1050" dirty="0"/>
          </a:p>
        </p:txBody>
      </p:sp>
      <p:sp>
        <p:nvSpPr>
          <p:cNvPr id="42" name="Shape 40"/>
          <p:cNvSpPr/>
          <p:nvPr/>
        </p:nvSpPr>
        <p:spPr>
          <a:xfrm>
            <a:off x="2980944" y="2706624"/>
            <a:ext cx="1280160" cy="585216"/>
          </a:xfrm>
          <a:prstGeom prst="rect">
            <a:avLst/>
          </a:prstGeom>
          <a:solidFill>
            <a:srgbClr val="ECEFF1"/>
          </a:solidFill>
          <a:ln w="12700">
            <a:solidFill>
              <a:srgbClr val="CFD8DC"/>
            </a:solidFill>
            <a:prstDash val="solid"/>
          </a:ln>
        </p:spPr>
        <p:txBody>
          <a:bodyPr/>
          <a:lstStyle/>
          <a:p>
            <a:endParaRPr lang="en-US"/>
          </a:p>
        </p:txBody>
      </p:sp>
      <p:sp>
        <p:nvSpPr>
          <p:cNvPr id="43" name="Text 41"/>
          <p:cNvSpPr/>
          <p:nvPr/>
        </p:nvSpPr>
        <p:spPr>
          <a:xfrm>
            <a:off x="3026664" y="2743200"/>
            <a:ext cx="118872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DTA Regression</a:t>
            </a:r>
            <a:endParaRPr lang="en-US" sz="1050" dirty="0"/>
          </a:p>
        </p:txBody>
      </p:sp>
      <p:sp>
        <p:nvSpPr>
          <p:cNvPr id="44" name="Shape 42"/>
          <p:cNvSpPr/>
          <p:nvPr/>
        </p:nvSpPr>
        <p:spPr>
          <a:xfrm>
            <a:off x="4297680" y="2706624"/>
            <a:ext cx="5029200" cy="585216"/>
          </a:xfrm>
          <a:prstGeom prst="rect">
            <a:avLst/>
          </a:prstGeom>
          <a:solidFill>
            <a:srgbClr val="ECEFF1"/>
          </a:solidFill>
          <a:ln w="12700">
            <a:solidFill>
              <a:srgbClr val="CFD8DC"/>
            </a:solidFill>
            <a:prstDash val="solid"/>
          </a:ln>
        </p:spPr>
        <p:txBody>
          <a:bodyPr/>
          <a:lstStyle/>
          <a:p>
            <a:endParaRPr lang="en-US"/>
          </a:p>
        </p:txBody>
      </p:sp>
      <p:sp>
        <p:nvSpPr>
          <p:cNvPr id="45" name="Text 43"/>
          <p:cNvSpPr/>
          <p:nvPr/>
        </p:nvSpPr>
        <p:spPr>
          <a:xfrm>
            <a:off x="4343400" y="2743200"/>
            <a:ext cx="4937760" cy="512064"/>
          </a:xfrm>
          <a:prstGeom prst="rect">
            <a:avLst/>
          </a:prstGeom>
          <a:noFill/>
          <a:ln/>
        </p:spPr>
        <p:txBody>
          <a:bodyPr wrap="square" rtlCol="0" anchor="ctr"/>
          <a:lstStyle/>
          <a:p>
            <a:pPr marL="0" indent="0" algn="l">
              <a:buNone/>
            </a:pPr>
            <a:r>
              <a:rPr lang="en-US" sz="950" dirty="0">
                <a:solidFill>
                  <a:srgbClr val="1C2833"/>
                </a:solidFill>
                <a:latin typeface="Calibri" pitchFamily="34" charset="0"/>
                <a:ea typeface="Calibri" pitchFamily="34" charset="-122"/>
                <a:cs typeface="Calibri" pitchFamily="34" charset="-120"/>
              </a:rPr>
              <a:t>52,498 bioactivity values integrating Ki/Kd/IC₅₀; 467 targets × 229 drugs; CI benchmark</a:t>
            </a:r>
            <a:endParaRPr lang="en-US" sz="950" dirty="0"/>
          </a:p>
        </p:txBody>
      </p:sp>
      <p:sp>
        <p:nvSpPr>
          <p:cNvPr id="46" name="Shape 44"/>
          <p:cNvSpPr/>
          <p:nvPr/>
        </p:nvSpPr>
        <p:spPr>
          <a:xfrm>
            <a:off x="9363456" y="2798064"/>
            <a:ext cx="2331720" cy="402336"/>
          </a:xfrm>
          <a:prstGeom prst="roundRect">
            <a:avLst>
              <a:gd name="adj" fmla="val 13636"/>
            </a:avLst>
          </a:prstGeom>
          <a:solidFill>
            <a:srgbClr val="1B5E20"/>
          </a:solidFill>
          <a:ln w="12700">
            <a:solidFill>
              <a:srgbClr val="1B5E20"/>
            </a:solidFill>
            <a:prstDash val="solid"/>
          </a:ln>
        </p:spPr>
        <p:txBody>
          <a:bodyPr/>
          <a:lstStyle/>
          <a:p>
            <a:endParaRPr lang="en-US"/>
          </a:p>
        </p:txBody>
      </p:sp>
      <p:sp>
        <p:nvSpPr>
          <p:cNvPr id="47" name="Text 45"/>
          <p:cNvSpPr/>
          <p:nvPr/>
        </p:nvSpPr>
        <p:spPr>
          <a:xfrm>
            <a:off x="9409176" y="2798064"/>
            <a:ext cx="2240280"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DTA Regression</a:t>
            </a:r>
            <a:endParaRPr lang="en-US" sz="1000" dirty="0"/>
          </a:p>
        </p:txBody>
      </p:sp>
      <p:sp>
        <p:nvSpPr>
          <p:cNvPr id="48" name="Shape 46"/>
          <p:cNvSpPr/>
          <p:nvPr/>
        </p:nvSpPr>
        <p:spPr>
          <a:xfrm>
            <a:off x="256032" y="3328416"/>
            <a:ext cx="1463040" cy="585216"/>
          </a:xfrm>
          <a:prstGeom prst="rect">
            <a:avLst/>
          </a:prstGeom>
          <a:solidFill>
            <a:srgbClr val="FFFFFF"/>
          </a:solidFill>
          <a:ln w="12700">
            <a:solidFill>
              <a:srgbClr val="CFD8DC"/>
            </a:solidFill>
            <a:prstDash val="solid"/>
          </a:ln>
        </p:spPr>
        <p:txBody>
          <a:bodyPr/>
          <a:lstStyle/>
          <a:p>
            <a:endParaRPr lang="en-US"/>
          </a:p>
        </p:txBody>
      </p:sp>
      <p:sp>
        <p:nvSpPr>
          <p:cNvPr id="49" name="Text 47"/>
          <p:cNvSpPr/>
          <p:nvPr/>
        </p:nvSpPr>
        <p:spPr>
          <a:xfrm>
            <a:off x="301752" y="3364992"/>
            <a:ext cx="1371600" cy="512064"/>
          </a:xfrm>
          <a:prstGeom prst="rect">
            <a:avLst/>
          </a:prstGeom>
          <a:noFill/>
          <a:ln/>
        </p:spPr>
        <p:txBody>
          <a:bodyPr wrap="square" rtlCol="0" anchor="ctr"/>
          <a:lstStyle/>
          <a:p>
            <a:pPr marL="0" indent="0" algn="ctr">
              <a:buNone/>
            </a:pPr>
            <a:r>
              <a:rPr lang="en-US" sz="1050" b="1" dirty="0">
                <a:solidFill>
                  <a:srgbClr val="4A148C"/>
                </a:solidFill>
                <a:latin typeface="Calibri" pitchFamily="34" charset="0"/>
                <a:ea typeface="Calibri" pitchFamily="34" charset="-122"/>
                <a:cs typeface="Calibri" pitchFamily="34" charset="-120"/>
              </a:rPr>
              <a:t>Yamanishi_08</a:t>
            </a:r>
            <a:endParaRPr lang="en-US" sz="1050" dirty="0"/>
          </a:p>
        </p:txBody>
      </p:sp>
      <p:sp>
        <p:nvSpPr>
          <p:cNvPr id="50" name="Shape 48"/>
          <p:cNvSpPr/>
          <p:nvPr/>
        </p:nvSpPr>
        <p:spPr>
          <a:xfrm>
            <a:off x="1755648" y="3328416"/>
            <a:ext cx="1188720" cy="585216"/>
          </a:xfrm>
          <a:prstGeom prst="rect">
            <a:avLst/>
          </a:prstGeom>
          <a:solidFill>
            <a:srgbClr val="FFFFFF"/>
          </a:solidFill>
          <a:ln w="12700">
            <a:solidFill>
              <a:srgbClr val="CFD8DC"/>
            </a:solidFill>
            <a:prstDash val="solid"/>
          </a:ln>
        </p:spPr>
        <p:txBody>
          <a:bodyPr/>
          <a:lstStyle/>
          <a:p>
            <a:endParaRPr lang="en-US"/>
          </a:p>
        </p:txBody>
      </p:sp>
      <p:sp>
        <p:nvSpPr>
          <p:cNvPr id="51" name="Text 49"/>
          <p:cNvSpPr/>
          <p:nvPr/>
        </p:nvSpPr>
        <p:spPr>
          <a:xfrm>
            <a:off x="1801368" y="3364992"/>
            <a:ext cx="109728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Small-scale</a:t>
            </a:r>
            <a:endParaRPr lang="en-US" sz="1050" dirty="0"/>
          </a:p>
        </p:txBody>
      </p:sp>
      <p:sp>
        <p:nvSpPr>
          <p:cNvPr id="52" name="Shape 50"/>
          <p:cNvSpPr/>
          <p:nvPr/>
        </p:nvSpPr>
        <p:spPr>
          <a:xfrm>
            <a:off x="2980944" y="3328416"/>
            <a:ext cx="1280160" cy="585216"/>
          </a:xfrm>
          <a:prstGeom prst="rect">
            <a:avLst/>
          </a:prstGeom>
          <a:solidFill>
            <a:srgbClr val="FFFFFF"/>
          </a:solidFill>
          <a:ln w="12700">
            <a:solidFill>
              <a:srgbClr val="CFD8DC"/>
            </a:solidFill>
            <a:prstDash val="solid"/>
          </a:ln>
        </p:spPr>
        <p:txBody>
          <a:bodyPr/>
          <a:lstStyle/>
          <a:p>
            <a:endParaRPr lang="en-US"/>
          </a:p>
        </p:txBody>
      </p:sp>
      <p:sp>
        <p:nvSpPr>
          <p:cNvPr id="53" name="Text 51"/>
          <p:cNvSpPr/>
          <p:nvPr/>
        </p:nvSpPr>
        <p:spPr>
          <a:xfrm>
            <a:off x="3026664" y="3364992"/>
            <a:ext cx="118872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DTI Classification</a:t>
            </a:r>
            <a:endParaRPr lang="en-US" sz="1050" dirty="0"/>
          </a:p>
        </p:txBody>
      </p:sp>
      <p:sp>
        <p:nvSpPr>
          <p:cNvPr id="54" name="Shape 52"/>
          <p:cNvSpPr/>
          <p:nvPr/>
        </p:nvSpPr>
        <p:spPr>
          <a:xfrm>
            <a:off x="4297680" y="3328416"/>
            <a:ext cx="5029200" cy="585216"/>
          </a:xfrm>
          <a:prstGeom prst="rect">
            <a:avLst/>
          </a:prstGeom>
          <a:solidFill>
            <a:srgbClr val="FFFFFF"/>
          </a:solidFill>
          <a:ln w="12700">
            <a:solidFill>
              <a:srgbClr val="CFD8DC"/>
            </a:solidFill>
            <a:prstDash val="solid"/>
          </a:ln>
        </p:spPr>
        <p:txBody>
          <a:bodyPr/>
          <a:lstStyle/>
          <a:p>
            <a:endParaRPr lang="en-US"/>
          </a:p>
        </p:txBody>
      </p:sp>
      <p:sp>
        <p:nvSpPr>
          <p:cNvPr id="55" name="Text 53"/>
          <p:cNvSpPr/>
          <p:nvPr/>
        </p:nvSpPr>
        <p:spPr>
          <a:xfrm>
            <a:off x="4343400" y="3364992"/>
            <a:ext cx="4937760" cy="512064"/>
          </a:xfrm>
          <a:prstGeom prst="rect">
            <a:avLst/>
          </a:prstGeom>
          <a:noFill/>
          <a:ln/>
        </p:spPr>
        <p:txBody>
          <a:bodyPr wrap="square" rtlCol="0" anchor="ctr"/>
          <a:lstStyle/>
          <a:p>
            <a:pPr marL="0" indent="0" algn="l">
              <a:buNone/>
            </a:pPr>
            <a:r>
              <a:rPr lang="en-US" sz="950" dirty="0">
                <a:solidFill>
                  <a:srgbClr val="1C2833"/>
                </a:solidFill>
                <a:latin typeface="Calibri" pitchFamily="34" charset="0"/>
                <a:ea typeface="Calibri" pitchFamily="34" charset="-122"/>
                <a:cs typeface="Calibri" pitchFamily="34" charset="-120"/>
              </a:rPr>
              <a:t>Gold-standard; 4 target classes (Enzyme, Ion Channel, GPCR, NR); cold-start S1/S2/S3 protocol</a:t>
            </a:r>
            <a:endParaRPr lang="en-US" sz="950" dirty="0"/>
          </a:p>
        </p:txBody>
      </p:sp>
      <p:sp>
        <p:nvSpPr>
          <p:cNvPr id="56" name="Shape 54"/>
          <p:cNvSpPr/>
          <p:nvPr/>
        </p:nvSpPr>
        <p:spPr>
          <a:xfrm>
            <a:off x="9363456" y="3419856"/>
            <a:ext cx="2331720" cy="402336"/>
          </a:xfrm>
          <a:prstGeom prst="roundRect">
            <a:avLst>
              <a:gd name="adj" fmla="val 13636"/>
            </a:avLst>
          </a:prstGeom>
          <a:solidFill>
            <a:srgbClr val="4A148C"/>
          </a:solidFill>
          <a:ln w="12700">
            <a:solidFill>
              <a:srgbClr val="4A148C"/>
            </a:solidFill>
            <a:prstDash val="solid"/>
          </a:ln>
        </p:spPr>
        <p:txBody>
          <a:bodyPr/>
          <a:lstStyle/>
          <a:p>
            <a:endParaRPr lang="en-US"/>
          </a:p>
        </p:txBody>
      </p:sp>
      <p:sp>
        <p:nvSpPr>
          <p:cNvPr id="57" name="Text 55"/>
          <p:cNvSpPr/>
          <p:nvPr/>
        </p:nvSpPr>
        <p:spPr>
          <a:xfrm>
            <a:off x="9409176" y="3419856"/>
            <a:ext cx="2240280"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DTI Classification</a:t>
            </a:r>
            <a:endParaRPr lang="en-US" sz="1000" dirty="0"/>
          </a:p>
        </p:txBody>
      </p:sp>
      <p:sp>
        <p:nvSpPr>
          <p:cNvPr id="58" name="Shape 56"/>
          <p:cNvSpPr/>
          <p:nvPr/>
        </p:nvSpPr>
        <p:spPr>
          <a:xfrm>
            <a:off x="256032" y="3950208"/>
            <a:ext cx="1463040" cy="585216"/>
          </a:xfrm>
          <a:prstGeom prst="rect">
            <a:avLst/>
          </a:prstGeom>
          <a:solidFill>
            <a:srgbClr val="ECEFF1"/>
          </a:solidFill>
          <a:ln w="12700">
            <a:solidFill>
              <a:srgbClr val="CFD8DC"/>
            </a:solidFill>
            <a:prstDash val="solid"/>
          </a:ln>
        </p:spPr>
        <p:txBody>
          <a:bodyPr/>
          <a:lstStyle/>
          <a:p>
            <a:endParaRPr lang="en-US"/>
          </a:p>
        </p:txBody>
      </p:sp>
      <p:sp>
        <p:nvSpPr>
          <p:cNvPr id="59" name="Text 57"/>
          <p:cNvSpPr/>
          <p:nvPr/>
        </p:nvSpPr>
        <p:spPr>
          <a:xfrm>
            <a:off x="301752" y="3986784"/>
            <a:ext cx="1371600" cy="512064"/>
          </a:xfrm>
          <a:prstGeom prst="rect">
            <a:avLst/>
          </a:prstGeom>
          <a:noFill/>
          <a:ln/>
        </p:spPr>
        <p:txBody>
          <a:bodyPr wrap="square" rtlCol="0" anchor="ctr"/>
          <a:lstStyle/>
          <a:p>
            <a:pPr marL="0" indent="0" algn="ctr">
              <a:buNone/>
            </a:pPr>
            <a:r>
              <a:rPr lang="en-US" sz="1050" b="1" dirty="0">
                <a:solidFill>
                  <a:srgbClr val="E65100"/>
                </a:solidFill>
                <a:latin typeface="Calibri" pitchFamily="34" charset="0"/>
                <a:ea typeface="Calibri" pitchFamily="34" charset="-122"/>
                <a:cs typeface="Calibri" pitchFamily="34" charset="-120"/>
              </a:rPr>
              <a:t>Luo_17</a:t>
            </a:r>
            <a:endParaRPr lang="en-US" sz="1050" dirty="0"/>
          </a:p>
        </p:txBody>
      </p:sp>
      <p:sp>
        <p:nvSpPr>
          <p:cNvPr id="60" name="Shape 58"/>
          <p:cNvSpPr/>
          <p:nvPr/>
        </p:nvSpPr>
        <p:spPr>
          <a:xfrm>
            <a:off x="1755648" y="3950208"/>
            <a:ext cx="1188720" cy="585216"/>
          </a:xfrm>
          <a:prstGeom prst="rect">
            <a:avLst/>
          </a:prstGeom>
          <a:solidFill>
            <a:srgbClr val="ECEFF1"/>
          </a:solidFill>
          <a:ln w="12700">
            <a:solidFill>
              <a:srgbClr val="CFD8DC"/>
            </a:solidFill>
            <a:prstDash val="solid"/>
          </a:ln>
        </p:spPr>
        <p:txBody>
          <a:bodyPr/>
          <a:lstStyle/>
          <a:p>
            <a:endParaRPr lang="en-US"/>
          </a:p>
        </p:txBody>
      </p:sp>
      <p:sp>
        <p:nvSpPr>
          <p:cNvPr id="61" name="Text 59"/>
          <p:cNvSpPr/>
          <p:nvPr/>
        </p:nvSpPr>
        <p:spPr>
          <a:xfrm>
            <a:off x="1801368" y="3986784"/>
            <a:ext cx="109728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Large-scale</a:t>
            </a:r>
            <a:endParaRPr lang="en-US" sz="1050" dirty="0"/>
          </a:p>
        </p:txBody>
      </p:sp>
      <p:sp>
        <p:nvSpPr>
          <p:cNvPr id="62" name="Shape 60"/>
          <p:cNvSpPr/>
          <p:nvPr/>
        </p:nvSpPr>
        <p:spPr>
          <a:xfrm>
            <a:off x="2980944" y="3950208"/>
            <a:ext cx="1280160" cy="585216"/>
          </a:xfrm>
          <a:prstGeom prst="rect">
            <a:avLst/>
          </a:prstGeom>
          <a:solidFill>
            <a:srgbClr val="ECEFF1"/>
          </a:solidFill>
          <a:ln w="12700">
            <a:solidFill>
              <a:srgbClr val="CFD8DC"/>
            </a:solidFill>
            <a:prstDash val="solid"/>
          </a:ln>
        </p:spPr>
        <p:txBody>
          <a:bodyPr/>
          <a:lstStyle/>
          <a:p>
            <a:endParaRPr lang="en-US"/>
          </a:p>
        </p:txBody>
      </p:sp>
      <p:sp>
        <p:nvSpPr>
          <p:cNvPr id="63" name="Text 61"/>
          <p:cNvSpPr/>
          <p:nvPr/>
        </p:nvSpPr>
        <p:spPr>
          <a:xfrm>
            <a:off x="3026664" y="3986784"/>
            <a:ext cx="118872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DTI Classification</a:t>
            </a:r>
            <a:endParaRPr lang="en-US" sz="1050" dirty="0"/>
          </a:p>
        </p:txBody>
      </p:sp>
      <p:sp>
        <p:nvSpPr>
          <p:cNvPr id="64" name="Shape 62"/>
          <p:cNvSpPr/>
          <p:nvPr/>
        </p:nvSpPr>
        <p:spPr>
          <a:xfrm>
            <a:off x="4297680" y="3950208"/>
            <a:ext cx="5029200" cy="585216"/>
          </a:xfrm>
          <a:prstGeom prst="rect">
            <a:avLst/>
          </a:prstGeom>
          <a:solidFill>
            <a:srgbClr val="ECEFF1"/>
          </a:solidFill>
          <a:ln w="12700">
            <a:solidFill>
              <a:srgbClr val="CFD8DC"/>
            </a:solidFill>
            <a:prstDash val="solid"/>
          </a:ln>
        </p:spPr>
        <p:txBody>
          <a:bodyPr/>
          <a:lstStyle/>
          <a:p>
            <a:endParaRPr lang="en-US"/>
          </a:p>
        </p:txBody>
      </p:sp>
      <p:sp>
        <p:nvSpPr>
          <p:cNvPr id="65" name="Text 63"/>
          <p:cNvSpPr/>
          <p:nvPr/>
        </p:nvSpPr>
        <p:spPr>
          <a:xfrm>
            <a:off x="4343400" y="3986784"/>
            <a:ext cx="4937760" cy="512064"/>
          </a:xfrm>
          <a:prstGeom prst="rect">
            <a:avLst/>
          </a:prstGeom>
          <a:noFill/>
          <a:ln/>
        </p:spPr>
        <p:txBody>
          <a:bodyPr wrap="square" rtlCol="0" anchor="ctr"/>
          <a:lstStyle/>
          <a:p>
            <a:pPr marL="0" indent="0" algn="l">
              <a:buNone/>
            </a:pPr>
            <a:r>
              <a:rPr lang="en-US" sz="950" dirty="0">
                <a:solidFill>
                  <a:srgbClr val="1C2833"/>
                </a:solidFill>
                <a:latin typeface="Calibri" pitchFamily="34" charset="0"/>
                <a:ea typeface="Calibri" pitchFamily="34" charset="-122"/>
                <a:cs typeface="Calibri" pitchFamily="34" charset="-120"/>
              </a:rPr>
              <a:t>1,923 drugs × 3,770 targets; heterogeneous network dataset; used by GSRF-DTI baseline</a:t>
            </a:r>
            <a:endParaRPr lang="en-US" sz="950" dirty="0"/>
          </a:p>
        </p:txBody>
      </p:sp>
      <p:sp>
        <p:nvSpPr>
          <p:cNvPr id="66" name="Shape 64"/>
          <p:cNvSpPr/>
          <p:nvPr/>
        </p:nvSpPr>
        <p:spPr>
          <a:xfrm>
            <a:off x="9363456" y="4041648"/>
            <a:ext cx="2331720" cy="402336"/>
          </a:xfrm>
          <a:prstGeom prst="roundRect">
            <a:avLst>
              <a:gd name="adj" fmla="val 13636"/>
            </a:avLst>
          </a:prstGeom>
          <a:solidFill>
            <a:srgbClr val="E65100"/>
          </a:solidFill>
          <a:ln w="12700">
            <a:solidFill>
              <a:srgbClr val="E65100"/>
            </a:solidFill>
            <a:prstDash val="solid"/>
          </a:ln>
        </p:spPr>
        <p:txBody>
          <a:bodyPr/>
          <a:lstStyle/>
          <a:p>
            <a:endParaRPr lang="en-US"/>
          </a:p>
        </p:txBody>
      </p:sp>
      <p:sp>
        <p:nvSpPr>
          <p:cNvPr id="67" name="Text 65"/>
          <p:cNvSpPr/>
          <p:nvPr/>
        </p:nvSpPr>
        <p:spPr>
          <a:xfrm>
            <a:off x="9409176" y="4041648"/>
            <a:ext cx="2240280"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DTI Classification</a:t>
            </a:r>
            <a:endParaRPr lang="en-US" sz="1000" dirty="0"/>
          </a:p>
        </p:txBody>
      </p:sp>
      <p:sp>
        <p:nvSpPr>
          <p:cNvPr id="68" name="Shape 66"/>
          <p:cNvSpPr/>
          <p:nvPr/>
        </p:nvSpPr>
        <p:spPr>
          <a:xfrm>
            <a:off x="256032" y="4572000"/>
            <a:ext cx="1463040" cy="585216"/>
          </a:xfrm>
          <a:prstGeom prst="rect">
            <a:avLst/>
          </a:prstGeom>
          <a:solidFill>
            <a:srgbClr val="FFFFFF"/>
          </a:solidFill>
          <a:ln w="12700">
            <a:solidFill>
              <a:srgbClr val="CFD8DC"/>
            </a:solidFill>
            <a:prstDash val="solid"/>
          </a:ln>
        </p:spPr>
        <p:txBody>
          <a:bodyPr/>
          <a:lstStyle/>
          <a:p>
            <a:endParaRPr lang="en-US"/>
          </a:p>
        </p:txBody>
      </p:sp>
      <p:sp>
        <p:nvSpPr>
          <p:cNvPr id="69" name="Text 67"/>
          <p:cNvSpPr/>
          <p:nvPr/>
        </p:nvSpPr>
        <p:spPr>
          <a:xfrm>
            <a:off x="301752" y="4608576"/>
            <a:ext cx="1371600" cy="512064"/>
          </a:xfrm>
          <a:prstGeom prst="rect">
            <a:avLst/>
          </a:prstGeom>
          <a:noFill/>
          <a:ln/>
        </p:spPr>
        <p:txBody>
          <a:bodyPr wrap="square" rtlCol="0" anchor="ctr"/>
          <a:lstStyle/>
          <a:p>
            <a:pPr marL="0" indent="0" algn="ctr">
              <a:buNone/>
            </a:pPr>
            <a:r>
              <a:rPr lang="en-US" sz="1050" b="1" dirty="0">
                <a:solidFill>
                  <a:srgbClr val="B71C1C"/>
                </a:solidFill>
                <a:latin typeface="Calibri" pitchFamily="34" charset="0"/>
                <a:ea typeface="Calibri" pitchFamily="34" charset="-122"/>
                <a:cs typeface="Calibri" pitchFamily="34" charset="-120"/>
              </a:rPr>
              <a:t>DrugBank</a:t>
            </a:r>
            <a:endParaRPr lang="en-US" sz="1050" dirty="0"/>
          </a:p>
        </p:txBody>
      </p:sp>
      <p:sp>
        <p:nvSpPr>
          <p:cNvPr id="70" name="Shape 68"/>
          <p:cNvSpPr/>
          <p:nvPr/>
        </p:nvSpPr>
        <p:spPr>
          <a:xfrm>
            <a:off x="1755648" y="4572000"/>
            <a:ext cx="1188720" cy="585216"/>
          </a:xfrm>
          <a:prstGeom prst="rect">
            <a:avLst/>
          </a:prstGeom>
          <a:solidFill>
            <a:srgbClr val="FFFFFF"/>
          </a:solidFill>
          <a:ln w="12700">
            <a:solidFill>
              <a:srgbClr val="CFD8DC"/>
            </a:solidFill>
            <a:prstDash val="solid"/>
          </a:ln>
        </p:spPr>
        <p:txBody>
          <a:bodyPr/>
          <a:lstStyle/>
          <a:p>
            <a:endParaRPr lang="en-US"/>
          </a:p>
        </p:txBody>
      </p:sp>
      <p:sp>
        <p:nvSpPr>
          <p:cNvPr id="71" name="Text 69"/>
          <p:cNvSpPr/>
          <p:nvPr/>
        </p:nvSpPr>
        <p:spPr>
          <a:xfrm>
            <a:off x="1801368" y="4608576"/>
            <a:ext cx="109728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Supplementary</a:t>
            </a:r>
            <a:endParaRPr lang="en-US" sz="1050" dirty="0"/>
          </a:p>
        </p:txBody>
      </p:sp>
      <p:sp>
        <p:nvSpPr>
          <p:cNvPr id="72" name="Shape 70"/>
          <p:cNvSpPr/>
          <p:nvPr/>
        </p:nvSpPr>
        <p:spPr>
          <a:xfrm>
            <a:off x="2980944" y="4572000"/>
            <a:ext cx="1280160" cy="585216"/>
          </a:xfrm>
          <a:prstGeom prst="rect">
            <a:avLst/>
          </a:prstGeom>
          <a:solidFill>
            <a:srgbClr val="FFFFFF"/>
          </a:solidFill>
          <a:ln w="12700">
            <a:solidFill>
              <a:srgbClr val="CFD8DC"/>
            </a:solidFill>
            <a:prstDash val="solid"/>
          </a:ln>
        </p:spPr>
        <p:txBody>
          <a:bodyPr/>
          <a:lstStyle/>
          <a:p>
            <a:endParaRPr lang="en-US"/>
          </a:p>
        </p:txBody>
      </p:sp>
      <p:sp>
        <p:nvSpPr>
          <p:cNvPr id="73" name="Text 71"/>
          <p:cNvSpPr/>
          <p:nvPr/>
        </p:nvSpPr>
        <p:spPr>
          <a:xfrm>
            <a:off x="3026664" y="4608576"/>
            <a:ext cx="118872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Feature + Pretrain</a:t>
            </a:r>
            <a:endParaRPr lang="en-US" sz="1050" dirty="0"/>
          </a:p>
        </p:txBody>
      </p:sp>
      <p:sp>
        <p:nvSpPr>
          <p:cNvPr id="74" name="Shape 72"/>
          <p:cNvSpPr/>
          <p:nvPr/>
        </p:nvSpPr>
        <p:spPr>
          <a:xfrm>
            <a:off x="4297680" y="4572000"/>
            <a:ext cx="5029200" cy="585216"/>
          </a:xfrm>
          <a:prstGeom prst="rect">
            <a:avLst/>
          </a:prstGeom>
          <a:solidFill>
            <a:srgbClr val="FFFFFF"/>
          </a:solidFill>
          <a:ln w="12700">
            <a:solidFill>
              <a:srgbClr val="CFD8DC"/>
            </a:solidFill>
            <a:prstDash val="solid"/>
          </a:ln>
        </p:spPr>
        <p:txBody>
          <a:bodyPr/>
          <a:lstStyle/>
          <a:p>
            <a:endParaRPr lang="en-US"/>
          </a:p>
        </p:txBody>
      </p:sp>
      <p:sp>
        <p:nvSpPr>
          <p:cNvPr id="75" name="Text 73"/>
          <p:cNvSpPr/>
          <p:nvPr/>
        </p:nvSpPr>
        <p:spPr>
          <a:xfrm>
            <a:off x="4343400" y="4608576"/>
            <a:ext cx="4937760" cy="512064"/>
          </a:xfrm>
          <a:prstGeom prst="rect">
            <a:avLst/>
          </a:prstGeom>
          <a:noFill/>
          <a:ln/>
        </p:spPr>
        <p:txBody>
          <a:bodyPr wrap="square" rtlCol="0" anchor="ctr"/>
          <a:lstStyle/>
          <a:p>
            <a:pPr marL="0" indent="0" algn="l">
              <a:buNone/>
            </a:pPr>
            <a:r>
              <a:rPr lang="en-US" sz="950" dirty="0">
                <a:solidFill>
                  <a:srgbClr val="1C2833"/>
                </a:solidFill>
                <a:latin typeface="Calibri" pitchFamily="34" charset="0"/>
                <a:ea typeface="Calibri" pitchFamily="34" charset="-122"/>
                <a:cs typeface="Calibri" pitchFamily="34" charset="-120"/>
              </a:rPr>
              <a:t>Approved/experimental drugs with annotated targets; used for pretraining and generalizability testing</a:t>
            </a:r>
            <a:endParaRPr lang="en-US" sz="950" dirty="0"/>
          </a:p>
        </p:txBody>
      </p:sp>
      <p:sp>
        <p:nvSpPr>
          <p:cNvPr id="76" name="Shape 74"/>
          <p:cNvSpPr/>
          <p:nvPr/>
        </p:nvSpPr>
        <p:spPr>
          <a:xfrm>
            <a:off x="9363456" y="4663440"/>
            <a:ext cx="2331720" cy="402336"/>
          </a:xfrm>
          <a:prstGeom prst="roundRect">
            <a:avLst>
              <a:gd name="adj" fmla="val 13636"/>
            </a:avLst>
          </a:prstGeom>
          <a:solidFill>
            <a:srgbClr val="B71C1C"/>
          </a:solidFill>
          <a:ln w="12700">
            <a:solidFill>
              <a:srgbClr val="B71C1C"/>
            </a:solidFill>
            <a:prstDash val="solid"/>
          </a:ln>
        </p:spPr>
        <p:txBody>
          <a:bodyPr/>
          <a:lstStyle/>
          <a:p>
            <a:endParaRPr lang="en-US"/>
          </a:p>
        </p:txBody>
      </p:sp>
      <p:sp>
        <p:nvSpPr>
          <p:cNvPr id="77" name="Text 75"/>
          <p:cNvSpPr/>
          <p:nvPr/>
        </p:nvSpPr>
        <p:spPr>
          <a:xfrm>
            <a:off x="9409176" y="4663440"/>
            <a:ext cx="2240280"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Feature + Pretrain</a:t>
            </a:r>
            <a:endParaRPr lang="en-US" sz="1000" dirty="0"/>
          </a:p>
        </p:txBody>
      </p:sp>
      <p:sp>
        <p:nvSpPr>
          <p:cNvPr id="78" name="Shape 76"/>
          <p:cNvSpPr/>
          <p:nvPr/>
        </p:nvSpPr>
        <p:spPr>
          <a:xfrm>
            <a:off x="256032" y="5193792"/>
            <a:ext cx="1463040" cy="585216"/>
          </a:xfrm>
          <a:prstGeom prst="rect">
            <a:avLst/>
          </a:prstGeom>
          <a:solidFill>
            <a:srgbClr val="ECEFF1"/>
          </a:solidFill>
          <a:ln w="12700">
            <a:solidFill>
              <a:srgbClr val="CFD8DC"/>
            </a:solidFill>
            <a:prstDash val="solid"/>
          </a:ln>
        </p:spPr>
        <p:txBody>
          <a:bodyPr/>
          <a:lstStyle/>
          <a:p>
            <a:endParaRPr lang="en-US"/>
          </a:p>
        </p:txBody>
      </p:sp>
      <p:sp>
        <p:nvSpPr>
          <p:cNvPr id="79" name="Text 77"/>
          <p:cNvSpPr/>
          <p:nvPr/>
        </p:nvSpPr>
        <p:spPr>
          <a:xfrm>
            <a:off x="301752" y="5230368"/>
            <a:ext cx="1371600" cy="512064"/>
          </a:xfrm>
          <a:prstGeom prst="rect">
            <a:avLst/>
          </a:prstGeom>
          <a:noFill/>
          <a:ln/>
        </p:spPr>
        <p:txBody>
          <a:bodyPr wrap="square" rtlCol="0" anchor="ctr"/>
          <a:lstStyle/>
          <a:p>
            <a:pPr marL="0" indent="0" algn="ctr">
              <a:buNone/>
            </a:pPr>
            <a:r>
              <a:rPr lang="en-US" sz="1050" b="1" dirty="0">
                <a:solidFill>
                  <a:srgbClr val="4A148C"/>
                </a:solidFill>
                <a:latin typeface="Calibri" pitchFamily="34" charset="0"/>
                <a:ea typeface="Calibri" pitchFamily="34" charset="-122"/>
                <a:cs typeface="Calibri" pitchFamily="34" charset="-120"/>
              </a:rPr>
              <a:t>ChEMBL</a:t>
            </a:r>
            <a:endParaRPr lang="en-US" sz="1050" dirty="0"/>
          </a:p>
        </p:txBody>
      </p:sp>
      <p:sp>
        <p:nvSpPr>
          <p:cNvPr id="80" name="Shape 78"/>
          <p:cNvSpPr/>
          <p:nvPr/>
        </p:nvSpPr>
        <p:spPr>
          <a:xfrm>
            <a:off x="1755648" y="5193792"/>
            <a:ext cx="1188720" cy="585216"/>
          </a:xfrm>
          <a:prstGeom prst="rect">
            <a:avLst/>
          </a:prstGeom>
          <a:solidFill>
            <a:srgbClr val="ECEFF1"/>
          </a:solidFill>
          <a:ln w="12700">
            <a:solidFill>
              <a:srgbClr val="CFD8DC"/>
            </a:solidFill>
            <a:prstDash val="solid"/>
          </a:ln>
        </p:spPr>
        <p:txBody>
          <a:bodyPr/>
          <a:lstStyle/>
          <a:p>
            <a:endParaRPr lang="en-US"/>
          </a:p>
        </p:txBody>
      </p:sp>
      <p:sp>
        <p:nvSpPr>
          <p:cNvPr id="81" name="Text 79"/>
          <p:cNvSpPr/>
          <p:nvPr/>
        </p:nvSpPr>
        <p:spPr>
          <a:xfrm>
            <a:off x="1801368" y="5230368"/>
            <a:ext cx="109728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Large-scale</a:t>
            </a:r>
            <a:endParaRPr lang="en-US" sz="1050" dirty="0"/>
          </a:p>
        </p:txBody>
      </p:sp>
      <p:sp>
        <p:nvSpPr>
          <p:cNvPr id="82" name="Shape 80"/>
          <p:cNvSpPr/>
          <p:nvPr/>
        </p:nvSpPr>
        <p:spPr>
          <a:xfrm>
            <a:off x="2980944" y="5193792"/>
            <a:ext cx="1280160" cy="585216"/>
          </a:xfrm>
          <a:prstGeom prst="rect">
            <a:avLst/>
          </a:prstGeom>
          <a:solidFill>
            <a:srgbClr val="ECEFF1"/>
          </a:solidFill>
          <a:ln w="12700">
            <a:solidFill>
              <a:srgbClr val="CFD8DC"/>
            </a:solidFill>
            <a:prstDash val="solid"/>
          </a:ln>
        </p:spPr>
        <p:txBody>
          <a:bodyPr/>
          <a:lstStyle/>
          <a:p>
            <a:endParaRPr lang="en-US"/>
          </a:p>
        </p:txBody>
      </p:sp>
      <p:sp>
        <p:nvSpPr>
          <p:cNvPr id="83" name="Text 81"/>
          <p:cNvSpPr/>
          <p:nvPr/>
        </p:nvSpPr>
        <p:spPr>
          <a:xfrm>
            <a:off x="3026664" y="5230368"/>
            <a:ext cx="1188720" cy="512064"/>
          </a:xfrm>
          <a:prstGeom prst="rect">
            <a:avLst/>
          </a:prstGeom>
          <a:noFill/>
          <a:ln/>
        </p:spPr>
        <p:txBody>
          <a:bodyPr wrap="square"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DTI + DTA</a:t>
            </a:r>
            <a:endParaRPr lang="en-US" sz="1050" dirty="0"/>
          </a:p>
        </p:txBody>
      </p:sp>
      <p:sp>
        <p:nvSpPr>
          <p:cNvPr id="84" name="Shape 82"/>
          <p:cNvSpPr/>
          <p:nvPr/>
        </p:nvSpPr>
        <p:spPr>
          <a:xfrm>
            <a:off x="4297680" y="5193792"/>
            <a:ext cx="5029200" cy="585216"/>
          </a:xfrm>
          <a:prstGeom prst="rect">
            <a:avLst/>
          </a:prstGeom>
          <a:solidFill>
            <a:srgbClr val="ECEFF1"/>
          </a:solidFill>
          <a:ln w="12700">
            <a:solidFill>
              <a:srgbClr val="CFD8DC"/>
            </a:solidFill>
            <a:prstDash val="solid"/>
          </a:ln>
        </p:spPr>
        <p:txBody>
          <a:bodyPr/>
          <a:lstStyle/>
          <a:p>
            <a:endParaRPr lang="en-US"/>
          </a:p>
        </p:txBody>
      </p:sp>
      <p:sp>
        <p:nvSpPr>
          <p:cNvPr id="85" name="Text 83"/>
          <p:cNvSpPr/>
          <p:nvPr/>
        </p:nvSpPr>
        <p:spPr>
          <a:xfrm>
            <a:off x="4343400" y="5230368"/>
            <a:ext cx="4937760" cy="512064"/>
          </a:xfrm>
          <a:prstGeom prst="rect">
            <a:avLst/>
          </a:prstGeom>
          <a:noFill/>
          <a:ln/>
        </p:spPr>
        <p:txBody>
          <a:bodyPr wrap="square" rtlCol="0" anchor="ctr"/>
          <a:lstStyle/>
          <a:p>
            <a:pPr marL="0" indent="0" algn="l">
              <a:buNone/>
            </a:pPr>
            <a:r>
              <a:rPr lang="en-US" sz="950" dirty="0">
                <a:solidFill>
                  <a:srgbClr val="1C2833"/>
                </a:solidFill>
                <a:latin typeface="Calibri" pitchFamily="34" charset="0"/>
                <a:ea typeface="Calibri" pitchFamily="34" charset="-122"/>
                <a:cs typeface="Calibri" pitchFamily="34" charset="-120"/>
              </a:rPr>
              <a:t>~2M compounds; comprehensive bioactivity; supports pretraining and large-scale benchmarking</a:t>
            </a:r>
            <a:endParaRPr lang="en-US" sz="950" dirty="0"/>
          </a:p>
        </p:txBody>
      </p:sp>
      <p:sp>
        <p:nvSpPr>
          <p:cNvPr id="86" name="Shape 84"/>
          <p:cNvSpPr/>
          <p:nvPr/>
        </p:nvSpPr>
        <p:spPr>
          <a:xfrm>
            <a:off x="9363456" y="5285232"/>
            <a:ext cx="2331720" cy="402336"/>
          </a:xfrm>
          <a:prstGeom prst="roundRect">
            <a:avLst>
              <a:gd name="adj" fmla="val 13636"/>
            </a:avLst>
          </a:prstGeom>
          <a:solidFill>
            <a:srgbClr val="4A148C"/>
          </a:solidFill>
          <a:ln w="12700">
            <a:solidFill>
              <a:srgbClr val="4A148C"/>
            </a:solidFill>
            <a:prstDash val="solid"/>
          </a:ln>
        </p:spPr>
        <p:txBody>
          <a:bodyPr/>
          <a:lstStyle/>
          <a:p>
            <a:endParaRPr lang="en-US"/>
          </a:p>
        </p:txBody>
      </p:sp>
      <p:sp>
        <p:nvSpPr>
          <p:cNvPr id="87" name="Text 85"/>
          <p:cNvSpPr/>
          <p:nvPr/>
        </p:nvSpPr>
        <p:spPr>
          <a:xfrm>
            <a:off x="9409176" y="5285232"/>
            <a:ext cx="2240280"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DTI + DTA</a:t>
            </a:r>
            <a:endParaRPr lang="en-US" sz="1000" dirty="0"/>
          </a:p>
        </p:txBody>
      </p:sp>
      <p:sp>
        <p:nvSpPr>
          <p:cNvPr id="89" name="Text 86"/>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Data Preprocessing Pipeline</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sp>
        <p:nvSpPr>
          <p:cNvPr id="8" name="Shape 6"/>
          <p:cNvSpPr/>
          <p:nvPr/>
        </p:nvSpPr>
        <p:spPr>
          <a:xfrm>
            <a:off x="256032" y="1078992"/>
            <a:ext cx="5577840" cy="2331720"/>
          </a:xfrm>
          <a:prstGeom prst="roundRect">
            <a:avLst>
              <a:gd name="adj" fmla="val 3137"/>
            </a:avLst>
          </a:prstGeom>
          <a:solidFill>
            <a:srgbClr val="DDEEFF"/>
          </a:solidFill>
          <a:ln w="12700">
            <a:solidFill>
              <a:srgbClr val="1565C0"/>
            </a:solidFill>
            <a:prstDash val="solid"/>
          </a:ln>
        </p:spPr>
        <p:txBody>
          <a:bodyPr/>
          <a:lstStyle/>
          <a:p>
            <a:endParaRPr lang="en-US"/>
          </a:p>
        </p:txBody>
      </p:sp>
      <p:sp>
        <p:nvSpPr>
          <p:cNvPr id="9" name="Shape 7"/>
          <p:cNvSpPr/>
          <p:nvPr/>
        </p:nvSpPr>
        <p:spPr>
          <a:xfrm>
            <a:off x="256032" y="1078992"/>
            <a:ext cx="5577840" cy="347472"/>
          </a:xfrm>
          <a:prstGeom prst="rect">
            <a:avLst/>
          </a:prstGeom>
          <a:solidFill>
            <a:srgbClr val="1565C0"/>
          </a:solidFill>
          <a:ln w="12700">
            <a:solidFill>
              <a:srgbClr val="1565C0"/>
            </a:solidFill>
            <a:prstDash val="solid"/>
          </a:ln>
        </p:spPr>
        <p:txBody>
          <a:bodyPr/>
          <a:lstStyle/>
          <a:p>
            <a:endParaRPr lang="en-US"/>
          </a:p>
        </p:txBody>
      </p:sp>
      <p:sp>
        <p:nvSpPr>
          <p:cNvPr id="10" name="Text 8"/>
          <p:cNvSpPr/>
          <p:nvPr/>
        </p:nvSpPr>
        <p:spPr>
          <a:xfrm>
            <a:off x="347472" y="1115568"/>
            <a:ext cx="5394960" cy="30175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Drug Representation: SMILES → Molecular Graph</a:t>
            </a:r>
            <a:endParaRPr lang="en-US" sz="1200" dirty="0"/>
          </a:p>
        </p:txBody>
      </p:sp>
      <p:sp>
        <p:nvSpPr>
          <p:cNvPr id="11" name="Text 9"/>
          <p:cNvSpPr/>
          <p:nvPr/>
        </p:nvSpPr>
        <p:spPr>
          <a:xfrm>
            <a:off x="393192" y="1463040"/>
            <a:ext cx="5321808" cy="1874520"/>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1. SMILES string validated and standardized using RDKit</a:t>
            </a:r>
            <a:endParaRPr lang="en-US" sz="1050" dirty="0"/>
          </a:p>
          <a:p>
            <a:r>
              <a:rPr lang="en-US" sz="1050" dirty="0">
                <a:solidFill>
                  <a:srgbClr val="1C2833"/>
                </a:solidFill>
                <a:latin typeface="Calibri" pitchFamily="34" charset="0"/>
                <a:ea typeface="Calibri" pitchFamily="34" charset="-122"/>
                <a:cs typeface="Calibri" pitchFamily="34" charset="-120"/>
              </a:rPr>
              <a:t>2. Molecular graph G = (V, E) constructed: atoms=nodes, bonds=edges</a:t>
            </a:r>
            <a:endParaRPr lang="en-US" sz="1050" dirty="0"/>
          </a:p>
          <a:p>
            <a:r>
              <a:rPr lang="en-US" sz="1050" dirty="0">
                <a:solidFill>
                  <a:srgbClr val="1C2833"/>
                </a:solidFill>
                <a:latin typeface="Calibri" pitchFamily="34" charset="0"/>
                <a:ea typeface="Calibri" pitchFamily="34" charset="-122"/>
                <a:cs typeface="Calibri" pitchFamily="34" charset="-120"/>
              </a:rPr>
              <a:t>3. Node features (12D): atomic number, degree, hybridization, aromaticity, formal charge, ring, chirality</a:t>
            </a:r>
            <a:endParaRPr lang="en-US" sz="1050" dirty="0"/>
          </a:p>
          <a:p>
            <a:r>
              <a:rPr lang="en-US" sz="1050" dirty="0">
                <a:solidFill>
                  <a:srgbClr val="1C2833"/>
                </a:solidFill>
                <a:latin typeface="Calibri" pitchFamily="34" charset="0"/>
                <a:ea typeface="Calibri" pitchFamily="34" charset="-122"/>
                <a:cs typeface="Calibri" pitchFamily="34" charset="-120"/>
              </a:rPr>
              <a:t>4. Edge features: bond type (single/double/triple/aromatic), conjugation, ring membership</a:t>
            </a:r>
            <a:endParaRPr lang="en-US" sz="1050" dirty="0"/>
          </a:p>
          <a:p>
            <a:r>
              <a:rPr lang="en-US" sz="1050" dirty="0">
                <a:solidFill>
                  <a:srgbClr val="1C2833"/>
                </a:solidFill>
                <a:latin typeface="Calibri" pitchFamily="34" charset="0"/>
                <a:ea typeface="Calibri" pitchFamily="34" charset="-122"/>
                <a:cs typeface="Calibri" pitchFamily="34" charset="-120"/>
              </a:rPr>
              <a:t>5. ChemBERTa embeddings concatenated to node features for richer initialization</a:t>
            </a:r>
            <a:endParaRPr lang="en-US" sz="1050" dirty="0"/>
          </a:p>
        </p:txBody>
      </p:sp>
      <p:sp>
        <p:nvSpPr>
          <p:cNvPr id="12" name="Shape 10"/>
          <p:cNvSpPr/>
          <p:nvPr/>
        </p:nvSpPr>
        <p:spPr>
          <a:xfrm>
            <a:off x="5943600" y="1078992"/>
            <a:ext cx="5971032" cy="2331720"/>
          </a:xfrm>
          <a:prstGeom prst="roundRect">
            <a:avLst>
              <a:gd name="adj" fmla="val 3137"/>
            </a:avLst>
          </a:prstGeom>
          <a:solidFill>
            <a:srgbClr val="C8E6C9"/>
          </a:solidFill>
          <a:ln w="12700">
            <a:solidFill>
              <a:srgbClr val="1B5E20"/>
            </a:solidFill>
            <a:prstDash val="solid"/>
          </a:ln>
        </p:spPr>
        <p:txBody>
          <a:bodyPr/>
          <a:lstStyle/>
          <a:p>
            <a:endParaRPr lang="en-US"/>
          </a:p>
        </p:txBody>
      </p:sp>
      <p:sp>
        <p:nvSpPr>
          <p:cNvPr id="13" name="Shape 11"/>
          <p:cNvSpPr/>
          <p:nvPr/>
        </p:nvSpPr>
        <p:spPr>
          <a:xfrm>
            <a:off x="5943600" y="1078992"/>
            <a:ext cx="5971032" cy="347472"/>
          </a:xfrm>
          <a:prstGeom prst="rect">
            <a:avLst/>
          </a:prstGeom>
          <a:solidFill>
            <a:srgbClr val="1B5E20"/>
          </a:solidFill>
          <a:ln w="12700">
            <a:solidFill>
              <a:srgbClr val="1B5E20"/>
            </a:solidFill>
            <a:prstDash val="solid"/>
          </a:ln>
        </p:spPr>
        <p:txBody>
          <a:bodyPr/>
          <a:lstStyle/>
          <a:p>
            <a:endParaRPr lang="en-US"/>
          </a:p>
        </p:txBody>
      </p:sp>
      <p:sp>
        <p:nvSpPr>
          <p:cNvPr id="14" name="Text 12"/>
          <p:cNvSpPr/>
          <p:nvPr/>
        </p:nvSpPr>
        <p:spPr>
          <a:xfrm>
            <a:off x="6035040" y="1115568"/>
            <a:ext cx="5788152" cy="301752"/>
          </a:xfrm>
          <a:prstGeom prst="rect">
            <a:avLst/>
          </a:prstGeom>
          <a:noFill/>
          <a:ln/>
        </p:spPr>
        <p:txBody>
          <a:bodyPr wrap="square"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Protein Representation: FASTA → Contextual Embeddings</a:t>
            </a:r>
            <a:endParaRPr lang="en-US" sz="1200" dirty="0"/>
          </a:p>
        </p:txBody>
      </p:sp>
      <p:sp>
        <p:nvSpPr>
          <p:cNvPr id="15" name="Text 13"/>
          <p:cNvSpPr/>
          <p:nvPr/>
        </p:nvSpPr>
        <p:spPr>
          <a:xfrm>
            <a:off x="6080760" y="1463040"/>
            <a:ext cx="5715000" cy="1874520"/>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1. FASTA sequences cleaned; non-standard amino acids removed</a:t>
            </a:r>
            <a:endParaRPr lang="en-US" sz="1050" dirty="0"/>
          </a:p>
          <a:p>
            <a:r>
              <a:rPr lang="en-US" sz="1050" dirty="0">
                <a:solidFill>
                  <a:srgbClr val="1C2833"/>
                </a:solidFill>
                <a:latin typeface="Calibri" pitchFamily="34" charset="0"/>
                <a:ea typeface="Calibri" pitchFamily="34" charset="-122"/>
                <a:cs typeface="Calibri" pitchFamily="34" charset="-120"/>
              </a:rPr>
              <a:t>2. Tokenized at residue level (20 amino acids + special tokens)</a:t>
            </a:r>
            <a:endParaRPr lang="en-US" sz="1050" dirty="0"/>
          </a:p>
          <a:p>
            <a:r>
              <a:rPr lang="en-US" sz="1050" dirty="0">
                <a:solidFill>
                  <a:srgbClr val="1C2833"/>
                </a:solidFill>
                <a:latin typeface="Calibri" pitchFamily="34" charset="0"/>
                <a:ea typeface="Calibri" pitchFamily="34" charset="-122"/>
                <a:cs typeface="Calibri" pitchFamily="34" charset="-120"/>
              </a:rPr>
              <a:t>3. ESM-2 (650M parameters) generates residue-level contextual embeddings</a:t>
            </a:r>
            <a:endParaRPr lang="en-US" sz="1050" dirty="0"/>
          </a:p>
          <a:p>
            <a:r>
              <a:rPr lang="en-US" sz="1050" dirty="0">
                <a:solidFill>
                  <a:srgbClr val="1C2833"/>
                </a:solidFill>
                <a:latin typeface="Calibri" pitchFamily="34" charset="0"/>
                <a:ea typeface="Calibri" pitchFamily="34" charset="-122"/>
                <a:cs typeface="Calibri" pitchFamily="34" charset="-120"/>
              </a:rPr>
              <a:t>4. Sequences padded/truncated to max length 1,200 residues for batch processing</a:t>
            </a:r>
            <a:endParaRPr lang="en-US" sz="1050" dirty="0"/>
          </a:p>
          <a:p>
            <a:r>
              <a:rPr lang="en-US" sz="1050" dirty="0">
                <a:solidFill>
                  <a:srgbClr val="1C2833"/>
                </a:solidFill>
                <a:latin typeface="Calibri" pitchFamily="34" charset="0"/>
                <a:ea typeface="Calibri" pitchFamily="34" charset="-122"/>
                <a:cs typeface="Calibri" pitchFamily="34" charset="-120"/>
              </a:rPr>
              <a:t>5. Attention mask applied to ignore padding tokens in RNN/pooling layers</a:t>
            </a:r>
            <a:endParaRPr lang="en-US" sz="1050" dirty="0"/>
          </a:p>
        </p:txBody>
      </p:sp>
      <p:sp>
        <p:nvSpPr>
          <p:cNvPr id="16" name="Shape 14"/>
          <p:cNvSpPr/>
          <p:nvPr/>
        </p:nvSpPr>
        <p:spPr>
          <a:xfrm>
            <a:off x="256032" y="3529584"/>
            <a:ext cx="5577840" cy="2157984"/>
          </a:xfrm>
          <a:prstGeom prst="roundRect">
            <a:avLst>
              <a:gd name="adj" fmla="val 3390"/>
            </a:avLst>
          </a:prstGeom>
          <a:solidFill>
            <a:srgbClr val="FFF9C4"/>
          </a:solidFill>
          <a:ln w="12700">
            <a:solidFill>
              <a:srgbClr val="F57F17"/>
            </a:solidFill>
            <a:prstDash val="solid"/>
          </a:ln>
        </p:spPr>
        <p:txBody>
          <a:bodyPr/>
          <a:lstStyle/>
          <a:p>
            <a:endParaRPr lang="en-US"/>
          </a:p>
        </p:txBody>
      </p:sp>
      <p:sp>
        <p:nvSpPr>
          <p:cNvPr id="17" name="Shape 15"/>
          <p:cNvSpPr/>
          <p:nvPr/>
        </p:nvSpPr>
        <p:spPr>
          <a:xfrm>
            <a:off x="256032" y="3529584"/>
            <a:ext cx="5577840" cy="347472"/>
          </a:xfrm>
          <a:prstGeom prst="rect">
            <a:avLst/>
          </a:prstGeom>
          <a:solidFill>
            <a:srgbClr val="F57F17"/>
          </a:solidFill>
          <a:ln w="12700">
            <a:solidFill>
              <a:srgbClr val="F57F17"/>
            </a:solidFill>
            <a:prstDash val="solid"/>
          </a:ln>
        </p:spPr>
        <p:txBody>
          <a:bodyPr/>
          <a:lstStyle/>
          <a:p>
            <a:endParaRPr lang="en-US"/>
          </a:p>
        </p:txBody>
      </p:sp>
      <p:sp>
        <p:nvSpPr>
          <p:cNvPr id="18" name="Text 16"/>
          <p:cNvSpPr/>
          <p:nvPr/>
        </p:nvSpPr>
        <p:spPr>
          <a:xfrm>
            <a:off x="347472" y="3566160"/>
            <a:ext cx="5394960" cy="301752"/>
          </a:xfrm>
          <a:prstGeom prst="rect">
            <a:avLst/>
          </a:prstGeom>
          <a:noFill/>
          <a:ln/>
        </p:spPr>
        <p:txBody>
          <a:bodyPr wrap="square" rtlCol="0" anchor="ctr"/>
          <a:lstStyle/>
          <a:p>
            <a:pPr marL="0" indent="0">
              <a:buNone/>
            </a:pPr>
            <a:r>
              <a:rPr lang="en-US" sz="1200" b="1" dirty="0">
                <a:solidFill>
                  <a:srgbClr val="F57F17"/>
                </a:solidFill>
                <a:latin typeface="Calibri" pitchFamily="34" charset="0"/>
                <a:ea typeface="Calibri" pitchFamily="34" charset="-122"/>
                <a:cs typeface="Calibri" pitchFamily="34" charset="-120"/>
              </a:rPr>
              <a:t>Label Processing &amp; Negative Sampling</a:t>
            </a:r>
            <a:endParaRPr lang="en-US" sz="1200" dirty="0"/>
          </a:p>
        </p:txBody>
      </p:sp>
      <p:sp>
        <p:nvSpPr>
          <p:cNvPr id="19" name="Text 17"/>
          <p:cNvSpPr/>
          <p:nvPr/>
        </p:nvSpPr>
        <p:spPr>
          <a:xfrm>
            <a:off x="393192" y="3913632"/>
            <a:ext cx="5321808" cy="1700784"/>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Binary: positive=1 (known DTI); negative=0 via unknown-negative sampling (1:1 and 1:10 ratios)</a:t>
            </a:r>
            <a:endParaRPr lang="en-US" sz="1050" dirty="0"/>
          </a:p>
          <a:p>
            <a:r>
              <a:rPr lang="en-US" sz="1050" dirty="0">
                <a:solidFill>
                  <a:srgbClr val="1C2833"/>
                </a:solidFill>
                <a:latin typeface="Calibri" pitchFamily="34" charset="0"/>
                <a:ea typeface="Calibri" pitchFamily="34" charset="-122"/>
                <a:cs typeface="Calibri" pitchFamily="34" charset="-120"/>
              </a:rPr>
              <a:t>Regression: raw affinity values log-transformed → pKd = -log₁₀(Kd); standardized for stability</a:t>
            </a:r>
            <a:endParaRPr lang="en-US" sz="1050" dirty="0"/>
          </a:p>
          <a:p>
            <a:r>
              <a:rPr lang="en-US" sz="1050" dirty="0">
                <a:solidFill>
                  <a:srgbClr val="1C2833"/>
                </a:solidFill>
                <a:latin typeface="Calibri" pitchFamily="34" charset="0"/>
                <a:ea typeface="Calibri" pitchFamily="34" charset="-122"/>
                <a:cs typeface="Calibri" pitchFamily="34" charset="-120"/>
              </a:rPr>
              <a:t>Focal loss γ=2.0 and weighted BCE applied to address class imbalance</a:t>
            </a:r>
            <a:endParaRPr lang="en-US" sz="1050" dirty="0"/>
          </a:p>
          <a:p>
            <a:r>
              <a:rPr lang="en-US" sz="1050" dirty="0">
                <a:solidFill>
                  <a:srgbClr val="1C2833"/>
                </a:solidFill>
                <a:latin typeface="Calibri" pitchFamily="34" charset="0"/>
                <a:ea typeface="Calibri" pitchFamily="34" charset="-122"/>
                <a:cs typeface="Calibri" pitchFamily="34" charset="-120"/>
              </a:rPr>
              <a:t>Stratified sampling preserves interaction ratio across train/val/test splits</a:t>
            </a:r>
            <a:endParaRPr lang="en-US" sz="1050" dirty="0"/>
          </a:p>
        </p:txBody>
      </p:sp>
      <p:sp>
        <p:nvSpPr>
          <p:cNvPr id="20" name="Shape 18"/>
          <p:cNvSpPr/>
          <p:nvPr/>
        </p:nvSpPr>
        <p:spPr>
          <a:xfrm>
            <a:off x="5943600" y="3529584"/>
            <a:ext cx="5971032" cy="2157984"/>
          </a:xfrm>
          <a:prstGeom prst="roundRect">
            <a:avLst>
              <a:gd name="adj" fmla="val 3390"/>
            </a:avLst>
          </a:prstGeom>
          <a:solidFill>
            <a:srgbClr val="F3E5F5"/>
          </a:solidFill>
          <a:ln w="12700">
            <a:solidFill>
              <a:srgbClr val="4A148C"/>
            </a:solidFill>
            <a:prstDash val="solid"/>
          </a:ln>
        </p:spPr>
        <p:txBody>
          <a:bodyPr/>
          <a:lstStyle/>
          <a:p>
            <a:endParaRPr lang="en-US"/>
          </a:p>
        </p:txBody>
      </p:sp>
      <p:sp>
        <p:nvSpPr>
          <p:cNvPr id="21" name="Shape 19"/>
          <p:cNvSpPr/>
          <p:nvPr/>
        </p:nvSpPr>
        <p:spPr>
          <a:xfrm>
            <a:off x="5943600" y="3529584"/>
            <a:ext cx="5971032" cy="347472"/>
          </a:xfrm>
          <a:prstGeom prst="rect">
            <a:avLst/>
          </a:prstGeom>
          <a:solidFill>
            <a:srgbClr val="4A148C"/>
          </a:solidFill>
          <a:ln w="12700">
            <a:solidFill>
              <a:srgbClr val="4A148C"/>
            </a:solidFill>
            <a:prstDash val="solid"/>
          </a:ln>
        </p:spPr>
        <p:txBody>
          <a:bodyPr/>
          <a:lstStyle/>
          <a:p>
            <a:endParaRPr lang="en-US"/>
          </a:p>
        </p:txBody>
      </p:sp>
      <p:sp>
        <p:nvSpPr>
          <p:cNvPr id="22" name="Text 20"/>
          <p:cNvSpPr/>
          <p:nvPr/>
        </p:nvSpPr>
        <p:spPr>
          <a:xfrm>
            <a:off x="6035040" y="3566160"/>
            <a:ext cx="5788152" cy="30175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Data Splitting Protocols</a:t>
            </a:r>
            <a:endParaRPr lang="en-US" sz="1200" dirty="0"/>
          </a:p>
        </p:txBody>
      </p:sp>
      <p:sp>
        <p:nvSpPr>
          <p:cNvPr id="23" name="Text 21"/>
          <p:cNvSpPr/>
          <p:nvPr/>
        </p:nvSpPr>
        <p:spPr>
          <a:xfrm>
            <a:off x="6080760" y="3913632"/>
            <a:ext cx="5715000" cy="1700784"/>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S1 Warm-Start: random 10-fold CV — both drugs and targets seen in training</a:t>
            </a:r>
            <a:endParaRPr lang="en-US" sz="1050" dirty="0"/>
          </a:p>
          <a:p>
            <a:r>
              <a:rPr lang="en-US" sz="1050" dirty="0">
                <a:solidFill>
                  <a:srgbClr val="1C2833"/>
                </a:solidFill>
                <a:latin typeface="Calibri" pitchFamily="34" charset="0"/>
                <a:ea typeface="Calibri" pitchFamily="34" charset="-122"/>
                <a:cs typeface="Calibri" pitchFamily="34" charset="-120"/>
              </a:rPr>
              <a:t>S2 Cold-Drug: drug-disjoint split — test compounds never seen during training</a:t>
            </a:r>
            <a:endParaRPr lang="en-US" sz="1050" dirty="0"/>
          </a:p>
          <a:p>
            <a:r>
              <a:rPr lang="en-US" sz="1050" dirty="0">
                <a:solidFill>
                  <a:srgbClr val="1C2833"/>
                </a:solidFill>
                <a:latin typeface="Calibri" pitchFamily="34" charset="0"/>
                <a:ea typeface="Calibri" pitchFamily="34" charset="-122"/>
                <a:cs typeface="Calibri" pitchFamily="34" charset="-120"/>
              </a:rPr>
              <a:t>S3 Cold-Target: target-disjoint split — test proteins never seen during training</a:t>
            </a:r>
            <a:endParaRPr lang="en-US" sz="1050" dirty="0"/>
          </a:p>
          <a:p>
            <a:r>
              <a:rPr lang="en-US" sz="1050" dirty="0">
                <a:solidFill>
                  <a:srgbClr val="1C2833"/>
                </a:solidFill>
                <a:latin typeface="Calibri" pitchFamily="34" charset="0"/>
                <a:ea typeface="Calibri" pitchFamily="34" charset="-122"/>
                <a:cs typeface="Calibri" pitchFamily="34" charset="-120"/>
              </a:rPr>
              <a:t>Cross-Dataset: train on BindingDB, test on DAVIS — evaluates transferability</a:t>
            </a:r>
            <a:endParaRPr lang="en-US" sz="1050" dirty="0"/>
          </a:p>
          <a:p>
            <a:r>
              <a:rPr lang="en-US" sz="1050" dirty="0">
                <a:solidFill>
                  <a:srgbClr val="1C2833"/>
                </a:solidFill>
                <a:latin typeface="Calibri" pitchFamily="34" charset="0"/>
                <a:ea typeface="Calibri" pitchFamily="34" charset="-122"/>
                <a:cs typeface="Calibri" pitchFamily="34" charset="-120"/>
              </a:rPr>
              <a:t>Ablation: each component removed in turn to measure its individual contribution</a:t>
            </a:r>
            <a:endParaRPr lang="en-US" sz="1050" dirty="0"/>
          </a:p>
        </p:txBody>
      </p:sp>
      <p:sp>
        <p:nvSpPr>
          <p:cNvPr id="25" name="Text 22"/>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H-GNN-RNN-DTI: Proposed Architecture</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pic>
        <p:nvPicPr>
          <p:cNvPr id="8" name="Image 0" descr="C:\Users\Jamila\Modeling-DTI\paper\figures\fig3_architecture.png"/>
          <p:cNvPicPr>
            <a:picLocks noChangeAspect="1"/>
          </p:cNvPicPr>
          <p:nvPr/>
        </p:nvPicPr>
        <p:blipFill>
          <a:blip r:embed="rId3"/>
          <a:stretch>
            <a:fillRect/>
          </a:stretch>
        </p:blipFill>
        <p:spPr>
          <a:xfrm>
            <a:off x="256032" y="1024128"/>
            <a:ext cx="7726680" cy="5138928"/>
          </a:xfrm>
          <a:prstGeom prst="rect">
            <a:avLst/>
          </a:prstGeom>
        </p:spPr>
      </p:pic>
      <p:sp>
        <p:nvSpPr>
          <p:cNvPr id="9" name="Shape 6"/>
          <p:cNvSpPr/>
          <p:nvPr/>
        </p:nvSpPr>
        <p:spPr>
          <a:xfrm>
            <a:off x="8092440" y="1024128"/>
            <a:ext cx="3822192" cy="1536192"/>
          </a:xfrm>
          <a:prstGeom prst="roundRect">
            <a:avLst>
              <a:gd name="adj" fmla="val 4762"/>
            </a:avLst>
          </a:prstGeom>
          <a:solidFill>
            <a:srgbClr val="DDEEFF"/>
          </a:solidFill>
          <a:ln w="12700">
            <a:solidFill>
              <a:srgbClr val="1565C0"/>
            </a:solidFill>
            <a:prstDash val="solid"/>
          </a:ln>
        </p:spPr>
        <p:txBody>
          <a:bodyPr/>
          <a:lstStyle/>
          <a:p>
            <a:endParaRPr lang="en-US"/>
          </a:p>
        </p:txBody>
      </p:sp>
      <p:sp>
        <p:nvSpPr>
          <p:cNvPr id="10" name="Shape 7"/>
          <p:cNvSpPr/>
          <p:nvPr/>
        </p:nvSpPr>
        <p:spPr>
          <a:xfrm>
            <a:off x="8092440" y="1024128"/>
            <a:ext cx="3822192" cy="347472"/>
          </a:xfrm>
          <a:prstGeom prst="rect">
            <a:avLst/>
          </a:prstGeom>
          <a:solidFill>
            <a:srgbClr val="1565C0"/>
          </a:solidFill>
          <a:ln w="12700">
            <a:solidFill>
              <a:srgbClr val="1565C0"/>
            </a:solidFill>
            <a:prstDash val="solid"/>
          </a:ln>
        </p:spPr>
        <p:txBody>
          <a:bodyPr/>
          <a:lstStyle/>
          <a:p>
            <a:endParaRPr lang="en-US"/>
          </a:p>
        </p:txBody>
      </p:sp>
      <p:sp>
        <p:nvSpPr>
          <p:cNvPr id="11" name="Text 8"/>
          <p:cNvSpPr/>
          <p:nvPr/>
        </p:nvSpPr>
        <p:spPr>
          <a:xfrm>
            <a:off x="8183880" y="1060704"/>
            <a:ext cx="3639312" cy="30175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Drug Branch (H-GAT)</a:t>
            </a:r>
            <a:endParaRPr lang="en-US" sz="1100" dirty="0"/>
          </a:p>
        </p:txBody>
      </p:sp>
      <p:sp>
        <p:nvSpPr>
          <p:cNvPr id="12" name="Text 9"/>
          <p:cNvSpPr/>
          <p:nvPr/>
        </p:nvSpPr>
        <p:spPr>
          <a:xfrm>
            <a:off x="8229600" y="1408176"/>
            <a:ext cx="3566160" cy="1078992"/>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3-layer Hierarchical Graph Attention Network</a:t>
            </a:r>
            <a:endParaRPr lang="en-US" sz="1050" dirty="0"/>
          </a:p>
          <a:p>
            <a:r>
              <a:rPr lang="en-US" sz="1050" dirty="0">
                <a:solidFill>
                  <a:srgbClr val="1C2833"/>
                </a:solidFill>
                <a:latin typeface="Calibri" pitchFamily="34" charset="0"/>
                <a:ea typeface="Calibri" pitchFamily="34" charset="-122"/>
                <a:cs typeface="Calibri" pitchFamily="34" charset="-120"/>
              </a:rPr>
              <a:t>8 attention heads per layer</a:t>
            </a:r>
            <a:endParaRPr lang="en-US" sz="1050" dirty="0"/>
          </a:p>
          <a:p>
            <a:r>
              <a:rPr lang="en-US" sz="1050" dirty="0">
                <a:solidFill>
                  <a:srgbClr val="1C2833"/>
                </a:solidFill>
                <a:latin typeface="Calibri" pitchFamily="34" charset="0"/>
                <a:ea typeface="Calibri" pitchFamily="34" charset="-122"/>
                <a:cs typeface="Calibri" pitchFamily="34" charset="-120"/>
              </a:rPr>
              <a:t>ChemBERTa node feature initialization</a:t>
            </a:r>
            <a:endParaRPr lang="en-US" sz="1050" dirty="0"/>
          </a:p>
          <a:p>
            <a:r>
              <a:rPr lang="en-US" sz="1050" dirty="0">
                <a:solidFill>
                  <a:srgbClr val="1C2833"/>
                </a:solidFill>
                <a:latin typeface="Calibri" pitchFamily="34" charset="0"/>
                <a:ea typeface="Calibri" pitchFamily="34" charset="-122"/>
                <a:cs typeface="Calibri" pitchFamily="34" charset="-120"/>
              </a:rPr>
              <a:t>Attention-weighted global graph readout</a:t>
            </a:r>
            <a:endParaRPr lang="en-US" sz="1050" dirty="0"/>
          </a:p>
        </p:txBody>
      </p:sp>
      <p:sp>
        <p:nvSpPr>
          <p:cNvPr id="13" name="Shape 10"/>
          <p:cNvSpPr/>
          <p:nvPr/>
        </p:nvSpPr>
        <p:spPr>
          <a:xfrm>
            <a:off x="8092440" y="2633472"/>
            <a:ext cx="3822192" cy="1536192"/>
          </a:xfrm>
          <a:prstGeom prst="roundRect">
            <a:avLst>
              <a:gd name="adj" fmla="val 4762"/>
            </a:avLst>
          </a:prstGeom>
          <a:solidFill>
            <a:srgbClr val="C8E6C9"/>
          </a:solidFill>
          <a:ln w="12700">
            <a:solidFill>
              <a:srgbClr val="1B5E20"/>
            </a:solidFill>
            <a:prstDash val="solid"/>
          </a:ln>
        </p:spPr>
        <p:txBody>
          <a:bodyPr/>
          <a:lstStyle/>
          <a:p>
            <a:endParaRPr lang="en-US"/>
          </a:p>
        </p:txBody>
      </p:sp>
      <p:sp>
        <p:nvSpPr>
          <p:cNvPr id="14" name="Shape 11"/>
          <p:cNvSpPr/>
          <p:nvPr/>
        </p:nvSpPr>
        <p:spPr>
          <a:xfrm>
            <a:off x="8092440" y="2633472"/>
            <a:ext cx="3822192" cy="347472"/>
          </a:xfrm>
          <a:prstGeom prst="rect">
            <a:avLst/>
          </a:prstGeom>
          <a:solidFill>
            <a:srgbClr val="1B5E20"/>
          </a:solidFill>
          <a:ln w="12700">
            <a:solidFill>
              <a:srgbClr val="1B5E20"/>
            </a:solidFill>
            <a:prstDash val="solid"/>
          </a:ln>
        </p:spPr>
        <p:txBody>
          <a:bodyPr/>
          <a:lstStyle/>
          <a:p>
            <a:endParaRPr lang="en-US"/>
          </a:p>
        </p:txBody>
      </p:sp>
      <p:sp>
        <p:nvSpPr>
          <p:cNvPr id="15" name="Text 12"/>
          <p:cNvSpPr/>
          <p:nvPr/>
        </p:nvSpPr>
        <p:spPr>
          <a:xfrm>
            <a:off x="8183880" y="2670048"/>
            <a:ext cx="3639312" cy="301752"/>
          </a:xfrm>
          <a:prstGeom prst="rect">
            <a:avLst/>
          </a:prstGeom>
          <a:noFill/>
          <a:ln/>
        </p:spPr>
        <p:txBody>
          <a:bodyPr wrap="square" rtlCol="0" anchor="ctr"/>
          <a:lstStyle/>
          <a:p>
            <a:pPr marL="0" indent="0">
              <a:buNone/>
            </a:pPr>
            <a:r>
              <a:rPr lang="en-US" sz="1100" b="1" dirty="0">
                <a:solidFill>
                  <a:srgbClr val="1B5E20"/>
                </a:solidFill>
                <a:latin typeface="Calibri" pitchFamily="34" charset="0"/>
                <a:ea typeface="Calibri" pitchFamily="34" charset="-122"/>
                <a:cs typeface="Calibri" pitchFamily="34" charset="-120"/>
              </a:rPr>
              <a:t>Protein Branch (BiGRU)</a:t>
            </a:r>
            <a:endParaRPr lang="en-US" sz="1100" dirty="0"/>
          </a:p>
        </p:txBody>
      </p:sp>
      <p:sp>
        <p:nvSpPr>
          <p:cNvPr id="16" name="Text 13"/>
          <p:cNvSpPr/>
          <p:nvPr/>
        </p:nvSpPr>
        <p:spPr>
          <a:xfrm>
            <a:off x="8229600" y="3017520"/>
            <a:ext cx="3566160" cy="1078992"/>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2-layer Bidirectional LSTM or GRU</a:t>
            </a:r>
            <a:endParaRPr lang="en-US" sz="1050" dirty="0"/>
          </a:p>
          <a:p>
            <a:r>
              <a:rPr lang="en-US" sz="1050" dirty="0">
                <a:solidFill>
                  <a:srgbClr val="1C2833"/>
                </a:solidFill>
                <a:latin typeface="Calibri" pitchFamily="34" charset="0"/>
                <a:ea typeface="Calibri" pitchFamily="34" charset="-122"/>
                <a:cs typeface="Calibri" pitchFamily="34" charset="-120"/>
              </a:rPr>
              <a:t>ESM-2 residue embedding initialization</a:t>
            </a:r>
            <a:endParaRPr lang="en-US" sz="1050" dirty="0"/>
          </a:p>
          <a:p>
            <a:r>
              <a:rPr lang="en-US" sz="1050" dirty="0">
                <a:solidFill>
                  <a:srgbClr val="1C2833"/>
                </a:solidFill>
                <a:latin typeface="Calibri" pitchFamily="34" charset="0"/>
                <a:ea typeface="Calibri" pitchFamily="34" charset="-122"/>
                <a:cs typeface="Calibri" pitchFamily="34" charset="-120"/>
              </a:rPr>
              <a:t>Attention-based sequence pooling</a:t>
            </a:r>
            <a:endParaRPr lang="en-US" sz="1050" dirty="0"/>
          </a:p>
          <a:p>
            <a:r>
              <a:rPr lang="en-US" sz="1050" dirty="0">
                <a:solidFill>
                  <a:srgbClr val="1C2833"/>
                </a:solidFill>
                <a:latin typeface="Calibri" pitchFamily="34" charset="0"/>
                <a:ea typeface="Calibri" pitchFamily="34" charset="-122"/>
                <a:cs typeface="Calibri" pitchFamily="34" charset="-120"/>
              </a:rPr>
              <a:t>Captures both fwd/bwd sequence context</a:t>
            </a:r>
            <a:endParaRPr lang="en-US" sz="1050" dirty="0"/>
          </a:p>
        </p:txBody>
      </p:sp>
      <p:sp>
        <p:nvSpPr>
          <p:cNvPr id="17" name="Shape 14"/>
          <p:cNvSpPr/>
          <p:nvPr/>
        </p:nvSpPr>
        <p:spPr>
          <a:xfrm>
            <a:off x="8092440" y="4242816"/>
            <a:ext cx="3822192" cy="1024128"/>
          </a:xfrm>
          <a:prstGeom prst="roundRect">
            <a:avLst>
              <a:gd name="adj" fmla="val 7143"/>
            </a:avLst>
          </a:prstGeom>
          <a:solidFill>
            <a:srgbClr val="FFF3E0"/>
          </a:solidFill>
          <a:ln w="12700">
            <a:solidFill>
              <a:srgbClr val="E65100"/>
            </a:solidFill>
            <a:prstDash val="solid"/>
          </a:ln>
        </p:spPr>
        <p:txBody>
          <a:bodyPr/>
          <a:lstStyle/>
          <a:p>
            <a:endParaRPr lang="en-US"/>
          </a:p>
        </p:txBody>
      </p:sp>
      <p:sp>
        <p:nvSpPr>
          <p:cNvPr id="18" name="Shape 15"/>
          <p:cNvSpPr/>
          <p:nvPr/>
        </p:nvSpPr>
        <p:spPr>
          <a:xfrm>
            <a:off x="8092440" y="4242816"/>
            <a:ext cx="3822192" cy="347472"/>
          </a:xfrm>
          <a:prstGeom prst="rect">
            <a:avLst/>
          </a:prstGeom>
          <a:solidFill>
            <a:srgbClr val="E65100"/>
          </a:solidFill>
          <a:ln w="12700">
            <a:solidFill>
              <a:srgbClr val="E65100"/>
            </a:solidFill>
            <a:prstDash val="solid"/>
          </a:ln>
        </p:spPr>
        <p:txBody>
          <a:bodyPr/>
          <a:lstStyle/>
          <a:p>
            <a:endParaRPr lang="en-US"/>
          </a:p>
        </p:txBody>
      </p:sp>
      <p:sp>
        <p:nvSpPr>
          <p:cNvPr id="19" name="Text 16"/>
          <p:cNvSpPr/>
          <p:nvPr/>
        </p:nvSpPr>
        <p:spPr>
          <a:xfrm>
            <a:off x="8183880" y="4279392"/>
            <a:ext cx="3639312" cy="301752"/>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Gated Cross-Attention [NOVEL]</a:t>
            </a:r>
            <a:endParaRPr lang="en-US" sz="1100" dirty="0"/>
          </a:p>
        </p:txBody>
      </p:sp>
      <p:sp>
        <p:nvSpPr>
          <p:cNvPr id="20" name="Text 17"/>
          <p:cNvSpPr/>
          <p:nvPr/>
        </p:nvSpPr>
        <p:spPr>
          <a:xfrm>
            <a:off x="8229600" y="4626864"/>
            <a:ext cx="3566160" cy="566928"/>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Bidirectional drug↔protein attention</a:t>
            </a:r>
            <a:endParaRPr lang="en-US" sz="1050" dirty="0"/>
          </a:p>
          <a:p>
            <a:r>
              <a:rPr lang="en-US" sz="1050" dirty="0">
                <a:solidFill>
                  <a:srgbClr val="1C2833"/>
                </a:solidFill>
                <a:latin typeface="Calibri" pitchFamily="34" charset="0"/>
                <a:ea typeface="Calibri" pitchFamily="34" charset="-122"/>
                <a:cs typeface="Calibri" pitchFamily="34" charset="-120"/>
              </a:rPr>
              <a:t>Adaptive gates G_d, G_p ∈ (0,1)^d</a:t>
            </a:r>
            <a:endParaRPr lang="en-US" sz="1050" dirty="0"/>
          </a:p>
          <a:p>
            <a:r>
              <a:rPr lang="en-US" sz="1050" dirty="0">
                <a:solidFill>
                  <a:srgbClr val="1C2833"/>
                </a:solidFill>
                <a:latin typeface="Calibri" pitchFamily="34" charset="0"/>
                <a:ea typeface="Calibri" pitchFamily="34" charset="-122"/>
                <a:cs typeface="Calibri" pitchFamily="34" charset="-120"/>
              </a:rPr>
              <a:t>Prevents information loss from either modality</a:t>
            </a:r>
            <a:endParaRPr lang="en-US" sz="1050" dirty="0"/>
          </a:p>
        </p:txBody>
      </p:sp>
      <p:sp>
        <p:nvSpPr>
          <p:cNvPr id="21" name="Shape 18"/>
          <p:cNvSpPr/>
          <p:nvPr/>
        </p:nvSpPr>
        <p:spPr>
          <a:xfrm>
            <a:off x="8092440" y="5340096"/>
            <a:ext cx="3822192" cy="822960"/>
          </a:xfrm>
          <a:prstGeom prst="roundRect">
            <a:avLst>
              <a:gd name="adj" fmla="val 8889"/>
            </a:avLst>
          </a:prstGeom>
          <a:solidFill>
            <a:srgbClr val="F3E5F5"/>
          </a:solidFill>
          <a:ln w="12700">
            <a:solidFill>
              <a:srgbClr val="4A148C"/>
            </a:solidFill>
            <a:prstDash val="solid"/>
          </a:ln>
        </p:spPr>
        <p:txBody>
          <a:bodyPr/>
          <a:lstStyle/>
          <a:p>
            <a:endParaRPr lang="en-US"/>
          </a:p>
        </p:txBody>
      </p:sp>
      <p:sp>
        <p:nvSpPr>
          <p:cNvPr id="22" name="Shape 19"/>
          <p:cNvSpPr/>
          <p:nvPr/>
        </p:nvSpPr>
        <p:spPr>
          <a:xfrm>
            <a:off x="8092440" y="5340096"/>
            <a:ext cx="3822192" cy="347472"/>
          </a:xfrm>
          <a:prstGeom prst="rect">
            <a:avLst/>
          </a:prstGeom>
          <a:solidFill>
            <a:srgbClr val="4A148C"/>
          </a:solidFill>
          <a:ln w="12700">
            <a:solidFill>
              <a:srgbClr val="4A148C"/>
            </a:solidFill>
            <a:prstDash val="solid"/>
          </a:ln>
        </p:spPr>
        <p:txBody>
          <a:bodyPr/>
          <a:lstStyle/>
          <a:p>
            <a:endParaRPr lang="en-US"/>
          </a:p>
        </p:txBody>
      </p:sp>
      <p:sp>
        <p:nvSpPr>
          <p:cNvPr id="23" name="Text 20"/>
          <p:cNvSpPr/>
          <p:nvPr/>
        </p:nvSpPr>
        <p:spPr>
          <a:xfrm>
            <a:off x="8183880" y="5376672"/>
            <a:ext cx="3639312" cy="301752"/>
          </a:xfrm>
          <a:prstGeom prst="rect">
            <a:avLst/>
          </a:prstGeom>
          <a:noFill/>
          <a:ln/>
        </p:spPr>
        <p:txBody>
          <a:bodyPr wrap="square" rtlCol="0" anchor="ctr"/>
          <a:lstStyle/>
          <a:p>
            <a:pPr marL="0" indent="0">
              <a:buNone/>
            </a:pPr>
            <a:r>
              <a:rPr lang="en-US" sz="1100" b="1" dirty="0">
                <a:solidFill>
                  <a:srgbClr val="4A148C"/>
                </a:solidFill>
                <a:latin typeface="Calibri" pitchFamily="34" charset="0"/>
                <a:ea typeface="Calibri" pitchFamily="34" charset="-122"/>
                <a:cs typeface="Calibri" pitchFamily="34" charset="-120"/>
              </a:rPr>
              <a:t>Prediction Head</a:t>
            </a:r>
            <a:endParaRPr lang="en-US" sz="1100" dirty="0"/>
          </a:p>
        </p:txBody>
      </p:sp>
      <p:sp>
        <p:nvSpPr>
          <p:cNvPr id="24" name="Text 21"/>
          <p:cNvSpPr/>
          <p:nvPr/>
        </p:nvSpPr>
        <p:spPr>
          <a:xfrm>
            <a:off x="8229600" y="5724144"/>
            <a:ext cx="3566160" cy="365760"/>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MLP + Dropout → Sigmoid (class.) or Linear (regression)</a:t>
            </a:r>
            <a:endParaRPr lang="en-US" sz="1050" dirty="0"/>
          </a:p>
        </p:txBody>
      </p:sp>
      <p:sp>
        <p:nvSpPr>
          <p:cNvPr id="26" name="Text 22"/>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Gated Cross-Attention Fusion: The Core Innovation</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pic>
        <p:nvPicPr>
          <p:cNvPr id="8" name="Image 0" descr="C:\Users\Jamila\Modeling-DTI\paper\figures\fig8_crossattn.png"/>
          <p:cNvPicPr>
            <a:picLocks noChangeAspect="1"/>
          </p:cNvPicPr>
          <p:nvPr/>
        </p:nvPicPr>
        <p:blipFill>
          <a:blip r:embed="rId3"/>
          <a:stretch>
            <a:fillRect/>
          </a:stretch>
        </p:blipFill>
        <p:spPr>
          <a:xfrm>
            <a:off x="256032" y="1024128"/>
            <a:ext cx="6537960" cy="4160520"/>
          </a:xfrm>
          <a:prstGeom prst="rect">
            <a:avLst/>
          </a:prstGeom>
        </p:spPr>
      </p:pic>
      <p:sp>
        <p:nvSpPr>
          <p:cNvPr id="9" name="Shape 6"/>
          <p:cNvSpPr/>
          <p:nvPr/>
        </p:nvSpPr>
        <p:spPr>
          <a:xfrm>
            <a:off x="6903720" y="1024128"/>
            <a:ext cx="5029200" cy="4169664"/>
          </a:xfrm>
          <a:prstGeom prst="roundRect">
            <a:avLst>
              <a:gd name="adj" fmla="val 1754"/>
            </a:avLst>
          </a:prstGeom>
          <a:solidFill>
            <a:srgbClr val="FFF3E0"/>
          </a:solidFill>
          <a:ln w="12700">
            <a:solidFill>
              <a:srgbClr val="E65100"/>
            </a:solidFill>
            <a:prstDash val="solid"/>
          </a:ln>
        </p:spPr>
        <p:txBody>
          <a:bodyPr/>
          <a:lstStyle/>
          <a:p>
            <a:endParaRPr lang="en-US"/>
          </a:p>
        </p:txBody>
      </p:sp>
      <p:sp>
        <p:nvSpPr>
          <p:cNvPr id="10" name="Shape 7"/>
          <p:cNvSpPr/>
          <p:nvPr/>
        </p:nvSpPr>
        <p:spPr>
          <a:xfrm>
            <a:off x="6903720" y="1024128"/>
            <a:ext cx="5029200" cy="347472"/>
          </a:xfrm>
          <a:prstGeom prst="rect">
            <a:avLst/>
          </a:prstGeom>
          <a:solidFill>
            <a:srgbClr val="E65100"/>
          </a:solidFill>
          <a:ln w="12700">
            <a:solidFill>
              <a:srgbClr val="E65100"/>
            </a:solidFill>
            <a:prstDash val="solid"/>
          </a:ln>
        </p:spPr>
        <p:txBody>
          <a:bodyPr/>
          <a:lstStyle/>
          <a:p>
            <a:endParaRPr lang="en-US"/>
          </a:p>
        </p:txBody>
      </p:sp>
      <p:sp>
        <p:nvSpPr>
          <p:cNvPr id="11" name="Text 8"/>
          <p:cNvSpPr/>
          <p:nvPr/>
        </p:nvSpPr>
        <p:spPr>
          <a:xfrm>
            <a:off x="6995160" y="1060704"/>
            <a:ext cx="4846320" cy="301752"/>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Key Mathematical Formulations</a:t>
            </a:r>
            <a:endParaRPr lang="en-US" sz="1100" dirty="0"/>
          </a:p>
        </p:txBody>
      </p:sp>
      <p:sp>
        <p:nvSpPr>
          <p:cNvPr id="12" name="Text 9"/>
          <p:cNvSpPr/>
          <p:nvPr/>
        </p:nvSpPr>
        <p:spPr>
          <a:xfrm>
            <a:off x="7040880" y="1408176"/>
            <a:ext cx="4773168" cy="3712464"/>
          </a:xfrm>
          <a:prstGeom prst="rect">
            <a:avLst/>
          </a:prstGeom>
          <a:noFill/>
          <a:ln/>
        </p:spPr>
        <p:txBody>
          <a:bodyPr wrap="square" rtlCol="0" anchor="t"/>
          <a:lstStyle/>
          <a:p>
            <a:r>
              <a:rPr lang="en-US" sz="1100" b="1" dirty="0">
                <a:solidFill>
                  <a:srgbClr val="1C2833"/>
                </a:solidFill>
                <a:latin typeface="Calibri" pitchFamily="34" charset="0"/>
                <a:ea typeface="Calibri" pitchFamily="34" charset="-122"/>
                <a:cs typeface="Calibri" pitchFamily="34" charset="-120"/>
              </a:rPr>
              <a:t>Cross-Attention (Drug → Protein):</a:t>
            </a:r>
            <a:endParaRPr lang="en-US" sz="1100" dirty="0"/>
          </a:p>
          <a:p>
            <a:r>
              <a:rPr lang="en-US" sz="1050" dirty="0">
                <a:solidFill>
                  <a:srgbClr val="1C2833"/>
                </a:solidFill>
                <a:latin typeface="Calibri" pitchFamily="34" charset="0"/>
                <a:ea typeface="Calibri" pitchFamily="34" charset="-122"/>
                <a:cs typeface="Calibri" pitchFamily="34" charset="-120"/>
              </a:rPr>
              <a:t>A_d→p = softmax(Q_d K_p^T / √d_k) · V_p</a:t>
            </a:r>
            <a:endParaRPr lang="en-US" sz="1100" dirty="0"/>
          </a:p>
          <a:p>
            <a:r>
              <a:rPr lang="en-US" sz="1100" b="1" dirty="0">
                <a:solidFill>
                  <a:srgbClr val="1C2833"/>
                </a:solidFill>
                <a:latin typeface="Calibri" pitchFamily="34" charset="0"/>
                <a:ea typeface="Calibri" pitchFamily="34" charset="-122"/>
                <a:cs typeface="Calibri" pitchFamily="34" charset="-120"/>
              </a:rPr>
              <a:t>Cross-Attention (Protein → Drug):</a:t>
            </a:r>
            <a:endParaRPr lang="en-US" sz="1100" dirty="0"/>
          </a:p>
          <a:p>
            <a:r>
              <a:rPr lang="en-US" sz="1050" dirty="0">
                <a:solidFill>
                  <a:srgbClr val="1C2833"/>
                </a:solidFill>
                <a:latin typeface="Calibri" pitchFamily="34" charset="0"/>
                <a:ea typeface="Calibri" pitchFamily="34" charset="-122"/>
                <a:cs typeface="Calibri" pitchFamily="34" charset="-120"/>
              </a:rPr>
              <a:t>A_p→d = softmax(Q_p K_d^T / √d_k) · V_d</a:t>
            </a:r>
            <a:endParaRPr lang="en-US" sz="1100" dirty="0"/>
          </a:p>
          <a:p>
            <a:r>
              <a:rPr lang="en-US" sz="1100" b="1" dirty="0">
                <a:solidFill>
                  <a:srgbClr val="1C2833"/>
                </a:solidFill>
                <a:latin typeface="Calibri" pitchFamily="34" charset="0"/>
                <a:ea typeface="Calibri" pitchFamily="34" charset="-122"/>
                <a:cs typeface="Calibri" pitchFamily="34" charset="-120"/>
              </a:rPr>
              <a:t>Drug Gate (prevents info loss):</a:t>
            </a:r>
            <a:endParaRPr lang="en-US" sz="1100" dirty="0"/>
          </a:p>
          <a:p>
            <a:r>
              <a:rPr lang="en-US" sz="1050" dirty="0">
                <a:solidFill>
                  <a:srgbClr val="1C2833"/>
                </a:solidFill>
                <a:latin typeface="Calibri" pitchFamily="34" charset="0"/>
                <a:ea typeface="Calibri" pitchFamily="34" charset="-122"/>
                <a:cs typeface="Calibri" pitchFamily="34" charset="-120"/>
              </a:rPr>
              <a:t>G_d = σ(W_g [h_d ∥ A_d→p] + b_g)</a:t>
            </a:r>
            <a:endParaRPr lang="en-US" sz="1100" dirty="0"/>
          </a:p>
          <a:p>
            <a:r>
              <a:rPr lang="en-US" sz="1100" b="1" dirty="0">
                <a:solidFill>
                  <a:srgbClr val="1C2833"/>
                </a:solidFill>
                <a:latin typeface="Calibri" pitchFamily="34" charset="0"/>
                <a:ea typeface="Calibri" pitchFamily="34" charset="-122"/>
                <a:cs typeface="Calibri" pitchFamily="34" charset="-120"/>
              </a:rPr>
              <a:t>Gated Drug Representation:</a:t>
            </a:r>
            <a:endParaRPr lang="en-US" sz="1100" dirty="0"/>
          </a:p>
          <a:p>
            <a:r>
              <a:rPr lang="en-US" sz="1050" dirty="0">
                <a:solidFill>
                  <a:srgbClr val="1C2833"/>
                </a:solidFill>
                <a:latin typeface="Calibri" pitchFamily="34" charset="0"/>
                <a:ea typeface="Calibri" pitchFamily="34" charset="-122"/>
                <a:cs typeface="Calibri" pitchFamily="34" charset="-120"/>
              </a:rPr>
              <a:t>h_d' = G_d ⊙ A_d→p + (1 - G_d) ⊙ h_d</a:t>
            </a:r>
            <a:endParaRPr lang="en-US" sz="1100" dirty="0"/>
          </a:p>
          <a:p>
            <a:r>
              <a:rPr lang="en-US" sz="1000" dirty="0">
                <a:solidFill>
                  <a:srgbClr val="1C2833"/>
                </a:solidFill>
                <a:latin typeface="Calibri" pitchFamily="34" charset="0"/>
                <a:ea typeface="Calibri" pitchFamily="34" charset="-122"/>
                <a:cs typeface="Calibri" pitchFamily="34" charset="-120"/>
              </a:rPr>
              <a:t>(Symmetric equations for protein branch)</a:t>
            </a:r>
            <a:endParaRPr lang="en-US" sz="1100" dirty="0"/>
          </a:p>
          <a:p>
            <a:r>
              <a:rPr lang="en-US" sz="1100" b="1" dirty="0">
                <a:solidFill>
                  <a:srgbClr val="1C2833"/>
                </a:solidFill>
                <a:latin typeface="Calibri" pitchFamily="34" charset="0"/>
                <a:ea typeface="Calibri" pitchFamily="34" charset="-122"/>
                <a:cs typeface="Calibri" pitchFamily="34" charset="-120"/>
              </a:rPr>
              <a:t>Fused Output:</a:t>
            </a:r>
            <a:endParaRPr lang="en-US" sz="1100" dirty="0"/>
          </a:p>
          <a:p>
            <a:r>
              <a:rPr lang="en-US" sz="1050" dirty="0">
                <a:solidFill>
                  <a:srgbClr val="1C2833"/>
                </a:solidFill>
                <a:latin typeface="Calibri" pitchFamily="34" charset="0"/>
                <a:ea typeface="Calibri" pitchFamily="34" charset="-122"/>
                <a:cs typeface="Calibri" pitchFamily="34" charset="-120"/>
              </a:rPr>
              <a:t>h_fused = σ(W_f [z_d ∥ z_p] + b_f)</a:t>
            </a:r>
            <a:endParaRPr lang="en-US" sz="1100" dirty="0"/>
          </a:p>
        </p:txBody>
      </p:sp>
      <p:sp>
        <p:nvSpPr>
          <p:cNvPr id="13" name="Shape 10"/>
          <p:cNvSpPr/>
          <p:nvPr/>
        </p:nvSpPr>
        <p:spPr>
          <a:xfrm>
            <a:off x="256032" y="5285232"/>
            <a:ext cx="11676888" cy="859536"/>
          </a:xfrm>
          <a:prstGeom prst="roundRect">
            <a:avLst>
              <a:gd name="adj" fmla="val 8511"/>
            </a:avLst>
          </a:prstGeom>
          <a:solidFill>
            <a:srgbClr val="ECEFF1"/>
          </a:solidFill>
          <a:ln w="12700">
            <a:solidFill>
              <a:srgbClr val="1A3A6E"/>
            </a:solidFill>
            <a:prstDash val="solid"/>
          </a:ln>
        </p:spPr>
        <p:txBody>
          <a:bodyPr/>
          <a:lstStyle/>
          <a:p>
            <a:endParaRPr lang="en-US"/>
          </a:p>
        </p:txBody>
      </p:sp>
      <p:sp>
        <p:nvSpPr>
          <p:cNvPr id="14" name="Shape 11"/>
          <p:cNvSpPr/>
          <p:nvPr/>
        </p:nvSpPr>
        <p:spPr>
          <a:xfrm>
            <a:off x="256032" y="5285232"/>
            <a:ext cx="11676888" cy="347472"/>
          </a:xfrm>
          <a:prstGeom prst="rect">
            <a:avLst/>
          </a:prstGeom>
          <a:solidFill>
            <a:srgbClr val="1A3A6E"/>
          </a:solidFill>
          <a:ln w="12700">
            <a:solidFill>
              <a:srgbClr val="1A3A6E"/>
            </a:solidFill>
            <a:prstDash val="solid"/>
          </a:ln>
        </p:spPr>
        <p:txBody>
          <a:bodyPr/>
          <a:lstStyle/>
          <a:p>
            <a:endParaRPr lang="en-US"/>
          </a:p>
        </p:txBody>
      </p:sp>
      <p:sp>
        <p:nvSpPr>
          <p:cNvPr id="15" name="Text 12"/>
          <p:cNvSpPr/>
          <p:nvPr/>
        </p:nvSpPr>
        <p:spPr>
          <a:xfrm>
            <a:off x="347472" y="5321808"/>
            <a:ext cx="11494008" cy="301752"/>
          </a:xfrm>
          <a:prstGeom prst="rect">
            <a:avLst/>
          </a:prstGeom>
          <a:noFill/>
          <a:ln/>
        </p:spPr>
        <p:txBody>
          <a:bodyPr wrap="square" rtlCol="0" anchor="ctr"/>
          <a:lstStyle/>
          <a:p>
            <a:pPr marL="0" indent="0">
              <a:buNone/>
            </a:pPr>
            <a:r>
              <a:rPr lang="en-US" sz="1200" b="1" dirty="0">
                <a:solidFill>
                  <a:srgbClr val="1A3A6E"/>
                </a:solidFill>
                <a:latin typeface="Calibri" pitchFamily="34" charset="0"/>
                <a:ea typeface="Calibri" pitchFamily="34" charset="-122"/>
                <a:cs typeface="Calibri" pitchFamily="34" charset="-120"/>
              </a:rPr>
              <a:t>Why Gated Cross-Attention Outperforms Simple Concatenation</a:t>
            </a:r>
            <a:endParaRPr lang="en-US" sz="1200" dirty="0"/>
          </a:p>
        </p:txBody>
      </p:sp>
      <p:sp>
        <p:nvSpPr>
          <p:cNvPr id="16" name="Text 13"/>
          <p:cNvSpPr/>
          <p:nvPr/>
        </p:nvSpPr>
        <p:spPr>
          <a:xfrm>
            <a:off x="393192" y="5669280"/>
            <a:ext cx="11420856" cy="402336"/>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Concatenation [h_d; h_p]: treats drug and protein as independent — no direct drug-protein interaction modeled at the feature level</a:t>
            </a:r>
            <a:endParaRPr lang="en-US" sz="1050" dirty="0"/>
          </a:p>
          <a:p>
            <a:r>
              <a:rPr lang="en-US" sz="1050" b="1" dirty="0">
                <a:solidFill>
                  <a:srgbClr val="1C2833"/>
                </a:solidFill>
                <a:latin typeface="Calibri" pitchFamily="34" charset="0"/>
                <a:ea typeface="Calibri" pitchFamily="34" charset="-122"/>
                <a:cs typeface="Calibri" pitchFamily="34" charset="-120"/>
              </a:rPr>
              <a:t>Gated Cross-Attention: drug atoms dynamically attend to relevant protein residues and vice versa — models the physical binding relationship at the representation level</a:t>
            </a:r>
            <a:endParaRPr lang="en-US" sz="1050" dirty="0"/>
          </a:p>
        </p:txBody>
      </p:sp>
      <p:sp>
        <p:nvSpPr>
          <p:cNvPr id="18" name="Text 14"/>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Training Strategy: Imbalance-Aware Learning</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sp>
        <p:nvSpPr>
          <p:cNvPr id="8" name="Shape 6"/>
          <p:cNvSpPr/>
          <p:nvPr/>
        </p:nvSpPr>
        <p:spPr>
          <a:xfrm>
            <a:off x="256032" y="1078992"/>
            <a:ext cx="3794760" cy="2743200"/>
          </a:xfrm>
          <a:prstGeom prst="roundRect">
            <a:avLst>
              <a:gd name="adj" fmla="val 2667"/>
            </a:avLst>
          </a:prstGeom>
          <a:solidFill>
            <a:srgbClr val="FFCDD2"/>
          </a:solidFill>
          <a:ln w="12700">
            <a:solidFill>
              <a:srgbClr val="B71C1C"/>
            </a:solidFill>
            <a:prstDash val="solid"/>
          </a:ln>
        </p:spPr>
        <p:txBody>
          <a:bodyPr/>
          <a:lstStyle/>
          <a:p>
            <a:endParaRPr lang="en-US"/>
          </a:p>
        </p:txBody>
      </p:sp>
      <p:sp>
        <p:nvSpPr>
          <p:cNvPr id="9" name="Shape 7"/>
          <p:cNvSpPr/>
          <p:nvPr/>
        </p:nvSpPr>
        <p:spPr>
          <a:xfrm>
            <a:off x="256032" y="1078992"/>
            <a:ext cx="3794760" cy="347472"/>
          </a:xfrm>
          <a:prstGeom prst="rect">
            <a:avLst/>
          </a:prstGeom>
          <a:solidFill>
            <a:srgbClr val="B71C1C"/>
          </a:solidFill>
          <a:ln w="12700">
            <a:solidFill>
              <a:srgbClr val="B71C1C"/>
            </a:solidFill>
            <a:prstDash val="solid"/>
          </a:ln>
        </p:spPr>
        <p:txBody>
          <a:bodyPr/>
          <a:lstStyle/>
          <a:p>
            <a:endParaRPr lang="en-US"/>
          </a:p>
        </p:txBody>
      </p:sp>
      <p:sp>
        <p:nvSpPr>
          <p:cNvPr id="10" name="Text 8"/>
          <p:cNvSpPr/>
          <p:nvPr/>
        </p:nvSpPr>
        <p:spPr>
          <a:xfrm>
            <a:off x="347472" y="1115568"/>
            <a:ext cx="3611880" cy="301752"/>
          </a:xfrm>
          <a:prstGeom prst="rect">
            <a:avLst/>
          </a:prstGeom>
          <a:noFill/>
          <a:ln/>
        </p:spPr>
        <p:txBody>
          <a:bodyPr wrap="square" rtlCol="0" anchor="ctr"/>
          <a:lstStyle/>
          <a:p>
            <a:pPr marL="0" indent="0">
              <a:buNone/>
            </a:pPr>
            <a:r>
              <a:rPr lang="en-US" sz="1200" b="1" dirty="0">
                <a:solidFill>
                  <a:srgbClr val="B71C1C"/>
                </a:solidFill>
                <a:latin typeface="Calibri" pitchFamily="34" charset="0"/>
                <a:ea typeface="Calibri" pitchFamily="34" charset="-122"/>
                <a:cs typeface="Calibri" pitchFamily="34" charset="-120"/>
              </a:rPr>
              <a:t>Loss Functions for Class Imbalance</a:t>
            </a:r>
            <a:endParaRPr lang="en-US" sz="1200" dirty="0"/>
          </a:p>
        </p:txBody>
      </p:sp>
      <p:sp>
        <p:nvSpPr>
          <p:cNvPr id="11" name="Text 9"/>
          <p:cNvSpPr/>
          <p:nvPr/>
        </p:nvSpPr>
        <p:spPr>
          <a:xfrm>
            <a:off x="393192" y="1463040"/>
            <a:ext cx="3538728" cy="2286000"/>
          </a:xfrm>
          <a:prstGeom prst="rect">
            <a:avLst/>
          </a:prstGeom>
          <a:noFill/>
          <a:ln/>
        </p:spPr>
        <p:txBody>
          <a:bodyPr wrap="square" rtlCol="0" anchor="t"/>
          <a:lstStyle/>
          <a:p>
            <a:r>
              <a:rPr lang="en-US" sz="1150" b="1" dirty="0">
                <a:solidFill>
                  <a:srgbClr val="1C2833"/>
                </a:solidFill>
                <a:latin typeface="Calibri" pitchFamily="34" charset="0"/>
                <a:ea typeface="Calibri" pitchFamily="34" charset="-122"/>
                <a:cs typeface="Calibri" pitchFamily="34" charset="-120"/>
              </a:rPr>
              <a:t>Focal Loss (Classification):</a:t>
            </a:r>
            <a:endParaRPr lang="en-US" sz="1150" dirty="0"/>
          </a:p>
          <a:p>
            <a:r>
              <a:rPr lang="en-US" sz="1100" dirty="0">
                <a:solidFill>
                  <a:srgbClr val="1C2833"/>
                </a:solidFill>
                <a:latin typeface="Calibri" pitchFamily="34" charset="0"/>
                <a:ea typeface="Calibri" pitchFamily="34" charset="-122"/>
                <a:cs typeface="Calibri" pitchFamily="34" charset="-120"/>
              </a:rPr>
              <a:t>FL(p_t) = -α_t (1 - p_t)^γ log(p_t)</a:t>
            </a:r>
            <a:endParaRPr lang="en-US" sz="1150" dirty="0"/>
          </a:p>
          <a:p>
            <a:r>
              <a:rPr lang="en-US" sz="1050" dirty="0">
                <a:solidFill>
                  <a:srgbClr val="1C2833"/>
                </a:solidFill>
                <a:latin typeface="Calibri" pitchFamily="34" charset="0"/>
                <a:ea typeface="Calibri" pitchFamily="34" charset="-122"/>
                <a:cs typeface="Calibri" pitchFamily="34" charset="-120"/>
              </a:rPr>
              <a:t>γ=2.0 down-weights easy examples; focuses learning on hard misclassifications</a:t>
            </a:r>
            <a:endParaRPr lang="en-US" sz="1150" dirty="0"/>
          </a:p>
          <a:p>
            <a:r>
              <a:rPr lang="en-US" sz="1050" dirty="0">
                <a:solidFill>
                  <a:srgbClr val="1C2833"/>
                </a:solidFill>
                <a:latin typeface="Calibri" pitchFamily="34" charset="0"/>
                <a:ea typeface="Calibri" pitchFamily="34" charset="-122"/>
                <a:cs typeface="Calibri" pitchFamily="34" charset="-120"/>
              </a:rPr>
              <a:t>α_t balances positive/negative class frequency</a:t>
            </a:r>
            <a:endParaRPr lang="en-US" sz="1150" dirty="0"/>
          </a:p>
          <a:p>
            <a:r>
              <a:rPr lang="en-US" sz="1150" b="1" dirty="0">
                <a:solidFill>
                  <a:srgbClr val="1C2833"/>
                </a:solidFill>
                <a:latin typeface="Calibri" pitchFamily="34" charset="0"/>
                <a:ea typeface="Calibri" pitchFamily="34" charset="-122"/>
                <a:cs typeface="Calibri" pitchFamily="34" charset="-120"/>
              </a:rPr>
              <a:t>Weighted BCE (alternative):</a:t>
            </a:r>
            <a:endParaRPr lang="en-US" sz="1150" dirty="0"/>
          </a:p>
          <a:p>
            <a:r>
              <a:rPr lang="en-US" sz="1100" dirty="0">
                <a:solidFill>
                  <a:srgbClr val="1C2833"/>
                </a:solidFill>
                <a:latin typeface="Calibri" pitchFamily="34" charset="0"/>
                <a:ea typeface="Calibri" pitchFamily="34" charset="-122"/>
                <a:cs typeface="Calibri" pitchFamily="34" charset="-120"/>
              </a:rPr>
              <a:t>L = -(w₊·y·log(p) + w₋·(1-y)·log(1-p))</a:t>
            </a:r>
            <a:endParaRPr lang="en-US" sz="1150" dirty="0"/>
          </a:p>
          <a:p>
            <a:r>
              <a:rPr lang="en-US" sz="1150" b="1" dirty="0">
                <a:solidFill>
                  <a:srgbClr val="1C2833"/>
                </a:solidFill>
                <a:latin typeface="Calibri" pitchFamily="34" charset="0"/>
                <a:ea typeface="Calibri" pitchFamily="34" charset="-122"/>
                <a:cs typeface="Calibri" pitchFamily="34" charset="-120"/>
              </a:rPr>
              <a:t>MSE (Regression):</a:t>
            </a:r>
            <a:endParaRPr lang="en-US" sz="1150" dirty="0"/>
          </a:p>
          <a:p>
            <a:r>
              <a:rPr lang="en-US" sz="1100" dirty="0">
                <a:solidFill>
                  <a:srgbClr val="1C2833"/>
                </a:solidFill>
                <a:latin typeface="Calibri" pitchFamily="34" charset="0"/>
                <a:ea typeface="Calibri" pitchFamily="34" charset="-122"/>
                <a:cs typeface="Calibri" pitchFamily="34" charset="-120"/>
              </a:rPr>
              <a:t>L = (1/N) Σ (ŷᵢ - yᵢ)²</a:t>
            </a:r>
            <a:endParaRPr lang="en-US" sz="1150" dirty="0"/>
          </a:p>
        </p:txBody>
      </p:sp>
      <p:sp>
        <p:nvSpPr>
          <p:cNvPr id="12" name="Shape 10"/>
          <p:cNvSpPr/>
          <p:nvPr/>
        </p:nvSpPr>
        <p:spPr>
          <a:xfrm>
            <a:off x="4160520" y="1078992"/>
            <a:ext cx="3794760" cy="2743200"/>
          </a:xfrm>
          <a:prstGeom prst="roundRect">
            <a:avLst>
              <a:gd name="adj" fmla="val 2667"/>
            </a:avLst>
          </a:prstGeom>
          <a:solidFill>
            <a:srgbClr val="FFF9C4"/>
          </a:solidFill>
          <a:ln w="12700">
            <a:solidFill>
              <a:srgbClr val="F57F17"/>
            </a:solidFill>
            <a:prstDash val="solid"/>
          </a:ln>
        </p:spPr>
        <p:txBody>
          <a:bodyPr/>
          <a:lstStyle/>
          <a:p>
            <a:endParaRPr lang="en-US"/>
          </a:p>
        </p:txBody>
      </p:sp>
      <p:sp>
        <p:nvSpPr>
          <p:cNvPr id="13" name="Shape 11"/>
          <p:cNvSpPr/>
          <p:nvPr/>
        </p:nvSpPr>
        <p:spPr>
          <a:xfrm>
            <a:off x="4160520" y="1078992"/>
            <a:ext cx="3794760" cy="347472"/>
          </a:xfrm>
          <a:prstGeom prst="rect">
            <a:avLst/>
          </a:prstGeom>
          <a:solidFill>
            <a:srgbClr val="F57F17"/>
          </a:solidFill>
          <a:ln w="12700">
            <a:solidFill>
              <a:srgbClr val="F57F17"/>
            </a:solidFill>
            <a:prstDash val="solid"/>
          </a:ln>
        </p:spPr>
        <p:txBody>
          <a:bodyPr/>
          <a:lstStyle/>
          <a:p>
            <a:endParaRPr lang="en-US"/>
          </a:p>
        </p:txBody>
      </p:sp>
      <p:sp>
        <p:nvSpPr>
          <p:cNvPr id="14" name="Text 12"/>
          <p:cNvSpPr/>
          <p:nvPr/>
        </p:nvSpPr>
        <p:spPr>
          <a:xfrm>
            <a:off x="4251960" y="1115568"/>
            <a:ext cx="3611880" cy="301752"/>
          </a:xfrm>
          <a:prstGeom prst="rect">
            <a:avLst/>
          </a:prstGeom>
          <a:noFill/>
          <a:ln/>
        </p:spPr>
        <p:txBody>
          <a:bodyPr wrap="square" rtlCol="0" anchor="ctr"/>
          <a:lstStyle/>
          <a:p>
            <a:pPr marL="0" indent="0">
              <a:buNone/>
            </a:pPr>
            <a:r>
              <a:rPr lang="en-US" sz="1200" b="1" dirty="0">
                <a:solidFill>
                  <a:srgbClr val="F57F17"/>
                </a:solidFill>
                <a:latin typeface="Calibri" pitchFamily="34" charset="0"/>
                <a:ea typeface="Calibri" pitchFamily="34" charset="-122"/>
                <a:cs typeface="Calibri" pitchFamily="34" charset="-120"/>
              </a:rPr>
              <a:t>Optimization &amp; Regularization</a:t>
            </a:r>
            <a:endParaRPr lang="en-US" sz="1200" dirty="0"/>
          </a:p>
        </p:txBody>
      </p:sp>
      <p:sp>
        <p:nvSpPr>
          <p:cNvPr id="15" name="Text 13"/>
          <p:cNvSpPr/>
          <p:nvPr/>
        </p:nvSpPr>
        <p:spPr>
          <a:xfrm>
            <a:off x="4297680" y="1463040"/>
            <a:ext cx="3538728" cy="2286000"/>
          </a:xfrm>
          <a:prstGeom prst="rect">
            <a:avLst/>
          </a:prstGeom>
          <a:noFill/>
          <a:ln/>
        </p:spPr>
        <p:txBody>
          <a:bodyPr wrap="square" rtlCol="0" anchor="t"/>
          <a:lstStyle/>
          <a:p>
            <a:r>
              <a:rPr lang="en-US" sz="1100" dirty="0">
                <a:solidFill>
                  <a:srgbClr val="1C2833"/>
                </a:solidFill>
                <a:latin typeface="Calibri" pitchFamily="34" charset="0"/>
                <a:ea typeface="Calibri" pitchFamily="34" charset="-122"/>
                <a:cs typeface="Calibri" pitchFamily="34" charset="-120"/>
              </a:rPr>
              <a:t>Optimizer: Adam with decoupled weight decay (AdamW)</a:t>
            </a:r>
            <a:endParaRPr lang="en-US" sz="1100" dirty="0"/>
          </a:p>
          <a:p>
            <a:r>
              <a:rPr lang="en-US" sz="1100" dirty="0">
                <a:solidFill>
                  <a:srgbClr val="1C2833"/>
                </a:solidFill>
                <a:latin typeface="Calibri" pitchFamily="34" charset="0"/>
                <a:ea typeface="Calibri" pitchFamily="34" charset="-122"/>
                <a:cs typeface="Calibri" pitchFamily="34" charset="-120"/>
              </a:rPr>
              <a:t>Learning rate scheduling: cosine annealing with warmup</a:t>
            </a:r>
            <a:endParaRPr lang="en-US" sz="1100" dirty="0"/>
          </a:p>
          <a:p>
            <a:r>
              <a:rPr lang="en-US" sz="1100" dirty="0">
                <a:solidFill>
                  <a:srgbClr val="1C2833"/>
                </a:solidFill>
                <a:latin typeface="Calibri" pitchFamily="34" charset="0"/>
                <a:ea typeface="Calibri" pitchFamily="34" charset="-122"/>
                <a:cs typeface="Calibri" pitchFamily="34" charset="-120"/>
              </a:rPr>
              <a:t>Dropout: applied in MLP prediction head and between RNN layers</a:t>
            </a:r>
            <a:endParaRPr lang="en-US" sz="1100" dirty="0"/>
          </a:p>
          <a:p>
            <a:r>
              <a:rPr lang="en-US" sz="1100" dirty="0">
                <a:solidFill>
                  <a:srgbClr val="1C2833"/>
                </a:solidFill>
                <a:latin typeface="Calibri" pitchFamily="34" charset="0"/>
                <a:ea typeface="Calibri" pitchFamily="34" charset="-122"/>
                <a:cs typeface="Calibri" pitchFamily="34" charset="-120"/>
              </a:rPr>
              <a:t>Residual connections: in GNN layers to prevent over-smoothing</a:t>
            </a:r>
            <a:endParaRPr lang="en-US" sz="1100" dirty="0"/>
          </a:p>
          <a:p>
            <a:r>
              <a:rPr lang="en-US" sz="1100" dirty="0">
                <a:solidFill>
                  <a:srgbClr val="1C2833"/>
                </a:solidFill>
                <a:latin typeface="Calibri" pitchFamily="34" charset="0"/>
                <a:ea typeface="Calibri" pitchFamily="34" charset="-122"/>
                <a:cs typeface="Calibri" pitchFamily="34" charset="-120"/>
              </a:rPr>
              <a:t>Early stopping: based on validation AUPR (5-epoch patience)</a:t>
            </a:r>
            <a:endParaRPr lang="en-US" sz="1100" dirty="0"/>
          </a:p>
          <a:p>
            <a:r>
              <a:rPr lang="en-US" sz="1100" dirty="0">
                <a:solidFill>
                  <a:srgbClr val="1C2833"/>
                </a:solidFill>
                <a:latin typeface="Calibri" pitchFamily="34" charset="0"/>
                <a:ea typeface="Calibri" pitchFamily="34" charset="-122"/>
                <a:cs typeface="Calibri" pitchFamily="34" charset="-120"/>
              </a:rPr>
              <a:t>Gradient clipping: max norm 1.0 to prevent exploding gradients</a:t>
            </a:r>
            <a:endParaRPr lang="en-US" sz="1100" dirty="0"/>
          </a:p>
        </p:txBody>
      </p:sp>
      <p:sp>
        <p:nvSpPr>
          <p:cNvPr id="16" name="Shape 14"/>
          <p:cNvSpPr/>
          <p:nvPr/>
        </p:nvSpPr>
        <p:spPr>
          <a:xfrm>
            <a:off x="8065008" y="1078992"/>
            <a:ext cx="3849624" cy="2743200"/>
          </a:xfrm>
          <a:prstGeom prst="roundRect">
            <a:avLst>
              <a:gd name="adj" fmla="val 2667"/>
            </a:avLst>
          </a:prstGeom>
          <a:solidFill>
            <a:srgbClr val="C8E6C9"/>
          </a:solidFill>
          <a:ln w="12700">
            <a:solidFill>
              <a:srgbClr val="1B5E20"/>
            </a:solidFill>
            <a:prstDash val="solid"/>
          </a:ln>
        </p:spPr>
        <p:txBody>
          <a:bodyPr/>
          <a:lstStyle/>
          <a:p>
            <a:endParaRPr lang="en-US"/>
          </a:p>
        </p:txBody>
      </p:sp>
      <p:sp>
        <p:nvSpPr>
          <p:cNvPr id="17" name="Shape 15"/>
          <p:cNvSpPr/>
          <p:nvPr/>
        </p:nvSpPr>
        <p:spPr>
          <a:xfrm>
            <a:off x="8065008" y="1078992"/>
            <a:ext cx="3849624" cy="347472"/>
          </a:xfrm>
          <a:prstGeom prst="rect">
            <a:avLst/>
          </a:prstGeom>
          <a:solidFill>
            <a:srgbClr val="1B5E20"/>
          </a:solidFill>
          <a:ln w="12700">
            <a:solidFill>
              <a:srgbClr val="1B5E20"/>
            </a:solidFill>
            <a:prstDash val="solid"/>
          </a:ln>
        </p:spPr>
        <p:txBody>
          <a:bodyPr/>
          <a:lstStyle/>
          <a:p>
            <a:endParaRPr lang="en-US"/>
          </a:p>
        </p:txBody>
      </p:sp>
      <p:sp>
        <p:nvSpPr>
          <p:cNvPr id="18" name="Text 16"/>
          <p:cNvSpPr/>
          <p:nvPr/>
        </p:nvSpPr>
        <p:spPr>
          <a:xfrm>
            <a:off x="8156448" y="1115568"/>
            <a:ext cx="3666744" cy="301752"/>
          </a:xfrm>
          <a:prstGeom prst="rect">
            <a:avLst/>
          </a:prstGeom>
          <a:noFill/>
          <a:ln/>
        </p:spPr>
        <p:txBody>
          <a:bodyPr wrap="square"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Self-Supervised Pretraining</a:t>
            </a:r>
            <a:endParaRPr lang="en-US" sz="1200" dirty="0"/>
          </a:p>
        </p:txBody>
      </p:sp>
      <p:sp>
        <p:nvSpPr>
          <p:cNvPr id="19" name="Text 17"/>
          <p:cNvSpPr/>
          <p:nvPr/>
        </p:nvSpPr>
        <p:spPr>
          <a:xfrm>
            <a:off x="8202168" y="1463040"/>
            <a:ext cx="3593592" cy="2286000"/>
          </a:xfrm>
          <a:prstGeom prst="rect">
            <a:avLst/>
          </a:prstGeom>
          <a:noFill/>
          <a:ln/>
        </p:spPr>
        <p:txBody>
          <a:bodyPr wrap="square" rtlCol="0" anchor="t"/>
          <a:lstStyle/>
          <a:p>
            <a:r>
              <a:rPr lang="en-US" sz="1150" b="1" dirty="0">
                <a:solidFill>
                  <a:srgbClr val="1C2833"/>
                </a:solidFill>
                <a:latin typeface="Calibri" pitchFamily="34" charset="0"/>
                <a:ea typeface="Calibri" pitchFamily="34" charset="-122"/>
                <a:cs typeface="Calibri" pitchFamily="34" charset="-120"/>
              </a:rPr>
              <a:t>Phase 1 — Pretraining:</a:t>
            </a:r>
            <a:endParaRPr lang="en-US" sz="1150" dirty="0"/>
          </a:p>
          <a:p>
            <a:r>
              <a:rPr lang="en-US" sz="1050" dirty="0">
                <a:solidFill>
                  <a:srgbClr val="1C2833"/>
                </a:solidFill>
                <a:latin typeface="Calibri" pitchFamily="34" charset="0"/>
                <a:ea typeface="Calibri" pitchFamily="34" charset="-122"/>
                <a:cs typeface="Calibri" pitchFamily="34" charset="-120"/>
              </a:rPr>
              <a:t>Drug/protein encoders pretrained on large unlabeled corpora (DrugBank, UniProt) using contrastive learning and masked feature prediction</a:t>
            </a:r>
            <a:endParaRPr lang="en-US" sz="1150" dirty="0"/>
          </a:p>
          <a:p>
            <a:r>
              <a:rPr lang="en-US" sz="1150" b="1" dirty="0">
                <a:solidFill>
                  <a:srgbClr val="1C2833"/>
                </a:solidFill>
                <a:latin typeface="Calibri" pitchFamily="34" charset="0"/>
                <a:ea typeface="Calibri" pitchFamily="34" charset="-122"/>
                <a:cs typeface="Calibri" pitchFamily="34" charset="-120"/>
              </a:rPr>
              <a:t>Phase 2 — Fine-tuning:</a:t>
            </a:r>
            <a:endParaRPr lang="en-US" sz="1150" dirty="0"/>
          </a:p>
          <a:p>
            <a:r>
              <a:rPr lang="en-US" sz="1050" dirty="0">
                <a:solidFill>
                  <a:srgbClr val="1C2833"/>
                </a:solidFill>
                <a:latin typeface="Calibri" pitchFamily="34" charset="0"/>
                <a:ea typeface="Calibri" pitchFamily="34" charset="-122"/>
                <a:cs typeface="Calibri" pitchFamily="34" charset="-120"/>
              </a:rPr>
              <a:t>Pretrained encoders fine-tuned end-to-end on labeled DTI datasets with the full H-GNN-RNN-DTI architecture and task-specific loss</a:t>
            </a:r>
            <a:endParaRPr lang="en-US" sz="1150" dirty="0"/>
          </a:p>
          <a:p>
            <a:r>
              <a:rPr lang="en-US" sz="1050" dirty="0">
                <a:solidFill>
                  <a:srgbClr val="1C2833"/>
                </a:solidFill>
                <a:latin typeface="Calibri" pitchFamily="34" charset="0"/>
                <a:ea typeface="Calibri" pitchFamily="34" charset="-122"/>
                <a:cs typeface="Calibri" pitchFamily="34" charset="-120"/>
              </a:rPr>
              <a:t>Benefit: significantly reduces cold-start degradation by encoding transferable biochemical knowledge</a:t>
            </a:r>
            <a:endParaRPr lang="en-US" sz="1150" dirty="0"/>
          </a:p>
        </p:txBody>
      </p:sp>
      <p:sp>
        <p:nvSpPr>
          <p:cNvPr id="20" name="Shape 18"/>
          <p:cNvSpPr/>
          <p:nvPr/>
        </p:nvSpPr>
        <p:spPr>
          <a:xfrm>
            <a:off x="256032" y="3950208"/>
            <a:ext cx="11658600" cy="1719072"/>
          </a:xfrm>
          <a:prstGeom prst="roundRect">
            <a:avLst>
              <a:gd name="adj" fmla="val 4255"/>
            </a:avLst>
          </a:prstGeom>
          <a:solidFill>
            <a:srgbClr val="F3E5F5"/>
          </a:solidFill>
          <a:ln w="12700">
            <a:solidFill>
              <a:srgbClr val="4A148C"/>
            </a:solidFill>
            <a:prstDash val="solid"/>
          </a:ln>
        </p:spPr>
        <p:txBody>
          <a:bodyPr/>
          <a:lstStyle/>
          <a:p>
            <a:endParaRPr lang="en-US"/>
          </a:p>
        </p:txBody>
      </p:sp>
      <p:sp>
        <p:nvSpPr>
          <p:cNvPr id="21" name="Shape 19"/>
          <p:cNvSpPr/>
          <p:nvPr/>
        </p:nvSpPr>
        <p:spPr>
          <a:xfrm>
            <a:off x="256032" y="3950208"/>
            <a:ext cx="11658600" cy="347472"/>
          </a:xfrm>
          <a:prstGeom prst="rect">
            <a:avLst/>
          </a:prstGeom>
          <a:solidFill>
            <a:srgbClr val="4A148C"/>
          </a:solidFill>
          <a:ln w="12700">
            <a:solidFill>
              <a:srgbClr val="4A148C"/>
            </a:solidFill>
            <a:prstDash val="solid"/>
          </a:ln>
        </p:spPr>
        <p:txBody>
          <a:bodyPr/>
          <a:lstStyle/>
          <a:p>
            <a:endParaRPr lang="en-US"/>
          </a:p>
        </p:txBody>
      </p:sp>
      <p:sp>
        <p:nvSpPr>
          <p:cNvPr id="22" name="Text 20"/>
          <p:cNvSpPr/>
          <p:nvPr/>
        </p:nvSpPr>
        <p:spPr>
          <a:xfrm>
            <a:off x="347472" y="3986784"/>
            <a:ext cx="11475720" cy="30175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Experimental &amp; Ablation Protocol</a:t>
            </a:r>
            <a:endParaRPr lang="en-US" sz="1200" dirty="0"/>
          </a:p>
        </p:txBody>
      </p:sp>
      <p:sp>
        <p:nvSpPr>
          <p:cNvPr id="23" name="Text 21"/>
          <p:cNvSpPr/>
          <p:nvPr/>
        </p:nvSpPr>
        <p:spPr>
          <a:xfrm>
            <a:off x="393192" y="4334256"/>
            <a:ext cx="11402568" cy="1261872"/>
          </a:xfrm>
          <a:prstGeom prst="rect">
            <a:avLst/>
          </a:prstGeom>
          <a:noFill/>
          <a:ln/>
        </p:spPr>
        <p:txBody>
          <a:bodyPr wrap="square" rtlCol="0" anchor="t"/>
          <a:lstStyle/>
          <a:p>
            <a:r>
              <a:rPr lang="en-US" sz="1100" dirty="0">
                <a:solidFill>
                  <a:srgbClr val="1C2833"/>
                </a:solidFill>
                <a:latin typeface="Calibri" pitchFamily="34" charset="0"/>
                <a:ea typeface="Calibri" pitchFamily="34" charset="-122"/>
                <a:cs typeface="Calibri" pitchFamily="34" charset="-120"/>
              </a:rPr>
              <a:t>10-fold cross-validation with stratified splits; hold-out test set for final reporting</a:t>
            </a:r>
            <a:endParaRPr lang="en-US" sz="1100" dirty="0"/>
          </a:p>
          <a:p>
            <a:r>
              <a:rPr lang="en-US" sz="1100" dirty="0">
                <a:solidFill>
                  <a:srgbClr val="1C2833"/>
                </a:solidFill>
                <a:latin typeface="Calibri" pitchFamily="34" charset="0"/>
                <a:ea typeface="Calibri" pitchFamily="34" charset="-122"/>
                <a:cs typeface="Calibri" pitchFamily="34" charset="-120"/>
              </a:rPr>
              <a:t>Ablation studies: GNN-only, RNN-only, concatenation fusion, gated fusion — to isolate contribution of each component</a:t>
            </a:r>
            <a:endParaRPr lang="en-US" sz="1100" dirty="0"/>
          </a:p>
          <a:p>
            <a:r>
              <a:rPr lang="en-US" sz="1100" dirty="0">
                <a:solidFill>
                  <a:srgbClr val="1C2833"/>
                </a:solidFill>
                <a:latin typeface="Calibri" pitchFamily="34" charset="0"/>
                <a:ea typeface="Calibri" pitchFamily="34" charset="-122"/>
                <a:cs typeface="Calibri" pitchFamily="34" charset="-120"/>
              </a:rPr>
              <a:t>Hyperparameter optimization: Bayesian search (Optuna) over LR, dropout, hidden dim, attention heads, GNN layers</a:t>
            </a:r>
            <a:endParaRPr lang="en-US" sz="1100" dirty="0"/>
          </a:p>
          <a:p>
            <a:r>
              <a:rPr lang="en-US" sz="1100" dirty="0">
                <a:solidFill>
                  <a:srgbClr val="1C2833"/>
                </a:solidFill>
                <a:latin typeface="Calibri" pitchFamily="34" charset="0"/>
                <a:ea typeface="Calibri" pitchFamily="34" charset="-122"/>
                <a:cs typeface="Calibri" pitchFamily="34" charset="-120"/>
              </a:rPr>
              <a:t>Statistical reporting: mean ± std over 5 random seeds; paired Wilcoxon significance test vs. baselines</a:t>
            </a:r>
            <a:endParaRPr lang="en-US" sz="1100" dirty="0"/>
          </a:p>
        </p:txBody>
      </p:sp>
      <p:sp>
        <p:nvSpPr>
          <p:cNvPr id="25" name="Text 22"/>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Evaluation Protocol: Metrics &amp; Cold-Start Testing</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sp>
        <p:nvSpPr>
          <p:cNvPr id="8" name="Shape 6"/>
          <p:cNvSpPr/>
          <p:nvPr/>
        </p:nvSpPr>
        <p:spPr>
          <a:xfrm>
            <a:off x="256032" y="1078992"/>
            <a:ext cx="5440680" cy="2331720"/>
          </a:xfrm>
          <a:prstGeom prst="roundRect">
            <a:avLst>
              <a:gd name="adj" fmla="val 3137"/>
            </a:avLst>
          </a:prstGeom>
          <a:solidFill>
            <a:srgbClr val="DDEEFF"/>
          </a:solidFill>
          <a:ln w="12700">
            <a:solidFill>
              <a:srgbClr val="1565C0"/>
            </a:solidFill>
            <a:prstDash val="solid"/>
          </a:ln>
        </p:spPr>
        <p:txBody>
          <a:bodyPr/>
          <a:lstStyle/>
          <a:p>
            <a:endParaRPr lang="en-US"/>
          </a:p>
        </p:txBody>
      </p:sp>
      <p:sp>
        <p:nvSpPr>
          <p:cNvPr id="9" name="Shape 7"/>
          <p:cNvSpPr/>
          <p:nvPr/>
        </p:nvSpPr>
        <p:spPr>
          <a:xfrm>
            <a:off x="256032" y="1078992"/>
            <a:ext cx="5440680" cy="347472"/>
          </a:xfrm>
          <a:prstGeom prst="rect">
            <a:avLst/>
          </a:prstGeom>
          <a:solidFill>
            <a:srgbClr val="1565C0"/>
          </a:solidFill>
          <a:ln w="12700">
            <a:solidFill>
              <a:srgbClr val="1565C0"/>
            </a:solidFill>
            <a:prstDash val="solid"/>
          </a:ln>
        </p:spPr>
        <p:txBody>
          <a:bodyPr/>
          <a:lstStyle/>
          <a:p>
            <a:endParaRPr lang="en-US"/>
          </a:p>
        </p:txBody>
      </p:sp>
      <p:sp>
        <p:nvSpPr>
          <p:cNvPr id="10" name="Text 8"/>
          <p:cNvSpPr/>
          <p:nvPr/>
        </p:nvSpPr>
        <p:spPr>
          <a:xfrm>
            <a:off x="347472" y="1115568"/>
            <a:ext cx="5257800" cy="30175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Classification Metrics (DTI)</a:t>
            </a:r>
            <a:endParaRPr lang="en-US" sz="1200" dirty="0"/>
          </a:p>
        </p:txBody>
      </p:sp>
      <p:sp>
        <p:nvSpPr>
          <p:cNvPr id="11" name="Text 9"/>
          <p:cNvSpPr/>
          <p:nvPr/>
        </p:nvSpPr>
        <p:spPr>
          <a:xfrm>
            <a:off x="393192" y="1463040"/>
            <a:ext cx="5184648" cy="1874520"/>
          </a:xfrm>
          <a:prstGeom prst="rect">
            <a:avLst/>
          </a:prstGeom>
          <a:noFill/>
          <a:ln/>
        </p:spPr>
        <p:txBody>
          <a:bodyPr wrap="square" rtlCol="0" anchor="t"/>
          <a:lstStyle/>
          <a:p>
            <a:r>
              <a:rPr lang="en-US" sz="1100" dirty="0">
                <a:solidFill>
                  <a:srgbClr val="1C2833"/>
                </a:solidFill>
                <a:latin typeface="Calibri" pitchFamily="34" charset="0"/>
                <a:ea typeface="Calibri" pitchFamily="34" charset="-122"/>
                <a:cs typeface="Calibri" pitchFamily="34" charset="-120"/>
              </a:rPr>
              <a:t>AUC-ROC: Area under ROC curve — threshold-independent overall discrimination</a:t>
            </a:r>
            <a:endParaRPr lang="en-US" sz="1100" dirty="0"/>
          </a:p>
          <a:p>
            <a:r>
              <a:rPr lang="en-US" sz="1100" dirty="0">
                <a:solidFill>
                  <a:srgbClr val="1C2833"/>
                </a:solidFill>
                <a:latin typeface="Calibri" pitchFamily="34" charset="0"/>
                <a:ea typeface="Calibri" pitchFamily="34" charset="-122"/>
                <a:cs typeface="Calibri" pitchFamily="34" charset="-120"/>
              </a:rPr>
              <a:t>AUPR: Area under Precision-Recall curve — preferred for imbalanced data; sensitive to minority class performance</a:t>
            </a:r>
            <a:endParaRPr lang="en-US" sz="1100" dirty="0"/>
          </a:p>
          <a:p>
            <a:r>
              <a:rPr lang="en-US" sz="1100" dirty="0">
                <a:solidFill>
                  <a:srgbClr val="1C2833"/>
                </a:solidFill>
                <a:latin typeface="Calibri" pitchFamily="34" charset="0"/>
                <a:ea typeface="Calibri" pitchFamily="34" charset="-122"/>
                <a:cs typeface="Calibri" pitchFamily="34" charset="-120"/>
              </a:rPr>
              <a:t>F1 Score: harmonic mean of precision and recall at optimal threshold</a:t>
            </a:r>
            <a:endParaRPr lang="en-US" sz="1100" dirty="0"/>
          </a:p>
          <a:p>
            <a:r>
              <a:rPr lang="en-US" sz="1100" dirty="0">
                <a:solidFill>
                  <a:srgbClr val="1C2833"/>
                </a:solidFill>
                <a:latin typeface="Calibri" pitchFamily="34" charset="0"/>
                <a:ea typeface="Calibri" pitchFamily="34" charset="-122"/>
                <a:cs typeface="Calibri" pitchFamily="34" charset="-120"/>
              </a:rPr>
              <a:t>Formula: AUPR = ∫ Precision(Recall) d(Recall)</a:t>
            </a:r>
            <a:endParaRPr lang="en-US" sz="1100" dirty="0"/>
          </a:p>
        </p:txBody>
      </p:sp>
      <p:sp>
        <p:nvSpPr>
          <p:cNvPr id="12" name="Shape 10"/>
          <p:cNvSpPr/>
          <p:nvPr/>
        </p:nvSpPr>
        <p:spPr>
          <a:xfrm>
            <a:off x="5806440" y="1078992"/>
            <a:ext cx="6108192" cy="2331720"/>
          </a:xfrm>
          <a:prstGeom prst="roundRect">
            <a:avLst>
              <a:gd name="adj" fmla="val 3137"/>
            </a:avLst>
          </a:prstGeom>
          <a:solidFill>
            <a:srgbClr val="FFF3E0"/>
          </a:solidFill>
          <a:ln w="12700">
            <a:solidFill>
              <a:srgbClr val="E65100"/>
            </a:solidFill>
            <a:prstDash val="solid"/>
          </a:ln>
        </p:spPr>
        <p:txBody>
          <a:bodyPr/>
          <a:lstStyle/>
          <a:p>
            <a:endParaRPr lang="en-US"/>
          </a:p>
        </p:txBody>
      </p:sp>
      <p:sp>
        <p:nvSpPr>
          <p:cNvPr id="13" name="Shape 11"/>
          <p:cNvSpPr/>
          <p:nvPr/>
        </p:nvSpPr>
        <p:spPr>
          <a:xfrm>
            <a:off x="5806440" y="1078992"/>
            <a:ext cx="6108192" cy="347472"/>
          </a:xfrm>
          <a:prstGeom prst="rect">
            <a:avLst/>
          </a:prstGeom>
          <a:solidFill>
            <a:srgbClr val="E65100"/>
          </a:solidFill>
          <a:ln w="12700">
            <a:solidFill>
              <a:srgbClr val="E65100"/>
            </a:solidFill>
            <a:prstDash val="solid"/>
          </a:ln>
        </p:spPr>
        <p:txBody>
          <a:bodyPr/>
          <a:lstStyle/>
          <a:p>
            <a:endParaRPr lang="en-US"/>
          </a:p>
        </p:txBody>
      </p:sp>
      <p:sp>
        <p:nvSpPr>
          <p:cNvPr id="14" name="Text 12"/>
          <p:cNvSpPr/>
          <p:nvPr/>
        </p:nvSpPr>
        <p:spPr>
          <a:xfrm>
            <a:off x="5897880" y="1115568"/>
            <a:ext cx="5925312" cy="301752"/>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Regression Metrics (DTA)</a:t>
            </a:r>
            <a:endParaRPr lang="en-US" sz="1200" dirty="0"/>
          </a:p>
        </p:txBody>
      </p:sp>
      <p:sp>
        <p:nvSpPr>
          <p:cNvPr id="15" name="Text 13"/>
          <p:cNvSpPr/>
          <p:nvPr/>
        </p:nvSpPr>
        <p:spPr>
          <a:xfrm>
            <a:off x="5943600" y="1463040"/>
            <a:ext cx="5852160" cy="1874520"/>
          </a:xfrm>
          <a:prstGeom prst="rect">
            <a:avLst/>
          </a:prstGeom>
          <a:noFill/>
          <a:ln/>
        </p:spPr>
        <p:txBody>
          <a:bodyPr wrap="square" rtlCol="0" anchor="t"/>
          <a:lstStyle/>
          <a:p>
            <a:r>
              <a:rPr lang="en-US" sz="1100" dirty="0">
                <a:solidFill>
                  <a:srgbClr val="1C2833"/>
                </a:solidFill>
                <a:latin typeface="Calibri" pitchFamily="34" charset="0"/>
                <a:ea typeface="Calibri" pitchFamily="34" charset="-122"/>
                <a:cs typeface="Calibri" pitchFamily="34" charset="-120"/>
              </a:rPr>
              <a:t>RMSE = √[(1/N) Σ(ŷᵢ - yᵢ)²] — penalizes large errors more severely</a:t>
            </a:r>
            <a:endParaRPr lang="en-US" sz="1100" dirty="0"/>
          </a:p>
          <a:p>
            <a:r>
              <a:rPr lang="en-US" sz="1100" dirty="0">
                <a:solidFill>
                  <a:srgbClr val="1C2833"/>
                </a:solidFill>
                <a:latin typeface="Calibri" pitchFamily="34" charset="0"/>
                <a:ea typeface="Calibri" pitchFamily="34" charset="-122"/>
                <a:cs typeface="Calibri" pitchFamily="34" charset="-120"/>
              </a:rPr>
              <a:t>MAE = (1/N) Σ|ŷᵢ - yᵢ| — robust to outliers; interpretable in affinity units</a:t>
            </a:r>
            <a:endParaRPr lang="en-US" sz="1100" dirty="0"/>
          </a:p>
          <a:p>
            <a:r>
              <a:rPr lang="en-US" sz="1100" dirty="0">
                <a:solidFill>
                  <a:srgbClr val="1C2833"/>
                </a:solidFill>
                <a:latin typeface="Calibri" pitchFamily="34" charset="0"/>
                <a:ea typeface="Calibri" pitchFamily="34" charset="-122"/>
                <a:cs typeface="Calibri" pitchFamily="34" charset="-120"/>
              </a:rPr>
              <a:t>CI (Concordance Index): measures ranking accuracy of predicted affinities among all valid pairs</a:t>
            </a:r>
            <a:endParaRPr lang="en-US" sz="1100" dirty="0"/>
          </a:p>
          <a:p>
            <a:r>
              <a:rPr lang="en-US" sz="1100" dirty="0">
                <a:solidFill>
                  <a:srgbClr val="1C2833"/>
                </a:solidFill>
                <a:latin typeface="Calibri" pitchFamily="34" charset="0"/>
                <a:ea typeface="Calibri" pitchFamily="34" charset="-122"/>
                <a:cs typeface="Calibri" pitchFamily="34" charset="-120"/>
              </a:rPr>
              <a:t>PCC: Pearson Correlation Coefficient — linear correlation between predicted and experimental values</a:t>
            </a:r>
            <a:endParaRPr lang="en-US" sz="1100" dirty="0"/>
          </a:p>
        </p:txBody>
      </p:sp>
      <p:sp>
        <p:nvSpPr>
          <p:cNvPr id="16" name="Text 14"/>
          <p:cNvSpPr/>
          <p:nvPr/>
        </p:nvSpPr>
        <p:spPr>
          <a:xfrm>
            <a:off x="256032" y="3529584"/>
            <a:ext cx="5486400" cy="274320"/>
          </a:xfrm>
          <a:prstGeom prst="rect">
            <a:avLst/>
          </a:prstGeom>
          <a:noFill/>
          <a:ln/>
        </p:spPr>
        <p:txBody>
          <a:bodyPr wrap="square" rtlCol="0" anchor="ctr"/>
          <a:lstStyle/>
          <a:p>
            <a:pPr marL="0" indent="0">
              <a:buNone/>
            </a:pPr>
            <a:r>
              <a:rPr lang="en-US" sz="1300" b="1" dirty="0">
                <a:solidFill>
                  <a:srgbClr val="1A3A6E"/>
                </a:solidFill>
                <a:latin typeface="Calibri" pitchFamily="34" charset="0"/>
                <a:ea typeface="Calibri" pitchFamily="34" charset="-122"/>
                <a:cs typeface="Calibri" pitchFamily="34" charset="-120"/>
              </a:rPr>
              <a:t>Cold-Start Evaluation Settings:</a:t>
            </a:r>
            <a:endParaRPr lang="en-US" sz="1300" dirty="0"/>
          </a:p>
        </p:txBody>
      </p:sp>
      <p:sp>
        <p:nvSpPr>
          <p:cNvPr id="17" name="Shape 15"/>
          <p:cNvSpPr/>
          <p:nvPr/>
        </p:nvSpPr>
        <p:spPr>
          <a:xfrm>
            <a:off x="256032" y="3840480"/>
            <a:ext cx="11658600" cy="566928"/>
          </a:xfrm>
          <a:prstGeom prst="roundRect">
            <a:avLst>
              <a:gd name="adj" fmla="val 9677"/>
            </a:avLst>
          </a:prstGeom>
          <a:solidFill>
            <a:srgbClr val="ECEFF1"/>
          </a:solidFill>
          <a:ln w="12700">
            <a:solidFill>
              <a:srgbClr val="1B5E20"/>
            </a:solidFill>
            <a:prstDash val="solid"/>
          </a:ln>
        </p:spPr>
        <p:txBody>
          <a:bodyPr/>
          <a:lstStyle/>
          <a:p>
            <a:endParaRPr lang="en-US"/>
          </a:p>
        </p:txBody>
      </p:sp>
      <p:sp>
        <p:nvSpPr>
          <p:cNvPr id="18" name="Shape 16"/>
          <p:cNvSpPr/>
          <p:nvPr/>
        </p:nvSpPr>
        <p:spPr>
          <a:xfrm>
            <a:off x="256032" y="3840480"/>
            <a:ext cx="2240280" cy="566928"/>
          </a:xfrm>
          <a:prstGeom prst="rect">
            <a:avLst/>
          </a:prstGeom>
          <a:solidFill>
            <a:srgbClr val="1B5E20"/>
          </a:solidFill>
          <a:ln w="12700">
            <a:solidFill>
              <a:srgbClr val="1B5E20"/>
            </a:solidFill>
            <a:prstDash val="solid"/>
          </a:ln>
        </p:spPr>
        <p:txBody>
          <a:bodyPr/>
          <a:lstStyle/>
          <a:p>
            <a:endParaRPr lang="en-US"/>
          </a:p>
        </p:txBody>
      </p:sp>
      <p:sp>
        <p:nvSpPr>
          <p:cNvPr id="19" name="Text 17"/>
          <p:cNvSpPr/>
          <p:nvPr/>
        </p:nvSpPr>
        <p:spPr>
          <a:xfrm>
            <a:off x="310896" y="3950208"/>
            <a:ext cx="21305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S1 — Warm-Start</a:t>
            </a:r>
            <a:endParaRPr lang="en-US" sz="1100" dirty="0"/>
          </a:p>
        </p:txBody>
      </p:sp>
      <p:sp>
        <p:nvSpPr>
          <p:cNvPr id="20" name="Text 18"/>
          <p:cNvSpPr/>
          <p:nvPr/>
        </p:nvSpPr>
        <p:spPr>
          <a:xfrm>
            <a:off x="2578608" y="3895344"/>
            <a:ext cx="5074920" cy="457200"/>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Random split; drugs &amp; targets in test set were seen in training</a:t>
            </a:r>
            <a:endParaRPr lang="en-US" sz="1050" dirty="0"/>
          </a:p>
        </p:txBody>
      </p:sp>
      <p:sp>
        <p:nvSpPr>
          <p:cNvPr id="21" name="Text 19"/>
          <p:cNvSpPr/>
          <p:nvPr/>
        </p:nvSpPr>
        <p:spPr>
          <a:xfrm>
            <a:off x="7726680" y="3895344"/>
            <a:ext cx="4114800" cy="457200"/>
          </a:xfrm>
          <a:prstGeom prst="rect">
            <a:avLst/>
          </a:prstGeom>
          <a:noFill/>
          <a:ln/>
        </p:spPr>
        <p:txBody>
          <a:bodyPr wrap="square" rtlCol="0" anchor="ctr"/>
          <a:lstStyle/>
          <a:p>
            <a:pPr marL="0" indent="0">
              <a:buNone/>
            </a:pPr>
            <a:r>
              <a:rPr lang="en-US" sz="1050" b="1" dirty="0">
                <a:solidFill>
                  <a:srgbClr val="1B5E20"/>
                </a:solidFill>
                <a:latin typeface="Calibri" pitchFamily="34" charset="0"/>
                <a:ea typeface="Calibri" pitchFamily="34" charset="-122"/>
                <a:cs typeface="Calibri" pitchFamily="34" charset="-120"/>
              </a:rPr>
              <a:t>Baseline performance; enables comparison with literature</a:t>
            </a:r>
            <a:endParaRPr lang="en-US" sz="1050" dirty="0"/>
          </a:p>
        </p:txBody>
      </p:sp>
      <p:sp>
        <p:nvSpPr>
          <p:cNvPr id="22" name="Shape 20"/>
          <p:cNvSpPr/>
          <p:nvPr/>
        </p:nvSpPr>
        <p:spPr>
          <a:xfrm>
            <a:off x="256032" y="4462272"/>
            <a:ext cx="11658600" cy="566928"/>
          </a:xfrm>
          <a:prstGeom prst="roundRect">
            <a:avLst>
              <a:gd name="adj" fmla="val 9677"/>
            </a:avLst>
          </a:prstGeom>
          <a:solidFill>
            <a:srgbClr val="FFFFFF"/>
          </a:solidFill>
          <a:ln w="12700">
            <a:solidFill>
              <a:srgbClr val="1565C0"/>
            </a:solidFill>
            <a:prstDash val="solid"/>
          </a:ln>
        </p:spPr>
        <p:txBody>
          <a:bodyPr/>
          <a:lstStyle/>
          <a:p>
            <a:endParaRPr lang="en-US"/>
          </a:p>
        </p:txBody>
      </p:sp>
      <p:sp>
        <p:nvSpPr>
          <p:cNvPr id="23" name="Shape 21"/>
          <p:cNvSpPr/>
          <p:nvPr/>
        </p:nvSpPr>
        <p:spPr>
          <a:xfrm>
            <a:off x="256032" y="4462272"/>
            <a:ext cx="2240280" cy="566928"/>
          </a:xfrm>
          <a:prstGeom prst="rect">
            <a:avLst/>
          </a:prstGeom>
          <a:solidFill>
            <a:srgbClr val="1565C0"/>
          </a:solidFill>
          <a:ln w="12700">
            <a:solidFill>
              <a:srgbClr val="1565C0"/>
            </a:solidFill>
            <a:prstDash val="solid"/>
          </a:ln>
        </p:spPr>
        <p:txBody>
          <a:bodyPr/>
          <a:lstStyle/>
          <a:p>
            <a:endParaRPr lang="en-US"/>
          </a:p>
        </p:txBody>
      </p:sp>
      <p:sp>
        <p:nvSpPr>
          <p:cNvPr id="24" name="Text 22"/>
          <p:cNvSpPr/>
          <p:nvPr/>
        </p:nvSpPr>
        <p:spPr>
          <a:xfrm>
            <a:off x="310896" y="4572000"/>
            <a:ext cx="21305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S2 — Cold-Drug</a:t>
            </a:r>
            <a:endParaRPr lang="en-US" sz="1100" dirty="0"/>
          </a:p>
        </p:txBody>
      </p:sp>
      <p:sp>
        <p:nvSpPr>
          <p:cNvPr id="25" name="Text 23"/>
          <p:cNvSpPr/>
          <p:nvPr/>
        </p:nvSpPr>
        <p:spPr>
          <a:xfrm>
            <a:off x="2578608" y="4517136"/>
            <a:ext cx="5074920" cy="457200"/>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Drug-disjoint split; all test compounds are NOVEL</a:t>
            </a:r>
            <a:endParaRPr lang="en-US" sz="1050" dirty="0"/>
          </a:p>
        </p:txBody>
      </p:sp>
      <p:sp>
        <p:nvSpPr>
          <p:cNvPr id="26" name="Text 24"/>
          <p:cNvSpPr/>
          <p:nvPr/>
        </p:nvSpPr>
        <p:spPr>
          <a:xfrm>
            <a:off x="7726680" y="4517136"/>
            <a:ext cx="4114800" cy="457200"/>
          </a:xfrm>
          <a:prstGeom prst="rect">
            <a:avLst/>
          </a:prstGeom>
          <a:noFill/>
          <a:ln/>
        </p:spPr>
        <p:txBody>
          <a:bodyPr wrap="square" rtlCol="0" anchor="ctr"/>
          <a:lstStyle/>
          <a:p>
            <a:pPr marL="0" indent="0">
              <a:buNone/>
            </a:pPr>
            <a:r>
              <a:rPr lang="en-US" sz="1050" b="1" dirty="0">
                <a:solidFill>
                  <a:srgbClr val="1565C0"/>
                </a:solidFill>
                <a:latin typeface="Calibri" pitchFamily="34" charset="0"/>
                <a:ea typeface="Calibri" pitchFamily="34" charset="-122"/>
                <a:cs typeface="Calibri" pitchFamily="34" charset="-120"/>
              </a:rPr>
              <a:t>Tests generalization to new chemical scaffolds</a:t>
            </a:r>
            <a:endParaRPr lang="en-US" sz="1050" dirty="0"/>
          </a:p>
        </p:txBody>
      </p:sp>
      <p:sp>
        <p:nvSpPr>
          <p:cNvPr id="27" name="Shape 25"/>
          <p:cNvSpPr/>
          <p:nvPr/>
        </p:nvSpPr>
        <p:spPr>
          <a:xfrm>
            <a:off x="256032" y="5084064"/>
            <a:ext cx="11658600" cy="566928"/>
          </a:xfrm>
          <a:prstGeom prst="roundRect">
            <a:avLst>
              <a:gd name="adj" fmla="val 9677"/>
            </a:avLst>
          </a:prstGeom>
          <a:solidFill>
            <a:srgbClr val="ECEFF1"/>
          </a:solidFill>
          <a:ln w="12700">
            <a:solidFill>
              <a:srgbClr val="4A148C"/>
            </a:solidFill>
            <a:prstDash val="solid"/>
          </a:ln>
        </p:spPr>
        <p:txBody>
          <a:bodyPr/>
          <a:lstStyle/>
          <a:p>
            <a:endParaRPr lang="en-US"/>
          </a:p>
        </p:txBody>
      </p:sp>
      <p:sp>
        <p:nvSpPr>
          <p:cNvPr id="28" name="Shape 26"/>
          <p:cNvSpPr/>
          <p:nvPr/>
        </p:nvSpPr>
        <p:spPr>
          <a:xfrm>
            <a:off x="256032" y="5084064"/>
            <a:ext cx="2240280" cy="566928"/>
          </a:xfrm>
          <a:prstGeom prst="rect">
            <a:avLst/>
          </a:prstGeom>
          <a:solidFill>
            <a:srgbClr val="4A148C"/>
          </a:solidFill>
          <a:ln w="12700">
            <a:solidFill>
              <a:srgbClr val="4A148C"/>
            </a:solidFill>
            <a:prstDash val="solid"/>
          </a:ln>
        </p:spPr>
        <p:txBody>
          <a:bodyPr/>
          <a:lstStyle/>
          <a:p>
            <a:endParaRPr lang="en-US"/>
          </a:p>
        </p:txBody>
      </p:sp>
      <p:sp>
        <p:nvSpPr>
          <p:cNvPr id="29" name="Text 27"/>
          <p:cNvSpPr/>
          <p:nvPr/>
        </p:nvSpPr>
        <p:spPr>
          <a:xfrm>
            <a:off x="310896" y="5193792"/>
            <a:ext cx="21305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S3 — Cold-Target</a:t>
            </a:r>
            <a:endParaRPr lang="en-US" sz="1100" dirty="0"/>
          </a:p>
        </p:txBody>
      </p:sp>
      <p:sp>
        <p:nvSpPr>
          <p:cNvPr id="30" name="Text 28"/>
          <p:cNvSpPr/>
          <p:nvPr/>
        </p:nvSpPr>
        <p:spPr>
          <a:xfrm>
            <a:off x="2578608" y="5138928"/>
            <a:ext cx="5074920" cy="457200"/>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Target-disjoint split; all test proteins are NOVEL</a:t>
            </a:r>
            <a:endParaRPr lang="en-US" sz="1050" dirty="0"/>
          </a:p>
        </p:txBody>
      </p:sp>
      <p:sp>
        <p:nvSpPr>
          <p:cNvPr id="31" name="Text 29"/>
          <p:cNvSpPr/>
          <p:nvPr/>
        </p:nvSpPr>
        <p:spPr>
          <a:xfrm>
            <a:off x="7726680" y="5138928"/>
            <a:ext cx="4114800" cy="457200"/>
          </a:xfrm>
          <a:prstGeom prst="rect">
            <a:avLst/>
          </a:prstGeom>
          <a:noFill/>
          <a:ln/>
        </p:spPr>
        <p:txBody>
          <a:bodyPr wrap="square" rtlCol="0" anchor="ctr"/>
          <a:lstStyle/>
          <a:p>
            <a:pPr marL="0" indent="0">
              <a:buNone/>
            </a:pPr>
            <a:r>
              <a:rPr lang="en-US" sz="1050" b="1" dirty="0">
                <a:solidFill>
                  <a:srgbClr val="4A148C"/>
                </a:solidFill>
                <a:latin typeface="Calibri" pitchFamily="34" charset="0"/>
                <a:ea typeface="Calibri" pitchFamily="34" charset="-122"/>
                <a:cs typeface="Calibri" pitchFamily="34" charset="-120"/>
              </a:rPr>
              <a:t>Tests generalization to unexplored protein targets</a:t>
            </a:r>
            <a:endParaRPr lang="en-US" sz="1050" dirty="0"/>
          </a:p>
        </p:txBody>
      </p:sp>
      <p:sp>
        <p:nvSpPr>
          <p:cNvPr id="32" name="Shape 30"/>
          <p:cNvSpPr/>
          <p:nvPr/>
        </p:nvSpPr>
        <p:spPr>
          <a:xfrm>
            <a:off x="256032" y="5705856"/>
            <a:ext cx="11658600" cy="566928"/>
          </a:xfrm>
          <a:prstGeom prst="roundRect">
            <a:avLst>
              <a:gd name="adj" fmla="val 9677"/>
            </a:avLst>
          </a:prstGeom>
          <a:solidFill>
            <a:srgbClr val="FFFFFF"/>
          </a:solidFill>
          <a:ln w="12700">
            <a:solidFill>
              <a:srgbClr val="E65100"/>
            </a:solidFill>
            <a:prstDash val="solid"/>
          </a:ln>
        </p:spPr>
        <p:txBody>
          <a:bodyPr/>
          <a:lstStyle/>
          <a:p>
            <a:endParaRPr lang="en-US"/>
          </a:p>
        </p:txBody>
      </p:sp>
      <p:sp>
        <p:nvSpPr>
          <p:cNvPr id="33" name="Shape 31"/>
          <p:cNvSpPr/>
          <p:nvPr/>
        </p:nvSpPr>
        <p:spPr>
          <a:xfrm>
            <a:off x="256032" y="5705856"/>
            <a:ext cx="2240280" cy="566928"/>
          </a:xfrm>
          <a:prstGeom prst="rect">
            <a:avLst/>
          </a:prstGeom>
          <a:solidFill>
            <a:srgbClr val="E65100"/>
          </a:solidFill>
          <a:ln w="12700">
            <a:solidFill>
              <a:srgbClr val="E65100"/>
            </a:solidFill>
            <a:prstDash val="solid"/>
          </a:ln>
        </p:spPr>
        <p:txBody>
          <a:bodyPr/>
          <a:lstStyle/>
          <a:p>
            <a:endParaRPr lang="en-US"/>
          </a:p>
        </p:txBody>
      </p:sp>
      <p:sp>
        <p:nvSpPr>
          <p:cNvPr id="34" name="Text 32"/>
          <p:cNvSpPr/>
          <p:nvPr/>
        </p:nvSpPr>
        <p:spPr>
          <a:xfrm>
            <a:off x="310896" y="5815584"/>
            <a:ext cx="21305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Cross-Dataset</a:t>
            </a:r>
            <a:endParaRPr lang="en-US" sz="1100" dirty="0"/>
          </a:p>
        </p:txBody>
      </p:sp>
      <p:sp>
        <p:nvSpPr>
          <p:cNvPr id="35" name="Text 33"/>
          <p:cNvSpPr/>
          <p:nvPr/>
        </p:nvSpPr>
        <p:spPr>
          <a:xfrm>
            <a:off x="2578608" y="5760720"/>
            <a:ext cx="5074920" cy="457200"/>
          </a:xfrm>
          <a:prstGeom prst="rect">
            <a:avLst/>
          </a:prstGeom>
          <a:noFill/>
          <a:ln/>
        </p:spPr>
        <p:txBody>
          <a:bodyPr wrap="square" rtlCol="0" anchor="ctr"/>
          <a:lstStyle/>
          <a:p>
            <a:pPr marL="0" indent="0">
              <a:buNone/>
            </a:pPr>
            <a:r>
              <a:rPr lang="en-US" sz="1050" dirty="0">
                <a:solidFill>
                  <a:srgbClr val="1C2833"/>
                </a:solidFill>
                <a:latin typeface="Calibri" pitchFamily="34" charset="0"/>
                <a:ea typeface="Calibri" pitchFamily="34" charset="-122"/>
                <a:cs typeface="Calibri" pitchFamily="34" charset="-120"/>
              </a:rPr>
              <a:t>Train on BindingDB, test on DAVIS/KIBA</a:t>
            </a:r>
            <a:endParaRPr lang="en-US" sz="1050" dirty="0"/>
          </a:p>
        </p:txBody>
      </p:sp>
      <p:sp>
        <p:nvSpPr>
          <p:cNvPr id="36" name="Text 34"/>
          <p:cNvSpPr/>
          <p:nvPr/>
        </p:nvSpPr>
        <p:spPr>
          <a:xfrm>
            <a:off x="7726680" y="5760720"/>
            <a:ext cx="4114800" cy="457200"/>
          </a:xfrm>
          <a:prstGeom prst="rect">
            <a:avLst/>
          </a:prstGeom>
          <a:noFill/>
          <a:ln/>
        </p:spPr>
        <p:txBody>
          <a:bodyPr wrap="square" rtlCol="0" anchor="ctr"/>
          <a:lstStyle/>
          <a:p>
            <a:pPr marL="0" indent="0">
              <a:buNone/>
            </a:pPr>
            <a:r>
              <a:rPr lang="en-US" sz="1050" b="1" dirty="0">
                <a:solidFill>
                  <a:srgbClr val="E65100"/>
                </a:solidFill>
                <a:latin typeface="Calibri" pitchFamily="34" charset="0"/>
                <a:ea typeface="Calibri" pitchFamily="34" charset="-122"/>
                <a:cs typeface="Calibri" pitchFamily="34" charset="-120"/>
              </a:rPr>
              <a:t>Tests domain transferability across experimental protocols</a:t>
            </a:r>
            <a:endParaRPr lang="en-US" sz="1050" dirty="0"/>
          </a:p>
        </p:txBody>
      </p:sp>
      <p:sp>
        <p:nvSpPr>
          <p:cNvPr id="38" name="Text 35"/>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E65100"/>
          </a:solidFill>
          <a:ln w="12700">
            <a:solidFill>
              <a:srgbClr val="E6510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Interpretability &amp; Explainability Framework</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E65100"/>
          </a:solidFill>
          <a:ln w="12700">
            <a:solidFill>
              <a:srgbClr val="E65100"/>
            </a:solidFill>
            <a:prstDash val="solid"/>
          </a:ln>
        </p:spPr>
        <p:txBody>
          <a:bodyPr/>
          <a:lstStyle/>
          <a:p>
            <a:endParaRPr lang="en-US"/>
          </a:p>
        </p:txBody>
      </p:sp>
      <p:sp>
        <p:nvSpPr>
          <p:cNvPr id="8" name="Shape 6"/>
          <p:cNvSpPr/>
          <p:nvPr/>
        </p:nvSpPr>
        <p:spPr>
          <a:xfrm>
            <a:off x="256032" y="1078992"/>
            <a:ext cx="3794760" cy="4983480"/>
          </a:xfrm>
          <a:prstGeom prst="roundRect">
            <a:avLst>
              <a:gd name="adj" fmla="val 1928"/>
            </a:avLst>
          </a:prstGeom>
          <a:solidFill>
            <a:srgbClr val="F3E5F5"/>
          </a:solidFill>
          <a:ln w="12700">
            <a:solidFill>
              <a:srgbClr val="4A148C"/>
            </a:solidFill>
            <a:prstDash val="solid"/>
          </a:ln>
        </p:spPr>
        <p:txBody>
          <a:bodyPr/>
          <a:lstStyle/>
          <a:p>
            <a:endParaRPr lang="en-US"/>
          </a:p>
        </p:txBody>
      </p:sp>
      <p:sp>
        <p:nvSpPr>
          <p:cNvPr id="9" name="Shape 7"/>
          <p:cNvSpPr/>
          <p:nvPr/>
        </p:nvSpPr>
        <p:spPr>
          <a:xfrm>
            <a:off x="256032" y="1078992"/>
            <a:ext cx="3794760" cy="347472"/>
          </a:xfrm>
          <a:prstGeom prst="rect">
            <a:avLst/>
          </a:prstGeom>
          <a:solidFill>
            <a:srgbClr val="4A148C"/>
          </a:solidFill>
          <a:ln w="12700">
            <a:solidFill>
              <a:srgbClr val="4A148C"/>
            </a:solidFill>
            <a:prstDash val="solid"/>
          </a:ln>
        </p:spPr>
        <p:txBody>
          <a:bodyPr/>
          <a:lstStyle/>
          <a:p>
            <a:endParaRPr lang="en-US"/>
          </a:p>
        </p:txBody>
      </p:sp>
      <p:sp>
        <p:nvSpPr>
          <p:cNvPr id="10" name="Text 8"/>
          <p:cNvSpPr/>
          <p:nvPr/>
        </p:nvSpPr>
        <p:spPr>
          <a:xfrm>
            <a:off x="347472" y="1115568"/>
            <a:ext cx="3611880" cy="30175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Attention-Based Attribution</a:t>
            </a:r>
            <a:endParaRPr lang="en-US" sz="1200" dirty="0"/>
          </a:p>
        </p:txBody>
      </p:sp>
      <p:sp>
        <p:nvSpPr>
          <p:cNvPr id="11" name="Text 9"/>
          <p:cNvSpPr/>
          <p:nvPr/>
        </p:nvSpPr>
        <p:spPr>
          <a:xfrm>
            <a:off x="393192" y="1463040"/>
            <a:ext cx="3538728" cy="4526280"/>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The Gated Cross-Attention weight matrix A_{d→p} ∈ ℝ^(n×m) directly encodes the contribution of each drug atom to each protein residue</a:t>
            </a:r>
            <a:endParaRPr lang="en-US" sz="1050" dirty="0"/>
          </a:p>
          <a:p>
            <a:r>
              <a:rPr lang="en-US" sz="1050" dirty="0">
                <a:solidFill>
                  <a:srgbClr val="1C2833"/>
                </a:solidFill>
                <a:latin typeface="Calibri" pitchFamily="34" charset="0"/>
                <a:ea typeface="Calibri" pitchFamily="34" charset="-122"/>
                <a:cs typeface="Calibri" pitchFamily="34" charset="-120"/>
              </a:rPr>
              <a:t>Atom importance score: α_v = Σⱼ A_v,j (summed over protein positions)</a:t>
            </a:r>
            <a:endParaRPr lang="en-US" sz="1050" dirty="0"/>
          </a:p>
          <a:p>
            <a:r>
              <a:rPr lang="en-US" sz="1050" dirty="0">
                <a:solidFill>
                  <a:srgbClr val="1C2833"/>
                </a:solidFill>
                <a:latin typeface="Calibri" pitchFamily="34" charset="0"/>
                <a:ea typeface="Calibri" pitchFamily="34" charset="-122"/>
                <a:cs typeface="Calibri" pitchFamily="34" charset="-120"/>
              </a:rPr>
              <a:t>Residue importance score: α_r = Σᵢ A_i,r (summed over drug atoms)</a:t>
            </a:r>
            <a:endParaRPr lang="en-US" sz="1050" dirty="0"/>
          </a:p>
          <a:p>
            <a:r>
              <a:rPr lang="en-US" sz="1050" dirty="0">
                <a:solidFill>
                  <a:srgbClr val="1C2833"/>
                </a:solidFill>
                <a:latin typeface="Calibri" pitchFamily="34" charset="0"/>
                <a:ea typeface="Calibri" pitchFamily="34" charset="-122"/>
                <a:cs typeface="Calibri" pitchFamily="34" charset="-120"/>
              </a:rPr>
              <a:t>High-weight atom-residue pairs indicate predicted binding contacts</a:t>
            </a:r>
            <a:endParaRPr lang="en-US" sz="1050" dirty="0"/>
          </a:p>
          <a:p>
            <a:r>
              <a:rPr lang="en-US" sz="1050" dirty="0">
                <a:solidFill>
                  <a:srgbClr val="1C2833"/>
                </a:solidFill>
                <a:latin typeface="Calibri" pitchFamily="34" charset="0"/>
                <a:ea typeface="Calibri" pitchFamily="34" charset="-122"/>
                <a:cs typeface="Calibri" pitchFamily="34" charset="-120"/>
              </a:rPr>
              <a:t>Intrinsic XAI: interpretability is built into the architecture, not added post-hoc</a:t>
            </a:r>
            <a:endParaRPr lang="en-US" sz="1050" dirty="0"/>
          </a:p>
        </p:txBody>
      </p:sp>
      <p:sp>
        <p:nvSpPr>
          <p:cNvPr id="12" name="Shape 10"/>
          <p:cNvSpPr/>
          <p:nvPr/>
        </p:nvSpPr>
        <p:spPr>
          <a:xfrm>
            <a:off x="4160520" y="1078992"/>
            <a:ext cx="3794760" cy="4983480"/>
          </a:xfrm>
          <a:prstGeom prst="roundRect">
            <a:avLst>
              <a:gd name="adj" fmla="val 1928"/>
            </a:avLst>
          </a:prstGeom>
          <a:solidFill>
            <a:srgbClr val="FFF9C4"/>
          </a:solidFill>
          <a:ln w="12700">
            <a:solidFill>
              <a:srgbClr val="F57F17"/>
            </a:solidFill>
            <a:prstDash val="solid"/>
          </a:ln>
        </p:spPr>
        <p:txBody>
          <a:bodyPr/>
          <a:lstStyle/>
          <a:p>
            <a:endParaRPr lang="en-US"/>
          </a:p>
        </p:txBody>
      </p:sp>
      <p:sp>
        <p:nvSpPr>
          <p:cNvPr id="13" name="Shape 11"/>
          <p:cNvSpPr/>
          <p:nvPr/>
        </p:nvSpPr>
        <p:spPr>
          <a:xfrm>
            <a:off x="4160520" y="1078992"/>
            <a:ext cx="3794760" cy="347472"/>
          </a:xfrm>
          <a:prstGeom prst="rect">
            <a:avLst/>
          </a:prstGeom>
          <a:solidFill>
            <a:srgbClr val="F57F17"/>
          </a:solidFill>
          <a:ln w="12700">
            <a:solidFill>
              <a:srgbClr val="F57F17"/>
            </a:solidFill>
            <a:prstDash val="solid"/>
          </a:ln>
        </p:spPr>
        <p:txBody>
          <a:bodyPr/>
          <a:lstStyle/>
          <a:p>
            <a:endParaRPr lang="en-US"/>
          </a:p>
        </p:txBody>
      </p:sp>
      <p:sp>
        <p:nvSpPr>
          <p:cNvPr id="14" name="Text 12"/>
          <p:cNvSpPr/>
          <p:nvPr/>
        </p:nvSpPr>
        <p:spPr>
          <a:xfrm>
            <a:off x="4251960" y="1115568"/>
            <a:ext cx="3611880" cy="301752"/>
          </a:xfrm>
          <a:prstGeom prst="rect">
            <a:avLst/>
          </a:prstGeom>
          <a:noFill/>
          <a:ln/>
        </p:spPr>
        <p:txBody>
          <a:bodyPr wrap="square" rtlCol="0" anchor="ctr"/>
          <a:lstStyle/>
          <a:p>
            <a:pPr marL="0" indent="0">
              <a:buNone/>
            </a:pPr>
            <a:r>
              <a:rPr lang="en-US" sz="1200" b="1" dirty="0">
                <a:solidFill>
                  <a:srgbClr val="F57F17"/>
                </a:solidFill>
                <a:latin typeface="Calibri" pitchFamily="34" charset="0"/>
                <a:ea typeface="Calibri" pitchFamily="34" charset="-122"/>
                <a:cs typeface="Calibri" pitchFamily="34" charset="-120"/>
              </a:rPr>
              <a:t>Grad-CAM Visualization</a:t>
            </a:r>
            <a:endParaRPr lang="en-US" sz="1200" dirty="0"/>
          </a:p>
        </p:txBody>
      </p:sp>
      <p:sp>
        <p:nvSpPr>
          <p:cNvPr id="15" name="Text 13"/>
          <p:cNvSpPr/>
          <p:nvPr/>
        </p:nvSpPr>
        <p:spPr>
          <a:xfrm>
            <a:off x="4297680" y="1463040"/>
            <a:ext cx="3538728" cy="4526280"/>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Gradient-weighted Class Activation Mapping adapted for molecular graphs</a:t>
            </a:r>
            <a:endParaRPr lang="en-US" sz="1050" dirty="0"/>
          </a:p>
          <a:p>
            <a:r>
              <a:rPr lang="en-US" sz="1050" dirty="0">
                <a:solidFill>
                  <a:srgbClr val="1C2833"/>
                </a:solidFill>
                <a:latin typeface="Calibri" pitchFamily="34" charset="0"/>
                <a:ea typeface="Calibri" pitchFamily="34" charset="-122"/>
                <a:cs typeface="Calibri" pitchFamily="34" charset="-120"/>
              </a:rPr>
              <a:t>Identifies drug substructures (rings, functional groups) most responsible for interaction prediction</a:t>
            </a:r>
            <a:endParaRPr lang="en-US" sz="1050" dirty="0"/>
          </a:p>
          <a:p>
            <a:r>
              <a:rPr lang="en-US" sz="1050" dirty="0">
                <a:solidFill>
                  <a:srgbClr val="1C2833"/>
                </a:solidFill>
                <a:latin typeface="Calibri" pitchFamily="34" charset="0"/>
                <a:ea typeface="Calibri" pitchFamily="34" charset="-122"/>
                <a:cs typeface="Calibri" pitchFamily="34" charset="-120"/>
              </a:rPr>
              <a:t>Highlights protein sequence regions (binding motifs, active site residues) most responsible for binding</a:t>
            </a:r>
            <a:endParaRPr lang="en-US" sz="1050" dirty="0"/>
          </a:p>
          <a:p>
            <a:r>
              <a:rPr lang="en-US" sz="1050" dirty="0">
                <a:solidFill>
                  <a:srgbClr val="1C2833"/>
                </a:solidFill>
                <a:latin typeface="Calibri" pitchFamily="34" charset="0"/>
                <a:ea typeface="Calibri" pitchFamily="34" charset="-122"/>
                <a:cs typeface="Calibri" pitchFamily="34" charset="-120"/>
              </a:rPr>
              <a:t>Visualized as: (1) atom-colored molecular graphs, (2) sequence heatmaps overlaid on FASTA</a:t>
            </a:r>
            <a:endParaRPr lang="en-US" sz="1050" dirty="0"/>
          </a:p>
          <a:p>
            <a:r>
              <a:rPr lang="en-US" sz="1050" dirty="0">
                <a:solidFill>
                  <a:srgbClr val="1C2833"/>
                </a:solidFill>
                <a:latin typeface="Calibri" pitchFamily="34" charset="0"/>
                <a:ea typeface="Calibri" pitchFamily="34" charset="-122"/>
                <a:cs typeface="Calibri" pitchFamily="34" charset="-120"/>
              </a:rPr>
              <a:t>Provides chemical and biological rationale for each prediction</a:t>
            </a:r>
            <a:endParaRPr lang="en-US" sz="1050" dirty="0"/>
          </a:p>
        </p:txBody>
      </p:sp>
      <p:sp>
        <p:nvSpPr>
          <p:cNvPr id="16" name="Shape 14"/>
          <p:cNvSpPr/>
          <p:nvPr/>
        </p:nvSpPr>
        <p:spPr>
          <a:xfrm>
            <a:off x="8065008" y="1078992"/>
            <a:ext cx="3849624" cy="4983480"/>
          </a:xfrm>
          <a:prstGeom prst="roundRect">
            <a:avLst>
              <a:gd name="adj" fmla="val 1900"/>
            </a:avLst>
          </a:prstGeom>
          <a:solidFill>
            <a:srgbClr val="C8E6C9"/>
          </a:solidFill>
          <a:ln w="12700">
            <a:solidFill>
              <a:srgbClr val="1B5E20"/>
            </a:solidFill>
            <a:prstDash val="solid"/>
          </a:ln>
        </p:spPr>
        <p:txBody>
          <a:bodyPr/>
          <a:lstStyle/>
          <a:p>
            <a:endParaRPr lang="en-US"/>
          </a:p>
        </p:txBody>
      </p:sp>
      <p:sp>
        <p:nvSpPr>
          <p:cNvPr id="17" name="Shape 15"/>
          <p:cNvSpPr/>
          <p:nvPr/>
        </p:nvSpPr>
        <p:spPr>
          <a:xfrm>
            <a:off x="8065008" y="1078992"/>
            <a:ext cx="3849624" cy="347472"/>
          </a:xfrm>
          <a:prstGeom prst="rect">
            <a:avLst/>
          </a:prstGeom>
          <a:solidFill>
            <a:srgbClr val="1B5E20"/>
          </a:solidFill>
          <a:ln w="12700">
            <a:solidFill>
              <a:srgbClr val="1B5E20"/>
            </a:solidFill>
            <a:prstDash val="solid"/>
          </a:ln>
        </p:spPr>
        <p:txBody>
          <a:bodyPr/>
          <a:lstStyle/>
          <a:p>
            <a:endParaRPr lang="en-US"/>
          </a:p>
        </p:txBody>
      </p:sp>
      <p:sp>
        <p:nvSpPr>
          <p:cNvPr id="18" name="Text 16"/>
          <p:cNvSpPr/>
          <p:nvPr/>
        </p:nvSpPr>
        <p:spPr>
          <a:xfrm>
            <a:off x="8156448" y="1115568"/>
            <a:ext cx="3666744" cy="301752"/>
          </a:xfrm>
          <a:prstGeom prst="rect">
            <a:avLst/>
          </a:prstGeom>
          <a:noFill/>
          <a:ln/>
        </p:spPr>
        <p:txBody>
          <a:bodyPr wrap="square"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Biological Validation</a:t>
            </a:r>
            <a:endParaRPr lang="en-US" sz="1200" dirty="0"/>
          </a:p>
        </p:txBody>
      </p:sp>
      <p:sp>
        <p:nvSpPr>
          <p:cNvPr id="19" name="Text 17"/>
          <p:cNvSpPr/>
          <p:nvPr/>
        </p:nvSpPr>
        <p:spPr>
          <a:xfrm>
            <a:off x="8202168" y="1463040"/>
            <a:ext cx="3593592" cy="4526280"/>
          </a:xfrm>
          <a:prstGeom prst="rect">
            <a:avLst/>
          </a:prstGeom>
          <a:noFill/>
          <a:ln/>
        </p:spPr>
        <p:txBody>
          <a:bodyPr wrap="square" rtlCol="0" anchor="t"/>
          <a:lstStyle/>
          <a:p>
            <a:r>
              <a:rPr lang="en-US" sz="1050" dirty="0">
                <a:solidFill>
                  <a:srgbClr val="1C2833"/>
                </a:solidFill>
                <a:latin typeface="Calibri" pitchFamily="34" charset="0"/>
                <a:ea typeface="Calibri" pitchFamily="34" charset="-122"/>
                <a:cs typeface="Calibri" pitchFamily="34" charset="-120"/>
              </a:rPr>
              <a:t>Case studies on well-characterized drug-target complexes with known crystal structures</a:t>
            </a:r>
            <a:endParaRPr lang="en-US" sz="1050" dirty="0"/>
          </a:p>
          <a:p>
            <a:r>
              <a:rPr lang="en-US" sz="1050" dirty="0">
                <a:solidFill>
                  <a:srgbClr val="1C2833"/>
                </a:solidFill>
                <a:latin typeface="Calibri" pitchFamily="34" charset="0"/>
                <a:ea typeface="Calibri" pitchFamily="34" charset="-122"/>
                <a:cs typeface="Calibri" pitchFamily="34" charset="-120"/>
              </a:rPr>
              <a:t>Compare model-predicted binding hotspots against experimentally determined binding contacts from PDB crystal structures</a:t>
            </a:r>
            <a:endParaRPr lang="en-US" sz="1050" dirty="0"/>
          </a:p>
          <a:p>
            <a:r>
              <a:rPr lang="en-US" sz="1050" dirty="0">
                <a:solidFill>
                  <a:srgbClr val="1C2833"/>
                </a:solidFill>
                <a:latin typeface="Calibri" pitchFamily="34" charset="0"/>
                <a:ea typeface="Calibri" pitchFamily="34" charset="-122"/>
                <a:cs typeface="Calibri" pitchFamily="34" charset="-120"/>
              </a:rPr>
              <a:t>Quantitative metric: % overlap between top-ranked atoms/residues and known binding site residues within 4Å cutoff</a:t>
            </a:r>
            <a:endParaRPr lang="en-US" sz="1050" dirty="0"/>
          </a:p>
          <a:p>
            <a:r>
              <a:rPr lang="en-US" sz="1050" dirty="0">
                <a:solidFill>
                  <a:srgbClr val="1C2833"/>
                </a:solidFill>
                <a:latin typeface="Calibri" pitchFamily="34" charset="0"/>
                <a:ea typeface="Calibri" pitchFamily="34" charset="-122"/>
                <a:cs typeface="Calibri" pitchFamily="34" charset="-120"/>
              </a:rPr>
              <a:t>Target: &gt;75% overlap on PDB validation set (IHDFN-DTI achieves &gt;80%)</a:t>
            </a:r>
            <a:endParaRPr lang="en-US" sz="1050" dirty="0"/>
          </a:p>
          <a:p>
            <a:r>
              <a:rPr lang="en-US" sz="1050" dirty="0">
                <a:solidFill>
                  <a:srgbClr val="1C2833"/>
                </a:solidFill>
                <a:latin typeface="Calibri" pitchFamily="34" charset="0"/>
                <a:ea typeface="Calibri" pitchFamily="34" charset="-122"/>
                <a:cs typeface="Calibri" pitchFamily="34" charset="-120"/>
              </a:rPr>
              <a:t>Results directly support structure-activity relationship (SAR) analysis for drug optimization</a:t>
            </a:r>
            <a:endParaRPr lang="en-US" sz="1050" dirty="0"/>
          </a:p>
        </p:txBody>
      </p:sp>
      <p:sp>
        <p:nvSpPr>
          <p:cNvPr id="21" name="Text 18"/>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5D4037"/>
          </a:solidFill>
          <a:ln w="12700">
            <a:solidFill>
              <a:srgbClr val="5D4037"/>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Timeline &amp; Milestones</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3-Year PhD Research Plan</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5D4037"/>
          </a:solidFill>
          <a:ln w="12700">
            <a:solidFill>
              <a:srgbClr val="5D4037"/>
            </a:solidFill>
            <a:prstDash val="solid"/>
          </a:ln>
        </p:spPr>
        <p:txBody>
          <a:bodyPr/>
          <a:lstStyle/>
          <a:p>
            <a:endParaRPr lang="en-US"/>
          </a:p>
        </p:txBody>
      </p:sp>
      <p:sp>
        <p:nvSpPr>
          <p:cNvPr id="8" name="Shape 6"/>
          <p:cNvSpPr/>
          <p:nvPr/>
        </p:nvSpPr>
        <p:spPr>
          <a:xfrm>
            <a:off x="256032" y="1078992"/>
            <a:ext cx="3840480" cy="347472"/>
          </a:xfrm>
          <a:prstGeom prst="rect">
            <a:avLst/>
          </a:prstGeom>
          <a:solidFill>
            <a:srgbClr val="1565C0"/>
          </a:solidFill>
          <a:ln w="12700">
            <a:solidFill>
              <a:srgbClr val="1565C0"/>
            </a:solidFill>
            <a:prstDash val="solid"/>
          </a:ln>
        </p:spPr>
        <p:txBody>
          <a:bodyPr/>
          <a:lstStyle/>
          <a:p>
            <a:endParaRPr lang="en-US"/>
          </a:p>
        </p:txBody>
      </p:sp>
      <p:sp>
        <p:nvSpPr>
          <p:cNvPr id="9" name="Text 7"/>
          <p:cNvSpPr/>
          <p:nvPr/>
        </p:nvSpPr>
        <p:spPr>
          <a:xfrm>
            <a:off x="301752" y="1088136"/>
            <a:ext cx="374904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Year 1 (2025/2026)</a:t>
            </a:r>
            <a:endParaRPr lang="en-US" sz="1200" dirty="0"/>
          </a:p>
        </p:txBody>
      </p:sp>
      <p:sp>
        <p:nvSpPr>
          <p:cNvPr id="10" name="Shape 8"/>
          <p:cNvSpPr/>
          <p:nvPr/>
        </p:nvSpPr>
        <p:spPr>
          <a:xfrm>
            <a:off x="4242816" y="1078992"/>
            <a:ext cx="3840480" cy="347472"/>
          </a:xfrm>
          <a:prstGeom prst="rect">
            <a:avLst/>
          </a:prstGeom>
          <a:solidFill>
            <a:srgbClr val="1B5E20"/>
          </a:solidFill>
          <a:ln w="12700">
            <a:solidFill>
              <a:srgbClr val="1B5E20"/>
            </a:solidFill>
            <a:prstDash val="solid"/>
          </a:ln>
        </p:spPr>
        <p:txBody>
          <a:bodyPr/>
          <a:lstStyle/>
          <a:p>
            <a:endParaRPr lang="en-US"/>
          </a:p>
        </p:txBody>
      </p:sp>
      <p:sp>
        <p:nvSpPr>
          <p:cNvPr id="11" name="Text 9"/>
          <p:cNvSpPr/>
          <p:nvPr/>
        </p:nvSpPr>
        <p:spPr>
          <a:xfrm>
            <a:off x="4288536" y="1088136"/>
            <a:ext cx="374904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Year 2 (2026/2027)</a:t>
            </a:r>
            <a:endParaRPr lang="en-US" sz="1200" dirty="0"/>
          </a:p>
        </p:txBody>
      </p:sp>
      <p:sp>
        <p:nvSpPr>
          <p:cNvPr id="12" name="Shape 10"/>
          <p:cNvSpPr/>
          <p:nvPr/>
        </p:nvSpPr>
        <p:spPr>
          <a:xfrm>
            <a:off x="8229600" y="1078992"/>
            <a:ext cx="3840480" cy="347472"/>
          </a:xfrm>
          <a:prstGeom prst="rect">
            <a:avLst/>
          </a:prstGeom>
          <a:solidFill>
            <a:srgbClr val="4A148C"/>
          </a:solidFill>
          <a:ln w="12700">
            <a:solidFill>
              <a:srgbClr val="4A148C"/>
            </a:solidFill>
            <a:prstDash val="solid"/>
          </a:ln>
        </p:spPr>
        <p:txBody>
          <a:bodyPr/>
          <a:lstStyle/>
          <a:p>
            <a:endParaRPr lang="en-US"/>
          </a:p>
        </p:txBody>
      </p:sp>
      <p:sp>
        <p:nvSpPr>
          <p:cNvPr id="13" name="Text 11"/>
          <p:cNvSpPr/>
          <p:nvPr/>
        </p:nvSpPr>
        <p:spPr>
          <a:xfrm>
            <a:off x="8275320" y="1088136"/>
            <a:ext cx="374904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Year 3 (2027/2028)</a:t>
            </a:r>
            <a:endParaRPr lang="en-US" sz="1200" dirty="0"/>
          </a:p>
        </p:txBody>
      </p:sp>
      <p:sp>
        <p:nvSpPr>
          <p:cNvPr id="14" name="Text 12"/>
          <p:cNvSpPr/>
          <p:nvPr/>
        </p:nvSpPr>
        <p:spPr>
          <a:xfrm>
            <a:off x="301752" y="1444752"/>
            <a:ext cx="1847088" cy="256032"/>
          </a:xfrm>
          <a:prstGeom prst="rect">
            <a:avLst/>
          </a:prstGeom>
          <a:noFill/>
          <a:ln/>
        </p:spPr>
        <p:txBody>
          <a:bodyPr wrap="square" rtlCol="0" anchor="ctr"/>
          <a:lstStyle/>
          <a:p>
            <a:pPr marL="0" indent="0" algn="ctr">
              <a:buNone/>
            </a:pPr>
            <a:r>
              <a:rPr lang="en-US" sz="900" b="1" dirty="0">
                <a:solidFill>
                  <a:srgbClr val="546E7A"/>
                </a:solidFill>
                <a:latin typeface="Calibri" pitchFamily="34" charset="0"/>
                <a:ea typeface="Calibri" pitchFamily="34" charset="-122"/>
                <a:cs typeface="Calibri" pitchFamily="34" charset="-120"/>
              </a:rPr>
              <a:t>S1</a:t>
            </a:r>
            <a:endParaRPr lang="en-US" sz="900" dirty="0"/>
          </a:p>
        </p:txBody>
      </p:sp>
      <p:sp>
        <p:nvSpPr>
          <p:cNvPr id="15" name="Shape 13"/>
          <p:cNvSpPr/>
          <p:nvPr/>
        </p:nvSpPr>
        <p:spPr>
          <a:xfrm>
            <a:off x="292608" y="1682496"/>
            <a:ext cx="1847088" cy="18288"/>
          </a:xfrm>
          <a:prstGeom prst="rect">
            <a:avLst/>
          </a:prstGeom>
          <a:solidFill>
            <a:srgbClr val="CFD8DC"/>
          </a:solidFill>
          <a:ln w="12700">
            <a:solidFill>
              <a:srgbClr val="CFD8DC"/>
            </a:solidFill>
            <a:prstDash val="solid"/>
          </a:ln>
        </p:spPr>
        <p:txBody>
          <a:bodyPr/>
          <a:lstStyle/>
          <a:p>
            <a:endParaRPr lang="en-US"/>
          </a:p>
        </p:txBody>
      </p:sp>
      <p:sp>
        <p:nvSpPr>
          <p:cNvPr id="16" name="Text 14"/>
          <p:cNvSpPr/>
          <p:nvPr/>
        </p:nvSpPr>
        <p:spPr>
          <a:xfrm>
            <a:off x="2221992" y="1444752"/>
            <a:ext cx="1847088" cy="256032"/>
          </a:xfrm>
          <a:prstGeom prst="rect">
            <a:avLst/>
          </a:prstGeom>
          <a:noFill/>
          <a:ln/>
        </p:spPr>
        <p:txBody>
          <a:bodyPr wrap="square" rtlCol="0" anchor="ctr"/>
          <a:lstStyle/>
          <a:p>
            <a:pPr marL="0" indent="0" algn="ctr">
              <a:buNone/>
            </a:pPr>
            <a:r>
              <a:rPr lang="en-US" sz="900" b="1" dirty="0">
                <a:solidFill>
                  <a:srgbClr val="546E7A"/>
                </a:solidFill>
                <a:latin typeface="Calibri" pitchFamily="34" charset="0"/>
                <a:ea typeface="Calibri" pitchFamily="34" charset="-122"/>
                <a:cs typeface="Calibri" pitchFamily="34" charset="-120"/>
              </a:rPr>
              <a:t>S2</a:t>
            </a:r>
            <a:endParaRPr lang="en-US" sz="900" dirty="0"/>
          </a:p>
        </p:txBody>
      </p:sp>
      <p:sp>
        <p:nvSpPr>
          <p:cNvPr id="17" name="Shape 15"/>
          <p:cNvSpPr/>
          <p:nvPr/>
        </p:nvSpPr>
        <p:spPr>
          <a:xfrm>
            <a:off x="2212848" y="1682496"/>
            <a:ext cx="1847088" cy="18288"/>
          </a:xfrm>
          <a:prstGeom prst="rect">
            <a:avLst/>
          </a:prstGeom>
          <a:solidFill>
            <a:srgbClr val="CFD8DC"/>
          </a:solidFill>
          <a:ln w="12700">
            <a:solidFill>
              <a:srgbClr val="CFD8DC"/>
            </a:solidFill>
            <a:prstDash val="solid"/>
          </a:ln>
        </p:spPr>
        <p:txBody>
          <a:bodyPr/>
          <a:lstStyle/>
          <a:p>
            <a:endParaRPr lang="en-US"/>
          </a:p>
        </p:txBody>
      </p:sp>
      <p:sp>
        <p:nvSpPr>
          <p:cNvPr id="18" name="Text 16"/>
          <p:cNvSpPr/>
          <p:nvPr/>
        </p:nvSpPr>
        <p:spPr>
          <a:xfrm>
            <a:off x="4288536" y="1444752"/>
            <a:ext cx="1847088" cy="256032"/>
          </a:xfrm>
          <a:prstGeom prst="rect">
            <a:avLst/>
          </a:prstGeom>
          <a:noFill/>
          <a:ln/>
        </p:spPr>
        <p:txBody>
          <a:bodyPr wrap="square" rtlCol="0" anchor="ctr"/>
          <a:lstStyle/>
          <a:p>
            <a:pPr marL="0" indent="0" algn="ctr">
              <a:buNone/>
            </a:pPr>
            <a:r>
              <a:rPr lang="en-US" sz="900" b="1" dirty="0">
                <a:solidFill>
                  <a:srgbClr val="546E7A"/>
                </a:solidFill>
                <a:latin typeface="Calibri" pitchFamily="34" charset="0"/>
                <a:ea typeface="Calibri" pitchFamily="34" charset="-122"/>
                <a:cs typeface="Calibri" pitchFamily="34" charset="-120"/>
              </a:rPr>
              <a:t>S1</a:t>
            </a:r>
            <a:endParaRPr lang="en-US" sz="900" dirty="0"/>
          </a:p>
        </p:txBody>
      </p:sp>
      <p:sp>
        <p:nvSpPr>
          <p:cNvPr id="19" name="Shape 17"/>
          <p:cNvSpPr/>
          <p:nvPr/>
        </p:nvSpPr>
        <p:spPr>
          <a:xfrm>
            <a:off x="4279392" y="1682496"/>
            <a:ext cx="1847088" cy="18288"/>
          </a:xfrm>
          <a:prstGeom prst="rect">
            <a:avLst/>
          </a:prstGeom>
          <a:solidFill>
            <a:srgbClr val="CFD8DC"/>
          </a:solidFill>
          <a:ln w="12700">
            <a:solidFill>
              <a:srgbClr val="CFD8DC"/>
            </a:solidFill>
            <a:prstDash val="solid"/>
          </a:ln>
        </p:spPr>
        <p:txBody>
          <a:bodyPr/>
          <a:lstStyle/>
          <a:p>
            <a:endParaRPr lang="en-US"/>
          </a:p>
        </p:txBody>
      </p:sp>
      <p:sp>
        <p:nvSpPr>
          <p:cNvPr id="20" name="Text 18"/>
          <p:cNvSpPr/>
          <p:nvPr/>
        </p:nvSpPr>
        <p:spPr>
          <a:xfrm>
            <a:off x="6208776" y="1444752"/>
            <a:ext cx="1847088" cy="256032"/>
          </a:xfrm>
          <a:prstGeom prst="rect">
            <a:avLst/>
          </a:prstGeom>
          <a:noFill/>
          <a:ln/>
        </p:spPr>
        <p:txBody>
          <a:bodyPr wrap="square" rtlCol="0" anchor="ctr"/>
          <a:lstStyle/>
          <a:p>
            <a:pPr marL="0" indent="0" algn="ctr">
              <a:buNone/>
            </a:pPr>
            <a:r>
              <a:rPr lang="en-US" sz="900" b="1" dirty="0">
                <a:solidFill>
                  <a:srgbClr val="546E7A"/>
                </a:solidFill>
                <a:latin typeface="Calibri" pitchFamily="34" charset="0"/>
                <a:ea typeface="Calibri" pitchFamily="34" charset="-122"/>
                <a:cs typeface="Calibri" pitchFamily="34" charset="-120"/>
              </a:rPr>
              <a:t>S2</a:t>
            </a:r>
            <a:endParaRPr lang="en-US" sz="900" dirty="0"/>
          </a:p>
        </p:txBody>
      </p:sp>
      <p:sp>
        <p:nvSpPr>
          <p:cNvPr id="21" name="Shape 19"/>
          <p:cNvSpPr/>
          <p:nvPr/>
        </p:nvSpPr>
        <p:spPr>
          <a:xfrm>
            <a:off x="6199632" y="1682496"/>
            <a:ext cx="1847088" cy="18288"/>
          </a:xfrm>
          <a:prstGeom prst="rect">
            <a:avLst/>
          </a:prstGeom>
          <a:solidFill>
            <a:srgbClr val="CFD8DC"/>
          </a:solidFill>
          <a:ln w="12700">
            <a:solidFill>
              <a:srgbClr val="CFD8DC"/>
            </a:solidFill>
            <a:prstDash val="solid"/>
          </a:ln>
        </p:spPr>
        <p:txBody>
          <a:bodyPr/>
          <a:lstStyle/>
          <a:p>
            <a:endParaRPr lang="en-US"/>
          </a:p>
        </p:txBody>
      </p:sp>
      <p:sp>
        <p:nvSpPr>
          <p:cNvPr id="22" name="Text 20"/>
          <p:cNvSpPr/>
          <p:nvPr/>
        </p:nvSpPr>
        <p:spPr>
          <a:xfrm>
            <a:off x="8275320" y="1444752"/>
            <a:ext cx="1847088" cy="256032"/>
          </a:xfrm>
          <a:prstGeom prst="rect">
            <a:avLst/>
          </a:prstGeom>
          <a:noFill/>
          <a:ln/>
        </p:spPr>
        <p:txBody>
          <a:bodyPr wrap="square" rtlCol="0" anchor="ctr"/>
          <a:lstStyle/>
          <a:p>
            <a:pPr marL="0" indent="0" algn="ctr">
              <a:buNone/>
            </a:pPr>
            <a:r>
              <a:rPr lang="en-US" sz="900" b="1" dirty="0">
                <a:solidFill>
                  <a:srgbClr val="546E7A"/>
                </a:solidFill>
                <a:latin typeface="Calibri" pitchFamily="34" charset="0"/>
                <a:ea typeface="Calibri" pitchFamily="34" charset="-122"/>
                <a:cs typeface="Calibri" pitchFamily="34" charset="-120"/>
              </a:rPr>
              <a:t>S1</a:t>
            </a:r>
            <a:endParaRPr lang="en-US" sz="900" dirty="0"/>
          </a:p>
        </p:txBody>
      </p:sp>
      <p:sp>
        <p:nvSpPr>
          <p:cNvPr id="23" name="Shape 21"/>
          <p:cNvSpPr/>
          <p:nvPr/>
        </p:nvSpPr>
        <p:spPr>
          <a:xfrm>
            <a:off x="8266176" y="1682496"/>
            <a:ext cx="1847088" cy="18288"/>
          </a:xfrm>
          <a:prstGeom prst="rect">
            <a:avLst/>
          </a:prstGeom>
          <a:solidFill>
            <a:srgbClr val="CFD8DC"/>
          </a:solidFill>
          <a:ln w="12700">
            <a:solidFill>
              <a:srgbClr val="CFD8DC"/>
            </a:solidFill>
            <a:prstDash val="solid"/>
          </a:ln>
        </p:spPr>
        <p:txBody>
          <a:bodyPr/>
          <a:lstStyle/>
          <a:p>
            <a:endParaRPr lang="en-US"/>
          </a:p>
        </p:txBody>
      </p:sp>
      <p:sp>
        <p:nvSpPr>
          <p:cNvPr id="24" name="Text 22"/>
          <p:cNvSpPr/>
          <p:nvPr/>
        </p:nvSpPr>
        <p:spPr>
          <a:xfrm>
            <a:off x="10195560" y="1444752"/>
            <a:ext cx="1847088" cy="256032"/>
          </a:xfrm>
          <a:prstGeom prst="rect">
            <a:avLst/>
          </a:prstGeom>
          <a:noFill/>
          <a:ln/>
        </p:spPr>
        <p:txBody>
          <a:bodyPr wrap="square" rtlCol="0" anchor="ctr"/>
          <a:lstStyle/>
          <a:p>
            <a:pPr marL="0" indent="0" algn="ctr">
              <a:buNone/>
            </a:pPr>
            <a:r>
              <a:rPr lang="en-US" sz="900" b="1" dirty="0">
                <a:solidFill>
                  <a:srgbClr val="546E7A"/>
                </a:solidFill>
                <a:latin typeface="Calibri" pitchFamily="34" charset="0"/>
                <a:ea typeface="Calibri" pitchFamily="34" charset="-122"/>
                <a:cs typeface="Calibri" pitchFamily="34" charset="-120"/>
              </a:rPr>
              <a:t>S2</a:t>
            </a:r>
            <a:endParaRPr lang="en-US" sz="900" dirty="0"/>
          </a:p>
        </p:txBody>
      </p:sp>
      <p:sp>
        <p:nvSpPr>
          <p:cNvPr id="25" name="Shape 23"/>
          <p:cNvSpPr/>
          <p:nvPr/>
        </p:nvSpPr>
        <p:spPr>
          <a:xfrm>
            <a:off x="10186416" y="1682496"/>
            <a:ext cx="1847088" cy="18288"/>
          </a:xfrm>
          <a:prstGeom prst="rect">
            <a:avLst/>
          </a:prstGeom>
          <a:solidFill>
            <a:srgbClr val="CFD8DC"/>
          </a:solidFill>
          <a:ln w="12700">
            <a:solidFill>
              <a:srgbClr val="CFD8DC"/>
            </a:solidFill>
            <a:prstDash val="solid"/>
          </a:ln>
        </p:spPr>
        <p:txBody>
          <a:bodyPr/>
          <a:lstStyle/>
          <a:p>
            <a:endParaRPr lang="en-US"/>
          </a:p>
        </p:txBody>
      </p:sp>
      <p:sp>
        <p:nvSpPr>
          <p:cNvPr id="26" name="Text 24"/>
          <p:cNvSpPr/>
          <p:nvPr/>
        </p:nvSpPr>
        <p:spPr>
          <a:xfrm>
            <a:off x="256032" y="1773936"/>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Literature Review &amp; Proposal</a:t>
            </a:r>
            <a:endParaRPr lang="en-US" sz="900" dirty="0"/>
          </a:p>
        </p:txBody>
      </p:sp>
      <p:sp>
        <p:nvSpPr>
          <p:cNvPr id="27" name="Shape 25"/>
          <p:cNvSpPr/>
          <p:nvPr/>
        </p:nvSpPr>
        <p:spPr>
          <a:xfrm>
            <a:off x="310896" y="1783080"/>
            <a:ext cx="1783080" cy="329184"/>
          </a:xfrm>
          <a:prstGeom prst="roundRect">
            <a:avLst>
              <a:gd name="adj" fmla="val 16667"/>
            </a:avLst>
          </a:prstGeom>
          <a:solidFill>
            <a:srgbClr val="1565C0"/>
          </a:solidFill>
          <a:ln w="12700">
            <a:solidFill>
              <a:srgbClr val="1565C0"/>
            </a:solidFill>
            <a:prstDash val="solid"/>
          </a:ln>
        </p:spPr>
        <p:txBody>
          <a:bodyPr/>
          <a:lstStyle/>
          <a:p>
            <a:endParaRPr lang="en-US"/>
          </a:p>
        </p:txBody>
      </p:sp>
      <p:sp>
        <p:nvSpPr>
          <p:cNvPr id="28" name="Shape 26"/>
          <p:cNvSpPr/>
          <p:nvPr/>
        </p:nvSpPr>
        <p:spPr>
          <a:xfrm>
            <a:off x="2231136" y="1783080"/>
            <a:ext cx="1783080" cy="329184"/>
          </a:xfrm>
          <a:prstGeom prst="roundRect">
            <a:avLst>
              <a:gd name="adj" fmla="val 16667"/>
            </a:avLst>
          </a:prstGeom>
          <a:solidFill>
            <a:srgbClr val="1565C0"/>
          </a:solidFill>
          <a:ln w="12700">
            <a:solidFill>
              <a:srgbClr val="1565C0"/>
            </a:solidFill>
            <a:prstDash val="solid"/>
          </a:ln>
        </p:spPr>
        <p:txBody>
          <a:bodyPr/>
          <a:lstStyle/>
          <a:p>
            <a:endParaRPr lang="en-US"/>
          </a:p>
        </p:txBody>
      </p:sp>
      <p:sp>
        <p:nvSpPr>
          <p:cNvPr id="29" name="Text 27"/>
          <p:cNvSpPr/>
          <p:nvPr/>
        </p:nvSpPr>
        <p:spPr>
          <a:xfrm>
            <a:off x="347472" y="1810512"/>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Literature Review &amp; Proposal</a:t>
            </a:r>
            <a:endParaRPr lang="en-US" sz="850" dirty="0"/>
          </a:p>
        </p:txBody>
      </p:sp>
      <p:sp>
        <p:nvSpPr>
          <p:cNvPr id="30" name="Text 28"/>
          <p:cNvSpPr/>
          <p:nvPr/>
        </p:nvSpPr>
        <p:spPr>
          <a:xfrm>
            <a:off x="256032" y="2212848"/>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Dataset Collection &amp; Preprocessing</a:t>
            </a:r>
            <a:endParaRPr lang="en-US" sz="900" dirty="0"/>
          </a:p>
        </p:txBody>
      </p:sp>
      <p:sp>
        <p:nvSpPr>
          <p:cNvPr id="31" name="Shape 29"/>
          <p:cNvSpPr/>
          <p:nvPr/>
        </p:nvSpPr>
        <p:spPr>
          <a:xfrm>
            <a:off x="2231136" y="2221992"/>
            <a:ext cx="1783080" cy="329184"/>
          </a:xfrm>
          <a:prstGeom prst="roundRect">
            <a:avLst>
              <a:gd name="adj" fmla="val 16667"/>
            </a:avLst>
          </a:prstGeom>
          <a:solidFill>
            <a:srgbClr val="00695C"/>
          </a:solidFill>
          <a:ln w="12700">
            <a:solidFill>
              <a:srgbClr val="00695C"/>
            </a:solidFill>
            <a:prstDash val="solid"/>
          </a:ln>
        </p:spPr>
        <p:txBody>
          <a:bodyPr/>
          <a:lstStyle/>
          <a:p>
            <a:endParaRPr lang="en-US"/>
          </a:p>
        </p:txBody>
      </p:sp>
      <p:sp>
        <p:nvSpPr>
          <p:cNvPr id="32" name="Shape 30"/>
          <p:cNvSpPr/>
          <p:nvPr/>
        </p:nvSpPr>
        <p:spPr>
          <a:xfrm>
            <a:off x="4297680" y="2221992"/>
            <a:ext cx="1783080" cy="329184"/>
          </a:xfrm>
          <a:prstGeom prst="roundRect">
            <a:avLst>
              <a:gd name="adj" fmla="val 16667"/>
            </a:avLst>
          </a:prstGeom>
          <a:solidFill>
            <a:srgbClr val="00695C"/>
          </a:solidFill>
          <a:ln w="12700">
            <a:solidFill>
              <a:srgbClr val="00695C"/>
            </a:solidFill>
            <a:prstDash val="solid"/>
          </a:ln>
        </p:spPr>
        <p:txBody>
          <a:bodyPr/>
          <a:lstStyle/>
          <a:p>
            <a:endParaRPr lang="en-US"/>
          </a:p>
        </p:txBody>
      </p:sp>
      <p:sp>
        <p:nvSpPr>
          <p:cNvPr id="33" name="Text 31"/>
          <p:cNvSpPr/>
          <p:nvPr/>
        </p:nvSpPr>
        <p:spPr>
          <a:xfrm>
            <a:off x="2267712" y="2249424"/>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Dataset Collection &amp; Preprocessing</a:t>
            </a:r>
            <a:endParaRPr lang="en-US" sz="850" dirty="0"/>
          </a:p>
        </p:txBody>
      </p:sp>
      <p:sp>
        <p:nvSpPr>
          <p:cNvPr id="34" name="Text 32"/>
          <p:cNvSpPr/>
          <p:nvPr/>
        </p:nvSpPr>
        <p:spPr>
          <a:xfrm>
            <a:off x="256032" y="2651760"/>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Model Design (Architecture)</a:t>
            </a:r>
            <a:endParaRPr lang="en-US" sz="900" dirty="0"/>
          </a:p>
        </p:txBody>
      </p:sp>
      <p:sp>
        <p:nvSpPr>
          <p:cNvPr id="35" name="Shape 33"/>
          <p:cNvSpPr/>
          <p:nvPr/>
        </p:nvSpPr>
        <p:spPr>
          <a:xfrm>
            <a:off x="4297680" y="2660904"/>
            <a:ext cx="1783080" cy="329184"/>
          </a:xfrm>
          <a:prstGeom prst="roundRect">
            <a:avLst>
              <a:gd name="adj" fmla="val 16667"/>
            </a:avLst>
          </a:prstGeom>
          <a:solidFill>
            <a:srgbClr val="4A148C"/>
          </a:solidFill>
          <a:ln w="12700">
            <a:solidFill>
              <a:srgbClr val="4A148C"/>
            </a:solidFill>
            <a:prstDash val="solid"/>
          </a:ln>
        </p:spPr>
        <p:txBody>
          <a:bodyPr/>
          <a:lstStyle/>
          <a:p>
            <a:endParaRPr lang="en-US"/>
          </a:p>
        </p:txBody>
      </p:sp>
      <p:sp>
        <p:nvSpPr>
          <p:cNvPr id="36" name="Shape 34"/>
          <p:cNvSpPr/>
          <p:nvPr/>
        </p:nvSpPr>
        <p:spPr>
          <a:xfrm>
            <a:off x="6217920" y="2660904"/>
            <a:ext cx="1783080" cy="329184"/>
          </a:xfrm>
          <a:prstGeom prst="roundRect">
            <a:avLst>
              <a:gd name="adj" fmla="val 16667"/>
            </a:avLst>
          </a:prstGeom>
          <a:solidFill>
            <a:srgbClr val="4A148C"/>
          </a:solidFill>
          <a:ln w="12700">
            <a:solidFill>
              <a:srgbClr val="4A148C"/>
            </a:solidFill>
            <a:prstDash val="solid"/>
          </a:ln>
        </p:spPr>
        <p:txBody>
          <a:bodyPr/>
          <a:lstStyle/>
          <a:p>
            <a:endParaRPr lang="en-US"/>
          </a:p>
        </p:txBody>
      </p:sp>
      <p:sp>
        <p:nvSpPr>
          <p:cNvPr id="37" name="Text 35"/>
          <p:cNvSpPr/>
          <p:nvPr/>
        </p:nvSpPr>
        <p:spPr>
          <a:xfrm>
            <a:off x="4334256" y="2688336"/>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Model Design (Architecture)</a:t>
            </a:r>
            <a:endParaRPr lang="en-US" sz="850" dirty="0"/>
          </a:p>
        </p:txBody>
      </p:sp>
      <p:sp>
        <p:nvSpPr>
          <p:cNvPr id="38" name="Text 36"/>
          <p:cNvSpPr/>
          <p:nvPr/>
        </p:nvSpPr>
        <p:spPr>
          <a:xfrm>
            <a:off x="256032" y="3090672"/>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Baseline Implementation &amp; Comparison</a:t>
            </a:r>
            <a:endParaRPr lang="en-US" sz="900" dirty="0"/>
          </a:p>
        </p:txBody>
      </p:sp>
      <p:sp>
        <p:nvSpPr>
          <p:cNvPr id="39" name="Shape 37"/>
          <p:cNvSpPr/>
          <p:nvPr/>
        </p:nvSpPr>
        <p:spPr>
          <a:xfrm>
            <a:off x="6217920" y="3099816"/>
            <a:ext cx="1783080" cy="329184"/>
          </a:xfrm>
          <a:prstGeom prst="roundRect">
            <a:avLst>
              <a:gd name="adj" fmla="val 16667"/>
            </a:avLst>
          </a:prstGeom>
          <a:solidFill>
            <a:srgbClr val="E65100"/>
          </a:solidFill>
          <a:ln w="12700">
            <a:solidFill>
              <a:srgbClr val="E65100"/>
            </a:solidFill>
            <a:prstDash val="solid"/>
          </a:ln>
        </p:spPr>
        <p:txBody>
          <a:bodyPr/>
          <a:lstStyle/>
          <a:p>
            <a:endParaRPr lang="en-US"/>
          </a:p>
        </p:txBody>
      </p:sp>
      <p:sp>
        <p:nvSpPr>
          <p:cNvPr id="40" name="Shape 38"/>
          <p:cNvSpPr/>
          <p:nvPr/>
        </p:nvSpPr>
        <p:spPr>
          <a:xfrm>
            <a:off x="8284464" y="3099816"/>
            <a:ext cx="1783080" cy="329184"/>
          </a:xfrm>
          <a:prstGeom prst="roundRect">
            <a:avLst>
              <a:gd name="adj" fmla="val 16667"/>
            </a:avLst>
          </a:prstGeom>
          <a:solidFill>
            <a:srgbClr val="E65100"/>
          </a:solidFill>
          <a:ln w="12700">
            <a:solidFill>
              <a:srgbClr val="E65100"/>
            </a:solidFill>
            <a:prstDash val="solid"/>
          </a:ln>
        </p:spPr>
        <p:txBody>
          <a:bodyPr/>
          <a:lstStyle/>
          <a:p>
            <a:endParaRPr lang="en-US"/>
          </a:p>
        </p:txBody>
      </p:sp>
      <p:sp>
        <p:nvSpPr>
          <p:cNvPr id="41" name="Text 39"/>
          <p:cNvSpPr/>
          <p:nvPr/>
        </p:nvSpPr>
        <p:spPr>
          <a:xfrm>
            <a:off x="6254496" y="3127248"/>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Baseline Implementation &amp; Comparison</a:t>
            </a:r>
            <a:endParaRPr lang="en-US" sz="850" dirty="0"/>
          </a:p>
        </p:txBody>
      </p:sp>
      <p:sp>
        <p:nvSpPr>
          <p:cNvPr id="42" name="Text 40"/>
          <p:cNvSpPr/>
          <p:nvPr/>
        </p:nvSpPr>
        <p:spPr>
          <a:xfrm>
            <a:off x="256032" y="3529584"/>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Core Model Training &amp; Evaluation</a:t>
            </a:r>
            <a:endParaRPr lang="en-US" sz="900" dirty="0"/>
          </a:p>
        </p:txBody>
      </p:sp>
      <p:sp>
        <p:nvSpPr>
          <p:cNvPr id="43" name="Shape 41"/>
          <p:cNvSpPr/>
          <p:nvPr/>
        </p:nvSpPr>
        <p:spPr>
          <a:xfrm>
            <a:off x="8284464" y="3538728"/>
            <a:ext cx="1783080" cy="329184"/>
          </a:xfrm>
          <a:prstGeom prst="roundRect">
            <a:avLst>
              <a:gd name="adj" fmla="val 16667"/>
            </a:avLst>
          </a:prstGeom>
          <a:solidFill>
            <a:srgbClr val="B71C1C"/>
          </a:solidFill>
          <a:ln w="12700">
            <a:solidFill>
              <a:srgbClr val="B71C1C"/>
            </a:solidFill>
            <a:prstDash val="solid"/>
          </a:ln>
        </p:spPr>
        <p:txBody>
          <a:bodyPr/>
          <a:lstStyle/>
          <a:p>
            <a:endParaRPr lang="en-US"/>
          </a:p>
        </p:txBody>
      </p:sp>
      <p:sp>
        <p:nvSpPr>
          <p:cNvPr id="44" name="Shape 42"/>
          <p:cNvSpPr/>
          <p:nvPr/>
        </p:nvSpPr>
        <p:spPr>
          <a:xfrm>
            <a:off x="10204704" y="3538728"/>
            <a:ext cx="1783080" cy="329184"/>
          </a:xfrm>
          <a:prstGeom prst="roundRect">
            <a:avLst>
              <a:gd name="adj" fmla="val 16667"/>
            </a:avLst>
          </a:prstGeom>
          <a:solidFill>
            <a:srgbClr val="B71C1C"/>
          </a:solidFill>
          <a:ln w="12700">
            <a:solidFill>
              <a:srgbClr val="B71C1C"/>
            </a:solidFill>
            <a:prstDash val="solid"/>
          </a:ln>
        </p:spPr>
        <p:txBody>
          <a:bodyPr/>
          <a:lstStyle/>
          <a:p>
            <a:endParaRPr lang="en-US"/>
          </a:p>
        </p:txBody>
      </p:sp>
      <p:sp>
        <p:nvSpPr>
          <p:cNvPr id="45" name="Text 43"/>
          <p:cNvSpPr/>
          <p:nvPr/>
        </p:nvSpPr>
        <p:spPr>
          <a:xfrm>
            <a:off x="8321040" y="3566160"/>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Core Model Training &amp; Evaluation</a:t>
            </a:r>
            <a:endParaRPr lang="en-US" sz="850" dirty="0"/>
          </a:p>
        </p:txBody>
      </p:sp>
      <p:sp>
        <p:nvSpPr>
          <p:cNvPr id="46" name="Text 44"/>
          <p:cNvSpPr/>
          <p:nvPr/>
        </p:nvSpPr>
        <p:spPr>
          <a:xfrm>
            <a:off x="256032" y="3968496"/>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Cold-Start &amp; Ablation Studies</a:t>
            </a:r>
            <a:endParaRPr lang="en-US" sz="900" dirty="0"/>
          </a:p>
        </p:txBody>
      </p:sp>
      <p:sp>
        <p:nvSpPr>
          <p:cNvPr id="47" name="Shape 45"/>
          <p:cNvSpPr/>
          <p:nvPr/>
        </p:nvSpPr>
        <p:spPr>
          <a:xfrm>
            <a:off x="10204704" y="3977640"/>
            <a:ext cx="1783080" cy="329184"/>
          </a:xfrm>
          <a:prstGeom prst="roundRect">
            <a:avLst>
              <a:gd name="adj" fmla="val 16667"/>
            </a:avLst>
          </a:prstGeom>
          <a:solidFill>
            <a:srgbClr val="1B5E20"/>
          </a:solidFill>
          <a:ln w="12700">
            <a:solidFill>
              <a:srgbClr val="1B5E20"/>
            </a:solidFill>
            <a:prstDash val="solid"/>
          </a:ln>
        </p:spPr>
        <p:txBody>
          <a:bodyPr/>
          <a:lstStyle/>
          <a:p>
            <a:endParaRPr lang="en-US"/>
          </a:p>
        </p:txBody>
      </p:sp>
      <p:sp>
        <p:nvSpPr>
          <p:cNvPr id="48" name="Shape 46"/>
          <p:cNvSpPr/>
          <p:nvPr/>
        </p:nvSpPr>
        <p:spPr>
          <a:xfrm>
            <a:off x="12271248" y="3977640"/>
            <a:ext cx="1783080" cy="329184"/>
          </a:xfrm>
          <a:prstGeom prst="roundRect">
            <a:avLst>
              <a:gd name="adj" fmla="val 16667"/>
            </a:avLst>
          </a:prstGeom>
          <a:solidFill>
            <a:srgbClr val="1B5E20"/>
          </a:solidFill>
          <a:ln w="12700">
            <a:solidFill>
              <a:srgbClr val="1B5E20"/>
            </a:solidFill>
            <a:prstDash val="solid"/>
          </a:ln>
        </p:spPr>
        <p:txBody>
          <a:bodyPr/>
          <a:lstStyle/>
          <a:p>
            <a:endParaRPr lang="en-US"/>
          </a:p>
        </p:txBody>
      </p:sp>
      <p:sp>
        <p:nvSpPr>
          <p:cNvPr id="49" name="Text 47"/>
          <p:cNvSpPr/>
          <p:nvPr/>
        </p:nvSpPr>
        <p:spPr>
          <a:xfrm>
            <a:off x="10241280" y="4005072"/>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Cold-Start &amp; Ablation Studies</a:t>
            </a:r>
            <a:endParaRPr lang="en-US" sz="850" dirty="0"/>
          </a:p>
        </p:txBody>
      </p:sp>
      <p:sp>
        <p:nvSpPr>
          <p:cNvPr id="50" name="Text 48"/>
          <p:cNvSpPr/>
          <p:nvPr/>
        </p:nvSpPr>
        <p:spPr>
          <a:xfrm>
            <a:off x="256032" y="4407408"/>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Interpretability Module Development</a:t>
            </a:r>
            <a:endParaRPr lang="en-US" sz="900" dirty="0"/>
          </a:p>
        </p:txBody>
      </p:sp>
      <p:sp>
        <p:nvSpPr>
          <p:cNvPr id="51" name="Shape 49"/>
          <p:cNvSpPr/>
          <p:nvPr/>
        </p:nvSpPr>
        <p:spPr>
          <a:xfrm>
            <a:off x="8284464" y="4416552"/>
            <a:ext cx="1783080" cy="329184"/>
          </a:xfrm>
          <a:prstGeom prst="roundRect">
            <a:avLst>
              <a:gd name="adj" fmla="val 16667"/>
            </a:avLst>
          </a:prstGeom>
          <a:solidFill>
            <a:srgbClr val="4A148C"/>
          </a:solidFill>
          <a:ln w="12700">
            <a:solidFill>
              <a:srgbClr val="4A148C"/>
            </a:solidFill>
            <a:prstDash val="solid"/>
          </a:ln>
        </p:spPr>
        <p:txBody>
          <a:bodyPr/>
          <a:lstStyle/>
          <a:p>
            <a:endParaRPr lang="en-US"/>
          </a:p>
        </p:txBody>
      </p:sp>
      <p:sp>
        <p:nvSpPr>
          <p:cNvPr id="52" name="Shape 50"/>
          <p:cNvSpPr/>
          <p:nvPr/>
        </p:nvSpPr>
        <p:spPr>
          <a:xfrm>
            <a:off x="10204704" y="4416552"/>
            <a:ext cx="1783080" cy="329184"/>
          </a:xfrm>
          <a:prstGeom prst="roundRect">
            <a:avLst>
              <a:gd name="adj" fmla="val 16667"/>
            </a:avLst>
          </a:prstGeom>
          <a:solidFill>
            <a:srgbClr val="4A148C"/>
          </a:solidFill>
          <a:ln w="12700">
            <a:solidFill>
              <a:srgbClr val="4A148C"/>
            </a:solidFill>
            <a:prstDash val="solid"/>
          </a:ln>
        </p:spPr>
        <p:txBody>
          <a:bodyPr/>
          <a:lstStyle/>
          <a:p>
            <a:endParaRPr lang="en-US"/>
          </a:p>
        </p:txBody>
      </p:sp>
      <p:sp>
        <p:nvSpPr>
          <p:cNvPr id="53" name="Text 51"/>
          <p:cNvSpPr/>
          <p:nvPr/>
        </p:nvSpPr>
        <p:spPr>
          <a:xfrm>
            <a:off x="8321040" y="4443984"/>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Interpretability Module Development</a:t>
            </a:r>
            <a:endParaRPr lang="en-US" sz="850" dirty="0"/>
          </a:p>
        </p:txBody>
      </p:sp>
      <p:sp>
        <p:nvSpPr>
          <p:cNvPr id="54" name="Text 52"/>
          <p:cNvSpPr/>
          <p:nvPr/>
        </p:nvSpPr>
        <p:spPr>
          <a:xfrm>
            <a:off x="256032" y="4846320"/>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Journal Publication (Review Paper)</a:t>
            </a:r>
            <a:endParaRPr lang="en-US" sz="900" dirty="0"/>
          </a:p>
        </p:txBody>
      </p:sp>
      <p:sp>
        <p:nvSpPr>
          <p:cNvPr id="55" name="Shape 53"/>
          <p:cNvSpPr/>
          <p:nvPr/>
        </p:nvSpPr>
        <p:spPr>
          <a:xfrm>
            <a:off x="2231136" y="4855464"/>
            <a:ext cx="1783080" cy="329184"/>
          </a:xfrm>
          <a:prstGeom prst="roundRect">
            <a:avLst>
              <a:gd name="adj" fmla="val 16667"/>
            </a:avLst>
          </a:prstGeom>
          <a:solidFill>
            <a:srgbClr val="778899"/>
          </a:solidFill>
          <a:ln w="12700">
            <a:solidFill>
              <a:srgbClr val="778899"/>
            </a:solidFill>
            <a:prstDash val="solid"/>
          </a:ln>
        </p:spPr>
        <p:txBody>
          <a:bodyPr/>
          <a:lstStyle/>
          <a:p>
            <a:endParaRPr lang="en-US"/>
          </a:p>
        </p:txBody>
      </p:sp>
      <p:sp>
        <p:nvSpPr>
          <p:cNvPr id="56" name="Shape 54"/>
          <p:cNvSpPr/>
          <p:nvPr/>
        </p:nvSpPr>
        <p:spPr>
          <a:xfrm>
            <a:off x="4297680" y="4855464"/>
            <a:ext cx="1783080" cy="329184"/>
          </a:xfrm>
          <a:prstGeom prst="roundRect">
            <a:avLst>
              <a:gd name="adj" fmla="val 16667"/>
            </a:avLst>
          </a:prstGeom>
          <a:solidFill>
            <a:srgbClr val="778899"/>
          </a:solidFill>
          <a:ln w="12700">
            <a:solidFill>
              <a:srgbClr val="778899"/>
            </a:solidFill>
            <a:prstDash val="solid"/>
          </a:ln>
        </p:spPr>
        <p:txBody>
          <a:bodyPr/>
          <a:lstStyle/>
          <a:p>
            <a:endParaRPr lang="en-US"/>
          </a:p>
        </p:txBody>
      </p:sp>
      <p:sp>
        <p:nvSpPr>
          <p:cNvPr id="57" name="Text 55"/>
          <p:cNvSpPr/>
          <p:nvPr/>
        </p:nvSpPr>
        <p:spPr>
          <a:xfrm>
            <a:off x="2267712" y="4882896"/>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Journal Publication (Review Paper)</a:t>
            </a:r>
            <a:endParaRPr lang="en-US" sz="850" dirty="0"/>
          </a:p>
        </p:txBody>
      </p:sp>
      <p:sp>
        <p:nvSpPr>
          <p:cNvPr id="58" name="Text 56"/>
          <p:cNvSpPr/>
          <p:nvPr/>
        </p:nvSpPr>
        <p:spPr>
          <a:xfrm>
            <a:off x="256032" y="5285232"/>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Conference Paper (Arch. Contribution)</a:t>
            </a:r>
            <a:endParaRPr lang="en-US" sz="900" dirty="0"/>
          </a:p>
        </p:txBody>
      </p:sp>
      <p:sp>
        <p:nvSpPr>
          <p:cNvPr id="59" name="Shape 57"/>
          <p:cNvSpPr/>
          <p:nvPr/>
        </p:nvSpPr>
        <p:spPr>
          <a:xfrm>
            <a:off x="6217920" y="5294376"/>
            <a:ext cx="1783080" cy="329184"/>
          </a:xfrm>
          <a:prstGeom prst="roundRect">
            <a:avLst>
              <a:gd name="adj" fmla="val 16667"/>
            </a:avLst>
          </a:prstGeom>
          <a:solidFill>
            <a:srgbClr val="F57F17"/>
          </a:solidFill>
          <a:ln w="12700">
            <a:solidFill>
              <a:srgbClr val="F57F17"/>
            </a:solidFill>
            <a:prstDash val="solid"/>
          </a:ln>
        </p:spPr>
        <p:txBody>
          <a:bodyPr/>
          <a:lstStyle/>
          <a:p>
            <a:endParaRPr lang="en-US"/>
          </a:p>
        </p:txBody>
      </p:sp>
      <p:sp>
        <p:nvSpPr>
          <p:cNvPr id="60" name="Shape 58"/>
          <p:cNvSpPr/>
          <p:nvPr/>
        </p:nvSpPr>
        <p:spPr>
          <a:xfrm>
            <a:off x="8284464" y="5294376"/>
            <a:ext cx="1783080" cy="329184"/>
          </a:xfrm>
          <a:prstGeom prst="roundRect">
            <a:avLst>
              <a:gd name="adj" fmla="val 16667"/>
            </a:avLst>
          </a:prstGeom>
          <a:solidFill>
            <a:srgbClr val="F57F17"/>
          </a:solidFill>
          <a:ln w="12700">
            <a:solidFill>
              <a:srgbClr val="F57F17"/>
            </a:solidFill>
            <a:prstDash val="solid"/>
          </a:ln>
        </p:spPr>
        <p:txBody>
          <a:bodyPr/>
          <a:lstStyle/>
          <a:p>
            <a:endParaRPr lang="en-US"/>
          </a:p>
        </p:txBody>
      </p:sp>
      <p:sp>
        <p:nvSpPr>
          <p:cNvPr id="61" name="Text 59"/>
          <p:cNvSpPr/>
          <p:nvPr/>
        </p:nvSpPr>
        <p:spPr>
          <a:xfrm>
            <a:off x="6254496" y="5321808"/>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Conference Paper (Arch. Contribution)</a:t>
            </a:r>
            <a:endParaRPr lang="en-US" sz="850" dirty="0"/>
          </a:p>
        </p:txBody>
      </p:sp>
      <p:sp>
        <p:nvSpPr>
          <p:cNvPr id="62" name="Text 60"/>
          <p:cNvSpPr/>
          <p:nvPr/>
        </p:nvSpPr>
        <p:spPr>
          <a:xfrm>
            <a:off x="256032" y="5724144"/>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Journal Paper (Main Results)</a:t>
            </a:r>
            <a:endParaRPr lang="en-US" sz="900" dirty="0"/>
          </a:p>
        </p:txBody>
      </p:sp>
      <p:sp>
        <p:nvSpPr>
          <p:cNvPr id="63" name="Shape 61"/>
          <p:cNvSpPr/>
          <p:nvPr/>
        </p:nvSpPr>
        <p:spPr>
          <a:xfrm>
            <a:off x="10204704" y="5733288"/>
            <a:ext cx="1783080" cy="329184"/>
          </a:xfrm>
          <a:prstGeom prst="roundRect">
            <a:avLst>
              <a:gd name="adj" fmla="val 16667"/>
            </a:avLst>
          </a:prstGeom>
          <a:solidFill>
            <a:srgbClr val="B71C1C"/>
          </a:solidFill>
          <a:ln w="12700">
            <a:solidFill>
              <a:srgbClr val="B71C1C"/>
            </a:solidFill>
            <a:prstDash val="solid"/>
          </a:ln>
        </p:spPr>
        <p:txBody>
          <a:bodyPr/>
          <a:lstStyle/>
          <a:p>
            <a:endParaRPr lang="en-US"/>
          </a:p>
        </p:txBody>
      </p:sp>
      <p:sp>
        <p:nvSpPr>
          <p:cNvPr id="64" name="Shape 62"/>
          <p:cNvSpPr/>
          <p:nvPr/>
        </p:nvSpPr>
        <p:spPr>
          <a:xfrm>
            <a:off x="12271248" y="5733288"/>
            <a:ext cx="1783080" cy="329184"/>
          </a:xfrm>
          <a:prstGeom prst="roundRect">
            <a:avLst>
              <a:gd name="adj" fmla="val 16667"/>
            </a:avLst>
          </a:prstGeom>
          <a:solidFill>
            <a:srgbClr val="B71C1C"/>
          </a:solidFill>
          <a:ln w="12700">
            <a:solidFill>
              <a:srgbClr val="B71C1C"/>
            </a:solidFill>
            <a:prstDash val="solid"/>
          </a:ln>
        </p:spPr>
        <p:txBody>
          <a:bodyPr/>
          <a:lstStyle/>
          <a:p>
            <a:endParaRPr lang="en-US"/>
          </a:p>
        </p:txBody>
      </p:sp>
      <p:sp>
        <p:nvSpPr>
          <p:cNvPr id="65" name="Text 63"/>
          <p:cNvSpPr/>
          <p:nvPr/>
        </p:nvSpPr>
        <p:spPr>
          <a:xfrm>
            <a:off x="10241280" y="5760720"/>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Journal Paper (Main Results)</a:t>
            </a:r>
            <a:endParaRPr lang="en-US" sz="850" dirty="0"/>
          </a:p>
        </p:txBody>
      </p:sp>
      <p:sp>
        <p:nvSpPr>
          <p:cNvPr id="66" name="Text 64"/>
          <p:cNvSpPr/>
          <p:nvPr/>
        </p:nvSpPr>
        <p:spPr>
          <a:xfrm>
            <a:off x="256032" y="6163056"/>
            <a:ext cx="11658600" cy="384048"/>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Thesis Writing &amp; Submission</a:t>
            </a:r>
            <a:endParaRPr lang="en-US" sz="900" dirty="0"/>
          </a:p>
        </p:txBody>
      </p:sp>
      <p:sp>
        <p:nvSpPr>
          <p:cNvPr id="67" name="Shape 65"/>
          <p:cNvSpPr/>
          <p:nvPr/>
        </p:nvSpPr>
        <p:spPr>
          <a:xfrm>
            <a:off x="10204704" y="6172200"/>
            <a:ext cx="1783080" cy="329184"/>
          </a:xfrm>
          <a:prstGeom prst="roundRect">
            <a:avLst>
              <a:gd name="adj" fmla="val 16667"/>
            </a:avLst>
          </a:prstGeom>
          <a:solidFill>
            <a:srgbClr val="5D4037"/>
          </a:solidFill>
          <a:ln w="12700">
            <a:solidFill>
              <a:srgbClr val="5D4037"/>
            </a:solidFill>
            <a:prstDash val="solid"/>
          </a:ln>
        </p:spPr>
        <p:txBody>
          <a:bodyPr/>
          <a:lstStyle/>
          <a:p>
            <a:endParaRPr lang="en-US"/>
          </a:p>
        </p:txBody>
      </p:sp>
      <p:sp>
        <p:nvSpPr>
          <p:cNvPr id="68" name="Shape 66"/>
          <p:cNvSpPr/>
          <p:nvPr/>
        </p:nvSpPr>
        <p:spPr>
          <a:xfrm>
            <a:off x="12271248" y="6172200"/>
            <a:ext cx="1783080" cy="329184"/>
          </a:xfrm>
          <a:prstGeom prst="roundRect">
            <a:avLst>
              <a:gd name="adj" fmla="val 16667"/>
            </a:avLst>
          </a:prstGeom>
          <a:solidFill>
            <a:srgbClr val="5D4037"/>
          </a:solidFill>
          <a:ln w="12700">
            <a:solidFill>
              <a:srgbClr val="5D4037"/>
            </a:solidFill>
            <a:prstDash val="solid"/>
          </a:ln>
        </p:spPr>
        <p:txBody>
          <a:bodyPr/>
          <a:lstStyle/>
          <a:p>
            <a:endParaRPr lang="en-US"/>
          </a:p>
        </p:txBody>
      </p:sp>
      <p:sp>
        <p:nvSpPr>
          <p:cNvPr id="69" name="Text 67"/>
          <p:cNvSpPr/>
          <p:nvPr/>
        </p:nvSpPr>
        <p:spPr>
          <a:xfrm>
            <a:off x="10241280" y="6199632"/>
            <a:ext cx="10972800" cy="256032"/>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Thesis Writing &amp; Submission</a:t>
            </a:r>
            <a:endParaRPr lang="en-US" sz="850" dirty="0"/>
          </a:p>
        </p:txBody>
      </p:sp>
      <p:sp>
        <p:nvSpPr>
          <p:cNvPr id="70" name="Text 68"/>
          <p:cNvSpPr/>
          <p:nvPr/>
        </p:nvSpPr>
        <p:spPr>
          <a:xfrm>
            <a:off x="347472" y="6071616"/>
            <a:ext cx="1920240" cy="292608"/>
          </a:xfrm>
          <a:prstGeom prst="rect">
            <a:avLst/>
          </a:prstGeom>
          <a:noFill/>
          <a:ln/>
        </p:spPr>
        <p:txBody>
          <a:bodyPr wrap="square" rtlCol="0" anchor="ctr"/>
          <a:lstStyle/>
          <a:p>
            <a:pPr marL="0" indent="0">
              <a:buNone/>
            </a:pPr>
            <a:r>
              <a:rPr lang="en-US" sz="850" b="1" dirty="0">
                <a:solidFill>
                  <a:srgbClr val="1A3A6E"/>
                </a:solidFill>
                <a:latin typeface="Calibri" pitchFamily="34" charset="0"/>
                <a:ea typeface="Calibri" pitchFamily="34" charset="-122"/>
                <a:cs typeface="Calibri" pitchFamily="34" charset="-120"/>
              </a:rPr>
              <a:t>◆ M1: Proposal Defence (Y1S1)</a:t>
            </a:r>
            <a:endParaRPr lang="en-US" sz="850" dirty="0"/>
          </a:p>
        </p:txBody>
      </p:sp>
      <p:sp>
        <p:nvSpPr>
          <p:cNvPr id="71" name="Text 69"/>
          <p:cNvSpPr/>
          <p:nvPr/>
        </p:nvSpPr>
        <p:spPr>
          <a:xfrm>
            <a:off x="2340864" y="6071616"/>
            <a:ext cx="1920240" cy="292608"/>
          </a:xfrm>
          <a:prstGeom prst="rect">
            <a:avLst/>
          </a:prstGeom>
          <a:noFill/>
          <a:ln/>
        </p:spPr>
        <p:txBody>
          <a:bodyPr wrap="square" rtlCol="0" anchor="ctr"/>
          <a:lstStyle/>
          <a:p>
            <a:pPr marL="0" indent="0">
              <a:buNone/>
            </a:pPr>
            <a:r>
              <a:rPr lang="en-US" sz="850" b="1" dirty="0">
                <a:solidFill>
                  <a:srgbClr val="1A3A6E"/>
                </a:solidFill>
                <a:latin typeface="Calibri" pitchFamily="34" charset="0"/>
                <a:ea typeface="Calibri" pitchFamily="34" charset="-122"/>
                <a:cs typeface="Calibri" pitchFamily="34" charset="-120"/>
              </a:rPr>
              <a:t>◆ M2: Review Paper Submitted (Y1S2)</a:t>
            </a:r>
            <a:endParaRPr lang="en-US" sz="850" dirty="0"/>
          </a:p>
        </p:txBody>
      </p:sp>
      <p:sp>
        <p:nvSpPr>
          <p:cNvPr id="72" name="Text 70"/>
          <p:cNvSpPr/>
          <p:nvPr/>
        </p:nvSpPr>
        <p:spPr>
          <a:xfrm>
            <a:off x="4334256" y="6071616"/>
            <a:ext cx="1920240" cy="292608"/>
          </a:xfrm>
          <a:prstGeom prst="rect">
            <a:avLst/>
          </a:prstGeom>
          <a:noFill/>
          <a:ln/>
        </p:spPr>
        <p:txBody>
          <a:bodyPr wrap="square" rtlCol="0" anchor="ctr"/>
          <a:lstStyle/>
          <a:p>
            <a:pPr marL="0" indent="0">
              <a:buNone/>
            </a:pPr>
            <a:r>
              <a:rPr lang="en-US" sz="850" b="1" dirty="0">
                <a:solidFill>
                  <a:srgbClr val="1A3A6E"/>
                </a:solidFill>
                <a:latin typeface="Calibri" pitchFamily="34" charset="0"/>
                <a:ea typeface="Calibri" pitchFamily="34" charset="-122"/>
                <a:cs typeface="Calibri" pitchFamily="34" charset="-120"/>
              </a:rPr>
              <a:t>◆ M3: Architecture Implemented (Y2S1)</a:t>
            </a:r>
            <a:endParaRPr lang="en-US" sz="850" dirty="0"/>
          </a:p>
        </p:txBody>
      </p:sp>
      <p:sp>
        <p:nvSpPr>
          <p:cNvPr id="73" name="Text 71"/>
          <p:cNvSpPr/>
          <p:nvPr/>
        </p:nvSpPr>
        <p:spPr>
          <a:xfrm>
            <a:off x="6327648" y="6071616"/>
            <a:ext cx="1920240" cy="292608"/>
          </a:xfrm>
          <a:prstGeom prst="rect">
            <a:avLst/>
          </a:prstGeom>
          <a:noFill/>
          <a:ln/>
        </p:spPr>
        <p:txBody>
          <a:bodyPr wrap="square" rtlCol="0" anchor="ctr"/>
          <a:lstStyle/>
          <a:p>
            <a:pPr marL="0" indent="0">
              <a:buNone/>
            </a:pPr>
            <a:r>
              <a:rPr lang="en-US" sz="850" b="1" dirty="0">
                <a:solidFill>
                  <a:srgbClr val="1A3A6E"/>
                </a:solidFill>
                <a:latin typeface="Calibri" pitchFamily="34" charset="0"/>
                <a:ea typeface="Calibri" pitchFamily="34" charset="-122"/>
                <a:cs typeface="Calibri" pitchFamily="34" charset="-120"/>
              </a:rPr>
              <a:t>◆ M4: Conference Paper (Y2S2)</a:t>
            </a:r>
            <a:endParaRPr lang="en-US" sz="850" dirty="0"/>
          </a:p>
        </p:txBody>
      </p:sp>
      <p:sp>
        <p:nvSpPr>
          <p:cNvPr id="74" name="Text 72"/>
          <p:cNvSpPr/>
          <p:nvPr/>
        </p:nvSpPr>
        <p:spPr>
          <a:xfrm>
            <a:off x="8321040" y="6071616"/>
            <a:ext cx="1920240" cy="292608"/>
          </a:xfrm>
          <a:prstGeom prst="rect">
            <a:avLst/>
          </a:prstGeom>
          <a:noFill/>
          <a:ln/>
        </p:spPr>
        <p:txBody>
          <a:bodyPr wrap="square" rtlCol="0" anchor="ctr"/>
          <a:lstStyle/>
          <a:p>
            <a:pPr marL="0" indent="0">
              <a:buNone/>
            </a:pPr>
            <a:r>
              <a:rPr lang="en-US" sz="850" b="1" dirty="0">
                <a:solidFill>
                  <a:srgbClr val="1A3A6E"/>
                </a:solidFill>
                <a:latin typeface="Calibri" pitchFamily="34" charset="0"/>
                <a:ea typeface="Calibri" pitchFamily="34" charset="-122"/>
                <a:cs typeface="Calibri" pitchFamily="34" charset="-120"/>
              </a:rPr>
              <a:t>◆ M5: Full Results (Y3S1)</a:t>
            </a:r>
            <a:endParaRPr lang="en-US" sz="850" dirty="0"/>
          </a:p>
        </p:txBody>
      </p:sp>
      <p:sp>
        <p:nvSpPr>
          <p:cNvPr id="75" name="Text 73"/>
          <p:cNvSpPr/>
          <p:nvPr/>
        </p:nvSpPr>
        <p:spPr>
          <a:xfrm>
            <a:off x="10314432" y="6071616"/>
            <a:ext cx="1920240" cy="292608"/>
          </a:xfrm>
          <a:prstGeom prst="rect">
            <a:avLst/>
          </a:prstGeom>
          <a:noFill/>
          <a:ln/>
        </p:spPr>
        <p:txBody>
          <a:bodyPr wrap="square" rtlCol="0" anchor="ctr"/>
          <a:lstStyle/>
          <a:p>
            <a:pPr marL="0" indent="0">
              <a:buNone/>
            </a:pPr>
            <a:r>
              <a:rPr lang="en-US" sz="850" b="1" dirty="0">
                <a:solidFill>
                  <a:srgbClr val="1A3A6E"/>
                </a:solidFill>
                <a:latin typeface="Calibri" pitchFamily="34" charset="0"/>
                <a:ea typeface="Calibri" pitchFamily="34" charset="-122"/>
                <a:cs typeface="Calibri" pitchFamily="34" charset="-120"/>
              </a:rPr>
              <a:t>◆ M6: Thesis Submitted (Y3S2)</a:t>
            </a:r>
            <a:endParaRPr lang="en-US" sz="850" dirty="0"/>
          </a:p>
        </p:txBody>
      </p:sp>
      <p:sp>
        <p:nvSpPr>
          <p:cNvPr id="77" name="Text 74"/>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5E20"/>
          </a:solidFill>
          <a:ln w="12700">
            <a:solidFill>
              <a:srgbClr val="1B5E20"/>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Expected Outcomes &amp; Contributions</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Four Key Deliverables from This Research</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1B5E20"/>
          </a:solidFill>
          <a:ln w="12700">
            <a:solidFill>
              <a:srgbClr val="1B5E20"/>
            </a:solidFill>
            <a:prstDash val="solid"/>
          </a:ln>
        </p:spPr>
        <p:txBody>
          <a:bodyPr/>
          <a:lstStyle/>
          <a:p>
            <a:endParaRPr lang="en-US"/>
          </a:p>
        </p:txBody>
      </p:sp>
      <p:sp>
        <p:nvSpPr>
          <p:cNvPr id="8" name="Shape 6"/>
          <p:cNvSpPr/>
          <p:nvPr/>
        </p:nvSpPr>
        <p:spPr>
          <a:xfrm>
            <a:off x="256032" y="1078992"/>
            <a:ext cx="5797296" cy="2322576"/>
          </a:xfrm>
          <a:prstGeom prst="roundRect">
            <a:avLst>
              <a:gd name="adj" fmla="val 3937"/>
            </a:avLst>
          </a:prstGeom>
          <a:solidFill>
            <a:srgbClr val="DDEEFF"/>
          </a:solidFill>
          <a:ln w="12700">
            <a:solidFill>
              <a:srgbClr val="1565C0"/>
            </a:solidFill>
            <a:prstDash val="solid"/>
          </a:ln>
        </p:spPr>
        <p:txBody>
          <a:bodyPr/>
          <a:lstStyle/>
          <a:p>
            <a:endParaRPr lang="en-US"/>
          </a:p>
        </p:txBody>
      </p:sp>
      <p:sp>
        <p:nvSpPr>
          <p:cNvPr id="9" name="Shape 7"/>
          <p:cNvSpPr/>
          <p:nvPr/>
        </p:nvSpPr>
        <p:spPr>
          <a:xfrm>
            <a:off x="256032" y="1078992"/>
            <a:ext cx="493776" cy="2322576"/>
          </a:xfrm>
          <a:prstGeom prst="rect">
            <a:avLst/>
          </a:prstGeom>
          <a:solidFill>
            <a:srgbClr val="1565C0"/>
          </a:solidFill>
          <a:ln w="12700">
            <a:solidFill>
              <a:srgbClr val="1565C0"/>
            </a:solidFill>
            <a:prstDash val="solid"/>
          </a:ln>
        </p:spPr>
        <p:txBody>
          <a:bodyPr/>
          <a:lstStyle/>
          <a:p>
            <a:endParaRPr lang="en-US"/>
          </a:p>
        </p:txBody>
      </p:sp>
      <p:sp>
        <p:nvSpPr>
          <p:cNvPr id="10" name="Text 8"/>
          <p:cNvSpPr/>
          <p:nvPr/>
        </p:nvSpPr>
        <p:spPr>
          <a:xfrm>
            <a:off x="274320" y="1993392"/>
            <a:ext cx="457200" cy="49377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O1</a:t>
            </a:r>
            <a:endParaRPr lang="en-US" sz="1800" dirty="0"/>
          </a:p>
        </p:txBody>
      </p:sp>
      <p:sp>
        <p:nvSpPr>
          <p:cNvPr id="11" name="Text 9"/>
          <p:cNvSpPr/>
          <p:nvPr/>
        </p:nvSpPr>
        <p:spPr>
          <a:xfrm>
            <a:off x="850392" y="1170432"/>
            <a:ext cx="5102352" cy="548640"/>
          </a:xfrm>
          <a:prstGeom prst="rect">
            <a:avLst/>
          </a:prstGeom>
          <a:noFill/>
          <a:ln/>
        </p:spPr>
        <p:txBody>
          <a:bodyPr wrap="square" rtlCol="0" anchor="ctr"/>
          <a:lstStyle/>
          <a:p>
            <a:pPr marL="0" indent="0">
              <a:buNone/>
            </a:pPr>
            <a:r>
              <a:rPr lang="en-US" sz="1350" b="1" dirty="0">
                <a:solidFill>
                  <a:srgbClr val="1565C0"/>
                </a:solidFill>
                <a:latin typeface="Calibri" pitchFamily="34" charset="0"/>
                <a:ea typeface="Calibri" pitchFamily="34" charset="-122"/>
                <a:cs typeface="Calibri" pitchFamily="34" charset="-120"/>
              </a:rPr>
              <a:t>Advanced Hybrid</a:t>
            </a:r>
            <a:endParaRPr lang="en-US" sz="1350" dirty="0"/>
          </a:p>
          <a:p>
            <a:pPr marL="0" indent="0">
              <a:buNone/>
            </a:pPr>
            <a:r>
              <a:rPr lang="en-US" sz="1350" b="1" dirty="0">
                <a:solidFill>
                  <a:srgbClr val="1565C0"/>
                </a:solidFill>
                <a:latin typeface="Calibri" pitchFamily="34" charset="0"/>
                <a:ea typeface="Calibri" pitchFamily="34" charset="-122"/>
                <a:cs typeface="Calibri" pitchFamily="34" charset="-120"/>
              </a:rPr>
              <a:t>Architecture</a:t>
            </a:r>
            <a:endParaRPr lang="en-US" sz="1350" dirty="0"/>
          </a:p>
        </p:txBody>
      </p:sp>
      <p:sp>
        <p:nvSpPr>
          <p:cNvPr id="12" name="Text 10"/>
          <p:cNvSpPr/>
          <p:nvPr/>
        </p:nvSpPr>
        <p:spPr>
          <a:xfrm>
            <a:off x="850392" y="1755648"/>
            <a:ext cx="5102352" cy="1572768"/>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A robust H-GNN-RNN-DTI model capable of capturing molecular graph structure (H-GAT) and protein sequential dependencies (BiGRU/BiLSTM) through a novel Gated Cross-Attention fusion mechanism, achieving statistically significant improvements over GSRF-DTI, TTModel, DTKGIN, and single-modality baselines.</a:t>
            </a:r>
            <a:endParaRPr lang="en-US" sz="1050" dirty="0"/>
          </a:p>
        </p:txBody>
      </p:sp>
      <p:sp>
        <p:nvSpPr>
          <p:cNvPr id="13" name="Shape 11"/>
          <p:cNvSpPr/>
          <p:nvPr/>
        </p:nvSpPr>
        <p:spPr>
          <a:xfrm>
            <a:off x="6236208" y="1078992"/>
            <a:ext cx="5797296" cy="2322576"/>
          </a:xfrm>
          <a:prstGeom prst="roundRect">
            <a:avLst>
              <a:gd name="adj" fmla="val 3937"/>
            </a:avLst>
          </a:prstGeom>
          <a:solidFill>
            <a:srgbClr val="C8E6C9"/>
          </a:solidFill>
          <a:ln w="12700">
            <a:solidFill>
              <a:srgbClr val="1B5E20"/>
            </a:solidFill>
            <a:prstDash val="solid"/>
          </a:ln>
        </p:spPr>
        <p:txBody>
          <a:bodyPr/>
          <a:lstStyle/>
          <a:p>
            <a:endParaRPr lang="en-US"/>
          </a:p>
        </p:txBody>
      </p:sp>
      <p:sp>
        <p:nvSpPr>
          <p:cNvPr id="14" name="Shape 12"/>
          <p:cNvSpPr/>
          <p:nvPr/>
        </p:nvSpPr>
        <p:spPr>
          <a:xfrm>
            <a:off x="6236208" y="1078992"/>
            <a:ext cx="493776" cy="2322576"/>
          </a:xfrm>
          <a:prstGeom prst="rect">
            <a:avLst/>
          </a:prstGeom>
          <a:solidFill>
            <a:srgbClr val="1B5E20"/>
          </a:solidFill>
          <a:ln w="12700">
            <a:solidFill>
              <a:srgbClr val="1B5E20"/>
            </a:solidFill>
            <a:prstDash val="solid"/>
          </a:ln>
        </p:spPr>
        <p:txBody>
          <a:bodyPr/>
          <a:lstStyle/>
          <a:p>
            <a:endParaRPr lang="en-US"/>
          </a:p>
        </p:txBody>
      </p:sp>
      <p:sp>
        <p:nvSpPr>
          <p:cNvPr id="15" name="Text 13"/>
          <p:cNvSpPr/>
          <p:nvPr/>
        </p:nvSpPr>
        <p:spPr>
          <a:xfrm>
            <a:off x="6254496" y="1993392"/>
            <a:ext cx="457200" cy="49377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O2</a:t>
            </a:r>
            <a:endParaRPr lang="en-US" sz="1800" dirty="0"/>
          </a:p>
        </p:txBody>
      </p:sp>
      <p:sp>
        <p:nvSpPr>
          <p:cNvPr id="16" name="Text 14"/>
          <p:cNvSpPr/>
          <p:nvPr/>
        </p:nvSpPr>
        <p:spPr>
          <a:xfrm>
            <a:off x="6830568" y="1170432"/>
            <a:ext cx="5102352" cy="548640"/>
          </a:xfrm>
          <a:prstGeom prst="rect">
            <a:avLst/>
          </a:prstGeom>
          <a:noFill/>
          <a:ln/>
        </p:spPr>
        <p:txBody>
          <a:bodyPr wrap="square" rtlCol="0" anchor="ctr"/>
          <a:lstStyle/>
          <a:p>
            <a:pPr marL="0" indent="0">
              <a:buNone/>
            </a:pPr>
            <a:r>
              <a:rPr lang="en-US" sz="1350" b="1" dirty="0">
                <a:solidFill>
                  <a:srgbClr val="1B5E20"/>
                </a:solidFill>
                <a:latin typeface="Calibri" pitchFamily="34" charset="0"/>
                <a:ea typeface="Calibri" pitchFamily="34" charset="-122"/>
                <a:cs typeface="Calibri" pitchFamily="34" charset="-120"/>
              </a:rPr>
              <a:t>Improved Predictive</a:t>
            </a:r>
            <a:endParaRPr lang="en-US" sz="1350" dirty="0"/>
          </a:p>
          <a:p>
            <a:pPr marL="0" indent="0">
              <a:buNone/>
            </a:pPr>
            <a:r>
              <a:rPr lang="en-US" sz="1350" b="1" dirty="0">
                <a:solidFill>
                  <a:srgbClr val="1B5E20"/>
                </a:solidFill>
                <a:latin typeface="Calibri" pitchFamily="34" charset="0"/>
                <a:ea typeface="Calibri" pitchFamily="34" charset="-122"/>
                <a:cs typeface="Calibri" pitchFamily="34" charset="-120"/>
              </a:rPr>
              <a:t>Performance &amp; Generalization</a:t>
            </a:r>
            <a:endParaRPr lang="en-US" sz="1350" dirty="0"/>
          </a:p>
        </p:txBody>
      </p:sp>
      <p:sp>
        <p:nvSpPr>
          <p:cNvPr id="17" name="Text 15"/>
          <p:cNvSpPr/>
          <p:nvPr/>
        </p:nvSpPr>
        <p:spPr>
          <a:xfrm>
            <a:off x="6830568" y="1755648"/>
            <a:ext cx="5102352" cy="1572768"/>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Statistically significant improvements in AUC-ROC, AUPR (classification) and RMSE, CI (regression) validated through rigorous benchmarking across 7 datasets. Cold-start performance (S2/S3) improved over DTKGIN through foundation-model pretraining and imbalance-aware training.</a:t>
            </a:r>
            <a:endParaRPr lang="en-US" sz="1050" dirty="0"/>
          </a:p>
        </p:txBody>
      </p:sp>
      <p:sp>
        <p:nvSpPr>
          <p:cNvPr id="18" name="Shape 16"/>
          <p:cNvSpPr/>
          <p:nvPr/>
        </p:nvSpPr>
        <p:spPr>
          <a:xfrm>
            <a:off x="256032" y="3529584"/>
            <a:ext cx="5797296" cy="2322576"/>
          </a:xfrm>
          <a:prstGeom prst="roundRect">
            <a:avLst>
              <a:gd name="adj" fmla="val 3937"/>
            </a:avLst>
          </a:prstGeom>
          <a:solidFill>
            <a:srgbClr val="F3E5F5"/>
          </a:solidFill>
          <a:ln w="12700">
            <a:solidFill>
              <a:srgbClr val="4A148C"/>
            </a:solidFill>
            <a:prstDash val="solid"/>
          </a:ln>
        </p:spPr>
        <p:txBody>
          <a:bodyPr/>
          <a:lstStyle/>
          <a:p>
            <a:endParaRPr lang="en-US"/>
          </a:p>
        </p:txBody>
      </p:sp>
      <p:sp>
        <p:nvSpPr>
          <p:cNvPr id="19" name="Shape 17"/>
          <p:cNvSpPr/>
          <p:nvPr/>
        </p:nvSpPr>
        <p:spPr>
          <a:xfrm>
            <a:off x="256032" y="3529584"/>
            <a:ext cx="493776" cy="2322576"/>
          </a:xfrm>
          <a:prstGeom prst="rect">
            <a:avLst/>
          </a:prstGeom>
          <a:solidFill>
            <a:srgbClr val="4A148C"/>
          </a:solidFill>
          <a:ln w="12700">
            <a:solidFill>
              <a:srgbClr val="4A148C"/>
            </a:solidFill>
            <a:prstDash val="solid"/>
          </a:ln>
        </p:spPr>
        <p:txBody>
          <a:bodyPr/>
          <a:lstStyle/>
          <a:p>
            <a:endParaRPr lang="en-US"/>
          </a:p>
        </p:txBody>
      </p:sp>
      <p:sp>
        <p:nvSpPr>
          <p:cNvPr id="20" name="Text 18"/>
          <p:cNvSpPr/>
          <p:nvPr/>
        </p:nvSpPr>
        <p:spPr>
          <a:xfrm>
            <a:off x="274320" y="4443984"/>
            <a:ext cx="457200" cy="49377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O3</a:t>
            </a:r>
            <a:endParaRPr lang="en-US" sz="1800" dirty="0"/>
          </a:p>
        </p:txBody>
      </p:sp>
      <p:sp>
        <p:nvSpPr>
          <p:cNvPr id="21" name="Text 19"/>
          <p:cNvSpPr/>
          <p:nvPr/>
        </p:nvSpPr>
        <p:spPr>
          <a:xfrm>
            <a:off x="850392" y="3621024"/>
            <a:ext cx="5102352" cy="548640"/>
          </a:xfrm>
          <a:prstGeom prst="rect">
            <a:avLst/>
          </a:prstGeom>
          <a:noFill/>
          <a:ln/>
        </p:spPr>
        <p:txBody>
          <a:bodyPr wrap="square" rtlCol="0" anchor="ctr"/>
          <a:lstStyle/>
          <a:p>
            <a:pPr marL="0" indent="0">
              <a:buNone/>
            </a:pPr>
            <a:r>
              <a:rPr lang="en-US" sz="1350" b="1" dirty="0">
                <a:solidFill>
                  <a:srgbClr val="4A148C"/>
                </a:solidFill>
                <a:latin typeface="Calibri" pitchFamily="34" charset="0"/>
                <a:ea typeface="Calibri" pitchFamily="34" charset="-122"/>
                <a:cs typeface="Calibri" pitchFamily="34" charset="-120"/>
              </a:rPr>
              <a:t>Interpretable DTI</a:t>
            </a:r>
            <a:endParaRPr lang="en-US" sz="1350" dirty="0"/>
          </a:p>
          <a:p>
            <a:pPr marL="0" indent="0">
              <a:buNone/>
            </a:pPr>
            <a:r>
              <a:rPr lang="en-US" sz="1350" b="1" dirty="0">
                <a:solidFill>
                  <a:srgbClr val="4A148C"/>
                </a:solidFill>
                <a:latin typeface="Calibri" pitchFamily="34" charset="0"/>
                <a:ea typeface="Calibri" pitchFamily="34" charset="-122"/>
                <a:cs typeface="Calibri" pitchFamily="34" charset="-120"/>
              </a:rPr>
              <a:t>Framework</a:t>
            </a:r>
            <a:endParaRPr lang="en-US" sz="1350" dirty="0"/>
          </a:p>
        </p:txBody>
      </p:sp>
      <p:sp>
        <p:nvSpPr>
          <p:cNvPr id="22" name="Text 20"/>
          <p:cNvSpPr/>
          <p:nvPr/>
        </p:nvSpPr>
        <p:spPr>
          <a:xfrm>
            <a:off x="850392" y="4206240"/>
            <a:ext cx="5102352" cy="1572768"/>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An intrinsically interpretable computational framework providing attention heatmaps and Grad-CAM subgraph visualizations that identify binding pharmacophores and key residues. Validated quantitatively against PDB crystal structures (target: &gt;75% binding site overlap).</a:t>
            </a:r>
            <a:endParaRPr lang="en-US" sz="1050" dirty="0"/>
          </a:p>
        </p:txBody>
      </p:sp>
      <p:sp>
        <p:nvSpPr>
          <p:cNvPr id="23" name="Shape 21"/>
          <p:cNvSpPr/>
          <p:nvPr/>
        </p:nvSpPr>
        <p:spPr>
          <a:xfrm>
            <a:off x="6236208" y="3529584"/>
            <a:ext cx="5797296" cy="2322576"/>
          </a:xfrm>
          <a:prstGeom prst="roundRect">
            <a:avLst>
              <a:gd name="adj" fmla="val 3937"/>
            </a:avLst>
          </a:prstGeom>
          <a:solidFill>
            <a:srgbClr val="FFF3E0"/>
          </a:solidFill>
          <a:ln w="12700">
            <a:solidFill>
              <a:srgbClr val="E65100"/>
            </a:solidFill>
            <a:prstDash val="solid"/>
          </a:ln>
        </p:spPr>
        <p:txBody>
          <a:bodyPr/>
          <a:lstStyle/>
          <a:p>
            <a:endParaRPr lang="en-US"/>
          </a:p>
        </p:txBody>
      </p:sp>
      <p:sp>
        <p:nvSpPr>
          <p:cNvPr id="24" name="Shape 22"/>
          <p:cNvSpPr/>
          <p:nvPr/>
        </p:nvSpPr>
        <p:spPr>
          <a:xfrm>
            <a:off x="6236208" y="3529584"/>
            <a:ext cx="493776" cy="2322576"/>
          </a:xfrm>
          <a:prstGeom prst="rect">
            <a:avLst/>
          </a:prstGeom>
          <a:solidFill>
            <a:srgbClr val="E65100"/>
          </a:solidFill>
          <a:ln w="12700">
            <a:solidFill>
              <a:srgbClr val="E65100"/>
            </a:solidFill>
            <a:prstDash val="solid"/>
          </a:ln>
        </p:spPr>
        <p:txBody>
          <a:bodyPr/>
          <a:lstStyle/>
          <a:p>
            <a:endParaRPr lang="en-US"/>
          </a:p>
        </p:txBody>
      </p:sp>
      <p:sp>
        <p:nvSpPr>
          <p:cNvPr id="25" name="Text 23"/>
          <p:cNvSpPr/>
          <p:nvPr/>
        </p:nvSpPr>
        <p:spPr>
          <a:xfrm>
            <a:off x="6254496" y="4443984"/>
            <a:ext cx="457200" cy="49377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O4</a:t>
            </a:r>
            <a:endParaRPr lang="en-US" sz="1800" dirty="0"/>
          </a:p>
        </p:txBody>
      </p:sp>
      <p:sp>
        <p:nvSpPr>
          <p:cNvPr id="26" name="Text 24"/>
          <p:cNvSpPr/>
          <p:nvPr/>
        </p:nvSpPr>
        <p:spPr>
          <a:xfrm>
            <a:off x="6830568" y="3621024"/>
            <a:ext cx="5102352" cy="548640"/>
          </a:xfrm>
          <a:prstGeom prst="rect">
            <a:avLst/>
          </a:prstGeom>
          <a:noFill/>
          <a:ln/>
        </p:spPr>
        <p:txBody>
          <a:bodyPr wrap="square" rtlCol="0" anchor="ctr"/>
          <a:lstStyle/>
          <a:p>
            <a:pPr marL="0" indent="0">
              <a:buNone/>
            </a:pPr>
            <a:r>
              <a:rPr lang="en-US" sz="1350" b="1" dirty="0">
                <a:solidFill>
                  <a:srgbClr val="E65100"/>
                </a:solidFill>
                <a:latin typeface="Calibri" pitchFamily="34" charset="0"/>
                <a:ea typeface="Calibri" pitchFamily="34" charset="-122"/>
                <a:cs typeface="Calibri" pitchFamily="34" charset="-120"/>
              </a:rPr>
              <a:t>Reproducible Research</a:t>
            </a:r>
            <a:endParaRPr lang="en-US" sz="1350" dirty="0"/>
          </a:p>
          <a:p>
            <a:pPr marL="0" indent="0">
              <a:buNone/>
            </a:pPr>
            <a:r>
              <a:rPr lang="en-US" sz="1350" b="1" dirty="0">
                <a:solidFill>
                  <a:srgbClr val="E65100"/>
                </a:solidFill>
                <a:latin typeface="Calibri" pitchFamily="34" charset="0"/>
                <a:ea typeface="Calibri" pitchFamily="34" charset="-122"/>
                <a:cs typeface="Calibri" pitchFamily="34" charset="-120"/>
              </a:rPr>
              <a:t>Output</a:t>
            </a:r>
            <a:endParaRPr lang="en-US" sz="1350" dirty="0"/>
          </a:p>
        </p:txBody>
      </p:sp>
      <p:sp>
        <p:nvSpPr>
          <p:cNvPr id="27" name="Text 25"/>
          <p:cNvSpPr/>
          <p:nvPr/>
        </p:nvSpPr>
        <p:spPr>
          <a:xfrm>
            <a:off x="6830568" y="4206240"/>
            <a:ext cx="5102352" cy="1572768"/>
          </a:xfrm>
          <a:prstGeom prst="rect">
            <a:avLst/>
          </a:prstGeom>
          <a:noFill/>
          <a:ln/>
        </p:spPr>
        <p:txBody>
          <a:bodyPr wrap="square" rtlCol="0" anchor="t"/>
          <a:lstStyle/>
          <a:p>
            <a:pPr marL="0" indent="0">
              <a:buNone/>
            </a:pPr>
            <a:r>
              <a:rPr lang="en-US" sz="1050" dirty="0">
                <a:solidFill>
                  <a:srgbClr val="1C2833"/>
                </a:solidFill>
                <a:latin typeface="Calibri" pitchFamily="34" charset="0"/>
                <a:ea typeface="Calibri" pitchFamily="34" charset="-122"/>
                <a:cs typeface="Calibri" pitchFamily="34" charset="-120"/>
              </a:rPr>
              <a:t>Fully reproducible implementation with publicly available source code, trained model weights, preprocessing pipelines, and experimental configurations on GitHub. Enables transparency, replicability, and future extension by the DTI research community.</a:t>
            </a:r>
            <a:endParaRPr lang="en-US" sz="1050" dirty="0"/>
          </a:p>
        </p:txBody>
      </p:sp>
      <p:sp>
        <p:nvSpPr>
          <p:cNvPr id="28" name="Shape 26"/>
          <p:cNvSpPr/>
          <p:nvPr/>
        </p:nvSpPr>
        <p:spPr>
          <a:xfrm>
            <a:off x="256032" y="6108192"/>
            <a:ext cx="11658600" cy="457200"/>
          </a:xfrm>
          <a:prstGeom prst="rect">
            <a:avLst/>
          </a:prstGeom>
          <a:solidFill>
            <a:srgbClr val="ECEFF1"/>
          </a:solidFill>
          <a:ln w="12700">
            <a:solidFill>
              <a:srgbClr val="1A3A6E"/>
            </a:solidFill>
            <a:prstDash val="solid"/>
          </a:ln>
        </p:spPr>
        <p:txBody>
          <a:bodyPr/>
          <a:lstStyle/>
          <a:p>
            <a:endParaRPr lang="en-US"/>
          </a:p>
        </p:txBody>
      </p:sp>
      <p:sp>
        <p:nvSpPr>
          <p:cNvPr id="29" name="Text 27"/>
          <p:cNvSpPr/>
          <p:nvPr/>
        </p:nvSpPr>
        <p:spPr>
          <a:xfrm>
            <a:off x="384048" y="6126480"/>
            <a:ext cx="11411712" cy="420624"/>
          </a:xfrm>
          <a:prstGeom prst="rect">
            <a:avLst/>
          </a:prstGeom>
          <a:noFill/>
          <a:ln/>
        </p:spPr>
        <p:txBody>
          <a:bodyPr wrap="square" rtlCol="0" anchor="ctr"/>
          <a:lstStyle/>
          <a:p>
            <a:pPr marL="0" indent="0">
              <a:buNone/>
            </a:pPr>
            <a:r>
              <a:rPr lang="en-US" sz="1000" i="1" dirty="0">
                <a:solidFill>
                  <a:srgbClr val="1A3A6E"/>
                </a:solidFill>
                <a:latin typeface="Calibri" pitchFamily="34" charset="0"/>
                <a:ea typeface="Calibri" pitchFamily="34" charset="-122"/>
                <a:cs typeface="Calibri" pitchFamily="34" charset="-120"/>
              </a:rPr>
              <a:t>Target Venues: Briefings in Bioinformatics (Q1) | Bioinformatics (Q1) | IEEE BIBM | AAAI/IJCAI | BMC Bioinformatics | Journal of Chemical Information and Modeling</a:t>
            </a:r>
            <a:endParaRPr lang="en-US" sz="1000" dirty="0"/>
          </a:p>
        </p:txBody>
      </p:sp>
      <p:sp>
        <p:nvSpPr>
          <p:cNvPr id="31" name="Text 28"/>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A3A6E"/>
          </a:solidFill>
          <a:ln w="12700">
            <a:solidFill>
              <a:srgbClr val="1A3A6E"/>
            </a:solidFill>
            <a:prstDash val="solid"/>
          </a:ln>
        </p:spPr>
        <p:txBody>
          <a:bodyPr/>
          <a:lstStyle/>
          <a:p>
            <a:endParaRPr lang="en-US"/>
          </a:p>
        </p:txBody>
      </p:sp>
      <p:sp>
        <p:nvSpPr>
          <p:cNvPr id="3" name="Text 1"/>
          <p:cNvSpPr/>
          <p:nvPr/>
        </p:nvSpPr>
        <p:spPr>
          <a:xfrm>
            <a:off x="320040" y="45720"/>
            <a:ext cx="11548872" cy="56692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4" name="Text 2"/>
          <p:cNvSpPr/>
          <p:nvPr/>
        </p:nvSpPr>
        <p:spPr>
          <a:xfrm>
            <a:off x="320040" y="612648"/>
            <a:ext cx="11548872" cy="310896"/>
          </a:xfrm>
          <a:prstGeom prst="rect">
            <a:avLst/>
          </a:prstGeom>
          <a:noFill/>
          <a:ln/>
        </p:spPr>
        <p:txBody>
          <a:bodyPr wrap="square" rtlCol="0" anchor="ctr"/>
          <a:lstStyle/>
          <a:p>
            <a:pPr marL="0" indent="0">
              <a:buNone/>
            </a:pPr>
            <a:r>
              <a:rPr lang="en-US" sz="1300" i="1" dirty="0">
                <a:solidFill>
                  <a:srgbClr val="AED6F1"/>
                </a:solidFill>
                <a:latin typeface="Calibri" pitchFamily="34" charset="0"/>
                <a:ea typeface="Calibri" pitchFamily="34" charset="-122"/>
                <a:cs typeface="Calibri" pitchFamily="34" charset="-120"/>
              </a:rPr>
              <a:t>Key Citations Supporting This Research Proposal</a:t>
            </a:r>
            <a:endParaRPr lang="en-US" sz="1300" dirty="0"/>
          </a:p>
        </p:txBody>
      </p:sp>
      <p:sp>
        <p:nvSpPr>
          <p:cNvPr id="5" name="Shape 3"/>
          <p:cNvSpPr/>
          <p:nvPr/>
        </p:nvSpPr>
        <p:spPr>
          <a:xfrm>
            <a:off x="0" y="6565392"/>
            <a:ext cx="12188952" cy="292608"/>
          </a:xfrm>
          <a:prstGeom prst="rect">
            <a:avLst/>
          </a:prstGeom>
          <a:solidFill>
            <a:srgbClr val="1A3A6E"/>
          </a:solidFill>
          <a:ln w="12700">
            <a:solidFill>
              <a:srgbClr val="1A3A6E"/>
            </a:solidFill>
            <a:prstDash val="solid"/>
          </a:ln>
        </p:spPr>
        <p:txBody>
          <a:bodyPr/>
          <a:lstStyle/>
          <a:p>
            <a:endParaRPr lang="en-US"/>
          </a:p>
        </p:txBody>
      </p:sp>
      <p:sp>
        <p:nvSpPr>
          <p:cNvPr id="6" name="Text 4"/>
          <p:cNvSpPr/>
          <p:nvPr/>
        </p:nvSpPr>
        <p:spPr>
          <a:xfrm>
            <a:off x="274320" y="6592824"/>
            <a:ext cx="9601200" cy="237744"/>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School of Computer Sciences  |  Universiti Sains Malaysia  |  PhD Research Proposal 2025/2026</a:t>
            </a:r>
            <a:endParaRPr lang="en-US" sz="800" dirty="0"/>
          </a:p>
        </p:txBody>
      </p:sp>
      <p:sp>
        <p:nvSpPr>
          <p:cNvPr id="7" name="Shape 5"/>
          <p:cNvSpPr/>
          <p:nvPr/>
        </p:nvSpPr>
        <p:spPr>
          <a:xfrm>
            <a:off x="0" y="960120"/>
            <a:ext cx="128016" cy="5605272"/>
          </a:xfrm>
          <a:prstGeom prst="rect">
            <a:avLst/>
          </a:prstGeom>
          <a:solidFill>
            <a:srgbClr val="1565C0"/>
          </a:solidFill>
          <a:ln w="12700">
            <a:solidFill>
              <a:srgbClr val="1565C0"/>
            </a:solidFill>
            <a:prstDash val="solid"/>
          </a:ln>
        </p:spPr>
        <p:txBody>
          <a:bodyPr/>
          <a:lstStyle/>
          <a:p>
            <a:endParaRPr lang="en-US"/>
          </a:p>
        </p:txBody>
      </p:sp>
      <p:sp>
        <p:nvSpPr>
          <p:cNvPr id="8" name="Text 6"/>
          <p:cNvSpPr/>
          <p:nvPr/>
        </p:nvSpPr>
        <p:spPr>
          <a:xfrm>
            <a:off x="256032" y="1097280"/>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1. Zhu, Y. et al. (2024). GSRF-DTI: DTI prediction via drug-target pair network and representation learning. BMC Biology, 22(1). [Baseline 1]</a:t>
            </a:r>
            <a:endParaRPr lang="en-US" sz="950" dirty="0"/>
          </a:p>
        </p:txBody>
      </p:sp>
      <p:sp>
        <p:nvSpPr>
          <p:cNvPr id="9" name="Text 7"/>
          <p:cNvSpPr/>
          <p:nvPr/>
        </p:nvSpPr>
        <p:spPr>
          <a:xfrm>
            <a:off x="256032" y="1847088"/>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2. Li, N. et al. (2024). Drug–target interaction prediction using knowledge graph embedding. iScience, 27(6). [Baseline 2]</a:t>
            </a:r>
            <a:endParaRPr lang="en-US" sz="950" dirty="0"/>
          </a:p>
        </p:txBody>
      </p:sp>
      <p:sp>
        <p:nvSpPr>
          <p:cNvPr id="10" name="Text 8"/>
          <p:cNvSpPr/>
          <p:nvPr/>
        </p:nvSpPr>
        <p:spPr>
          <a:xfrm>
            <a:off x="256032" y="2596896"/>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3. Luo, Y. et al. (2024). DTKGIN: Predicting DTI based on knowledge graph and intent graph. Methods, 226, 21–27. [Baseline 3]</a:t>
            </a:r>
            <a:endParaRPr lang="en-US" sz="950" dirty="0"/>
          </a:p>
        </p:txBody>
      </p:sp>
      <p:sp>
        <p:nvSpPr>
          <p:cNvPr id="11" name="Text 9"/>
          <p:cNvSpPr/>
          <p:nvPr/>
        </p:nvSpPr>
        <p:spPr>
          <a:xfrm>
            <a:off x="256032" y="3346704"/>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4. Nguyen, T. et al. (2021). GraphDTA: Predicting drug target binding affinity with graph neural networks. Bioinformatics, 37(8).</a:t>
            </a:r>
            <a:endParaRPr lang="en-US" sz="950" dirty="0"/>
          </a:p>
        </p:txBody>
      </p:sp>
      <p:sp>
        <p:nvSpPr>
          <p:cNvPr id="12" name="Text 10"/>
          <p:cNvSpPr/>
          <p:nvPr/>
        </p:nvSpPr>
        <p:spPr>
          <a:xfrm>
            <a:off x="256032" y="4096512"/>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5. Sun, Y. et al. (2024). iNGNN-DTI: Prediction with interpretable nested GNN and pretrained molecule models. Bioinformatics, 40(3).</a:t>
            </a:r>
            <a:endParaRPr lang="en-US" sz="950" dirty="0"/>
          </a:p>
        </p:txBody>
      </p:sp>
      <p:sp>
        <p:nvSpPr>
          <p:cNvPr id="13" name="Text 11"/>
          <p:cNvSpPr/>
          <p:nvPr/>
        </p:nvSpPr>
        <p:spPr>
          <a:xfrm>
            <a:off x="256032" y="4846320"/>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6. Talo, M. &amp; Bozdag, S. (2025). Top-DTI: Integrating topological deep learning and LLMs for DTI prediction. Bioinformatics, 41.</a:t>
            </a:r>
            <a:endParaRPr lang="en-US" sz="950" dirty="0"/>
          </a:p>
        </p:txBody>
      </p:sp>
      <p:sp>
        <p:nvSpPr>
          <p:cNvPr id="14" name="Text 12"/>
          <p:cNvSpPr/>
          <p:nvPr/>
        </p:nvSpPr>
        <p:spPr>
          <a:xfrm>
            <a:off x="256032" y="5596128"/>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7. Yuan, Y. et al. (2025). MutualDTA: Interpretable DTA prediction leveraging pretrained models and mutual attention. J. Chem. Inf. Model., 65(3).</a:t>
            </a:r>
            <a:endParaRPr lang="en-US" sz="950" dirty="0"/>
          </a:p>
        </p:txBody>
      </p:sp>
      <p:sp>
        <p:nvSpPr>
          <p:cNvPr id="15" name="Text 13"/>
          <p:cNvSpPr/>
          <p:nvPr/>
        </p:nvSpPr>
        <p:spPr>
          <a:xfrm>
            <a:off x="6236208" y="1097280"/>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8. Vefghi, A. et al. (2025). Drug-target interaction/affinity prediction: Deep learning models review. Computers in Biology &amp; Medicine, 196.</a:t>
            </a:r>
            <a:endParaRPr lang="en-US" sz="950" dirty="0"/>
          </a:p>
        </p:txBody>
      </p:sp>
      <p:sp>
        <p:nvSpPr>
          <p:cNvPr id="16" name="Text 14"/>
          <p:cNvSpPr/>
          <p:nvPr/>
        </p:nvSpPr>
        <p:spPr>
          <a:xfrm>
            <a:off x="6236208" y="1847088"/>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9. Panahandeh, F. &amp; Mansouri, N. (2025). A comprehensive review of neural network-based approaches for DTI prediction. Molecular Diversity.</a:t>
            </a:r>
            <a:endParaRPr lang="en-US" sz="950" dirty="0"/>
          </a:p>
        </p:txBody>
      </p:sp>
      <p:sp>
        <p:nvSpPr>
          <p:cNvPr id="17" name="Text 15"/>
          <p:cNvSpPr/>
          <p:nvPr/>
        </p:nvSpPr>
        <p:spPr>
          <a:xfrm>
            <a:off x="6236208" y="2596896"/>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10. Ouyang, X. et al. (2025). Improving generalizability of drug–target binding prediction by pre-trained multi-view representations. Bioinformatics.</a:t>
            </a:r>
            <a:endParaRPr lang="en-US" sz="950" dirty="0"/>
          </a:p>
        </p:txBody>
      </p:sp>
      <p:sp>
        <p:nvSpPr>
          <p:cNvPr id="18" name="Text 16"/>
          <p:cNvSpPr/>
          <p:nvPr/>
        </p:nvSpPr>
        <p:spPr>
          <a:xfrm>
            <a:off x="6236208" y="3346704"/>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11. Hua, Y. et al. (2025). MMDG-DTI: DTI prediction via multimodal feature fusion and domain generalization. Pattern Recognition, 157.</a:t>
            </a:r>
            <a:endParaRPr lang="en-US" sz="950" dirty="0"/>
          </a:p>
        </p:txBody>
      </p:sp>
      <p:sp>
        <p:nvSpPr>
          <p:cNvPr id="19" name="Text 17"/>
          <p:cNvSpPr/>
          <p:nvPr/>
        </p:nvSpPr>
        <p:spPr>
          <a:xfrm>
            <a:off x="6236208" y="4096512"/>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12. Tanoli, Z. et al. (2025). Validation guidelines for drug-target prediction methods. Expert Opinion on Drug Discovery, 20(1).</a:t>
            </a:r>
            <a:endParaRPr lang="en-US" sz="950" dirty="0"/>
          </a:p>
        </p:txBody>
      </p:sp>
      <p:sp>
        <p:nvSpPr>
          <p:cNvPr id="20" name="Text 18"/>
          <p:cNvSpPr/>
          <p:nvPr/>
        </p:nvSpPr>
        <p:spPr>
          <a:xfrm>
            <a:off x="6236208" y="4846320"/>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13. Tran, H.N.T., Thomas, J.J., &amp; Malim, N.H.A.H. (2022). DeepNC: Drug-target interaction prediction with graph neural networks. PeerJ, 10.</a:t>
            </a:r>
            <a:endParaRPr lang="en-US" sz="950" dirty="0"/>
          </a:p>
        </p:txBody>
      </p:sp>
      <p:sp>
        <p:nvSpPr>
          <p:cNvPr id="21" name="Text 19"/>
          <p:cNvSpPr/>
          <p:nvPr/>
        </p:nvSpPr>
        <p:spPr>
          <a:xfrm>
            <a:off x="6236208" y="5596128"/>
            <a:ext cx="5760720" cy="676656"/>
          </a:xfrm>
          <a:prstGeom prst="rect">
            <a:avLst/>
          </a:prstGeom>
          <a:noFill/>
          <a:ln/>
        </p:spPr>
        <p:txBody>
          <a:bodyPr wrap="square" rtlCol="0" anchor="t"/>
          <a:lstStyle/>
          <a:p>
            <a:pPr marL="0" indent="0">
              <a:buNone/>
            </a:pPr>
            <a:r>
              <a:rPr lang="en-US" sz="950" dirty="0">
                <a:solidFill>
                  <a:srgbClr val="1C2833"/>
                </a:solidFill>
                <a:latin typeface="Calibri" pitchFamily="34" charset="0"/>
                <a:ea typeface="Calibri" pitchFamily="34" charset="-122"/>
                <a:cs typeface="Calibri" pitchFamily="34" charset="-120"/>
              </a:rPr>
              <a:t>14. Khan, A.K. &amp; Ahamed Hassain Malim, N.H. (2023). Comparative studies on resampling techniques in ML and DL for DTI. Molecules, 28(4).</a:t>
            </a:r>
            <a:endParaRPr lang="en-US" sz="950" dirty="0"/>
          </a:p>
        </p:txBody>
      </p:sp>
      <p:sp>
        <p:nvSpPr>
          <p:cNvPr id="23" name="Text 20"/>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3A6E"/>
          </a:solidFill>
          <a:ln w="12700">
            <a:solidFill>
              <a:srgbClr val="1A3A6E"/>
            </a:solidFill>
            <a:prstDash val="solid"/>
          </a:ln>
        </p:spPr>
        <p:txBody>
          <a:bodyPr/>
          <a:lstStyle/>
          <a:p>
            <a:endParaRPr lang="en-US"/>
          </a:p>
        </p:txBody>
      </p:sp>
      <p:sp>
        <p:nvSpPr>
          <p:cNvPr id="3" name="Shape 1"/>
          <p:cNvSpPr/>
          <p:nvPr/>
        </p:nvSpPr>
        <p:spPr>
          <a:xfrm>
            <a:off x="0" y="0"/>
            <a:ext cx="12188952" cy="1828800"/>
          </a:xfrm>
          <a:prstGeom prst="rect">
            <a:avLst/>
          </a:prstGeom>
          <a:solidFill>
            <a:srgbClr val="0D47A1"/>
          </a:solidFill>
          <a:ln w="12700">
            <a:solidFill>
              <a:srgbClr val="0D47A1"/>
            </a:solidFill>
            <a:prstDash val="solid"/>
          </a:ln>
        </p:spPr>
        <p:txBody>
          <a:bodyPr/>
          <a:lstStyle/>
          <a:p>
            <a:endParaRPr lang="en-US"/>
          </a:p>
        </p:txBody>
      </p:sp>
      <p:sp>
        <p:nvSpPr>
          <p:cNvPr id="4" name="Shape 2"/>
          <p:cNvSpPr/>
          <p:nvPr/>
        </p:nvSpPr>
        <p:spPr>
          <a:xfrm>
            <a:off x="0" y="5029200"/>
            <a:ext cx="12188952" cy="1828800"/>
          </a:xfrm>
          <a:prstGeom prst="rect">
            <a:avLst/>
          </a:prstGeom>
          <a:solidFill>
            <a:srgbClr val="0D47A1"/>
          </a:solidFill>
          <a:ln w="12700">
            <a:solidFill>
              <a:srgbClr val="0D47A1"/>
            </a:solidFill>
            <a:prstDash val="solid"/>
          </a:ln>
        </p:spPr>
        <p:txBody>
          <a:bodyPr/>
          <a:lstStyle/>
          <a:p>
            <a:endParaRPr lang="en-US"/>
          </a:p>
        </p:txBody>
      </p:sp>
      <p:sp>
        <p:nvSpPr>
          <p:cNvPr id="5" name="Text 3"/>
          <p:cNvSpPr/>
          <p:nvPr/>
        </p:nvSpPr>
        <p:spPr>
          <a:xfrm>
            <a:off x="365760" y="274320"/>
            <a:ext cx="11457432" cy="118872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548640" y="2011680"/>
            <a:ext cx="11091672" cy="2743200"/>
          </a:xfrm>
          <a:prstGeom prst="roundRect">
            <a:avLst>
              <a:gd name="adj" fmla="val 5000"/>
            </a:avLst>
          </a:prstGeom>
          <a:solidFill>
            <a:srgbClr val="0D2B5A"/>
          </a:solidFill>
          <a:ln w="12700">
            <a:solidFill>
              <a:srgbClr val="F57F17"/>
            </a:solidFill>
            <a:prstDash val="solid"/>
          </a:ln>
        </p:spPr>
        <p:txBody>
          <a:bodyPr/>
          <a:lstStyle/>
          <a:p>
            <a:endParaRPr lang="en-US"/>
          </a:p>
        </p:txBody>
      </p:sp>
      <p:sp>
        <p:nvSpPr>
          <p:cNvPr id="7" name="Text 5"/>
          <p:cNvSpPr/>
          <p:nvPr/>
        </p:nvSpPr>
        <p:spPr>
          <a:xfrm>
            <a:off x="731520" y="2084832"/>
            <a:ext cx="10725912" cy="365760"/>
          </a:xfrm>
          <a:prstGeom prst="rect">
            <a:avLst/>
          </a:prstGeom>
          <a:noFill/>
          <a:ln/>
        </p:spPr>
        <p:txBody>
          <a:bodyPr wrap="square" rtlCol="0" anchor="ctr"/>
          <a:lstStyle/>
          <a:p>
            <a:pPr marL="0" indent="0" algn="ctr">
              <a:buNone/>
            </a:pPr>
            <a:r>
              <a:rPr lang="en-US" sz="1400" b="1" dirty="0">
                <a:solidFill>
                  <a:srgbClr val="F57F17"/>
                </a:solidFill>
                <a:latin typeface="Calibri" pitchFamily="34" charset="0"/>
                <a:ea typeface="Calibri" pitchFamily="34" charset="-122"/>
                <a:cs typeface="Calibri" pitchFamily="34" charset="-120"/>
              </a:rPr>
              <a:t>Research Summary</a:t>
            </a:r>
            <a:endParaRPr lang="en-US" sz="1400" dirty="0"/>
          </a:p>
        </p:txBody>
      </p:sp>
      <p:sp>
        <p:nvSpPr>
          <p:cNvPr id="8" name="Text 6"/>
          <p:cNvSpPr/>
          <p:nvPr/>
        </p:nvSpPr>
        <p:spPr>
          <a:xfrm>
            <a:off x="777240" y="2505456"/>
            <a:ext cx="10634472" cy="32918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 Problem: 4 critical gaps — weak fusion, cold-start failure, black-box predictions, data imbalance</a:t>
            </a:r>
            <a:endParaRPr lang="en-US" sz="1100" dirty="0"/>
          </a:p>
        </p:txBody>
      </p:sp>
      <p:sp>
        <p:nvSpPr>
          <p:cNvPr id="9" name="Text 7"/>
          <p:cNvSpPr/>
          <p:nvPr/>
        </p:nvSpPr>
        <p:spPr>
          <a:xfrm>
            <a:off x="777240" y="2852928"/>
            <a:ext cx="10634472" cy="32918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 Proposed: H-GNN-RNN-DTI with H-GAT drug encoder + BiGRU protein encoder + novel Gated Cross-Attention</a:t>
            </a:r>
            <a:endParaRPr lang="en-US" sz="1100" dirty="0"/>
          </a:p>
        </p:txBody>
      </p:sp>
      <p:sp>
        <p:nvSpPr>
          <p:cNvPr id="10" name="Text 8"/>
          <p:cNvSpPr/>
          <p:nvPr/>
        </p:nvSpPr>
        <p:spPr>
          <a:xfrm>
            <a:off x="777240" y="3200400"/>
            <a:ext cx="10634472" cy="329184"/>
          </a:xfrm>
          <a:prstGeom prst="rect">
            <a:avLst/>
          </a:prstGeom>
          <a:noFill/>
          <a:ln/>
        </p:spPr>
        <p:txBody>
          <a:bodyPr wrap="square" rtlCol="0" anchor="ctr"/>
          <a:lstStyle/>
          <a:p>
            <a:pPr marL="0" indent="0">
              <a:buNone/>
            </a:pPr>
            <a:r>
              <a:rPr lang="en-US" sz="1100" b="1" dirty="0">
                <a:solidFill>
                  <a:srgbClr val="F57F17"/>
                </a:solidFill>
                <a:latin typeface="Calibri" pitchFamily="34" charset="0"/>
                <a:ea typeface="Calibri" pitchFamily="34" charset="-122"/>
                <a:cs typeface="Calibri" pitchFamily="34" charset="-120"/>
              </a:rPr>
              <a:t>  ◆ Innovation: Dynamic bidirectional drug–protein attention with adaptive gating — beyond static concatenation</a:t>
            </a:r>
            <a:endParaRPr lang="en-US" sz="1100" dirty="0"/>
          </a:p>
        </p:txBody>
      </p:sp>
      <p:sp>
        <p:nvSpPr>
          <p:cNvPr id="11" name="Text 9"/>
          <p:cNvSpPr/>
          <p:nvPr/>
        </p:nvSpPr>
        <p:spPr>
          <a:xfrm>
            <a:off x="777240" y="3547872"/>
            <a:ext cx="10634472" cy="32918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 Generalization: ChemBERTa + ESM-2 pretraining + focal loss → improved cold-start performance</a:t>
            </a:r>
            <a:endParaRPr lang="en-US" sz="1100" dirty="0"/>
          </a:p>
        </p:txBody>
      </p:sp>
      <p:sp>
        <p:nvSpPr>
          <p:cNvPr id="12" name="Text 10"/>
          <p:cNvSpPr/>
          <p:nvPr/>
        </p:nvSpPr>
        <p:spPr>
          <a:xfrm>
            <a:off x="777240" y="3895344"/>
            <a:ext cx="10634472" cy="32918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 Interpretability: Intrinsic attention attribution + Grad-CAM validated against PDB binding sites</a:t>
            </a:r>
            <a:endParaRPr lang="en-US" sz="1100" dirty="0"/>
          </a:p>
        </p:txBody>
      </p:sp>
      <p:sp>
        <p:nvSpPr>
          <p:cNvPr id="13" name="Text 11"/>
          <p:cNvSpPr/>
          <p:nvPr/>
        </p:nvSpPr>
        <p:spPr>
          <a:xfrm>
            <a:off x="777240" y="4242816"/>
            <a:ext cx="10634472" cy="32918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 Evaluation: 7 datasets, AUC/AUPR/RMSE/CI, cold-start S1/S2/S3, cross-dataset, ablation studies</a:t>
            </a:r>
            <a:endParaRPr lang="en-US" sz="1100" dirty="0"/>
          </a:p>
        </p:txBody>
      </p:sp>
      <p:sp>
        <p:nvSpPr>
          <p:cNvPr id="14" name="Text 12"/>
          <p:cNvSpPr/>
          <p:nvPr/>
        </p:nvSpPr>
        <p:spPr>
          <a:xfrm>
            <a:off x="365760" y="4892040"/>
            <a:ext cx="11457432" cy="530352"/>
          </a:xfrm>
          <a:prstGeom prst="rect">
            <a:avLst/>
          </a:prstGeom>
          <a:noFill/>
          <a:ln/>
        </p:spPr>
        <p:txBody>
          <a:bodyPr wrap="square" rtlCol="0" anchor="ctr"/>
          <a:lstStyle/>
          <a:p>
            <a:pPr marL="0" indent="0" algn="ctr">
              <a:buNone/>
            </a:pPr>
            <a:r>
              <a:rPr lang="en-US" sz="2000" b="1" dirty="0">
                <a:solidFill>
                  <a:srgbClr val="90CAF9"/>
                </a:solidFill>
                <a:latin typeface="Calibri" pitchFamily="34" charset="0"/>
                <a:ea typeface="Calibri" pitchFamily="34" charset="-122"/>
                <a:cs typeface="Calibri" pitchFamily="34" charset="-120"/>
              </a:rPr>
              <a:t>Questions &amp; Discussion Welcome</a:t>
            </a:r>
            <a:endParaRPr lang="en-US" sz="2000" dirty="0"/>
          </a:p>
        </p:txBody>
      </p:sp>
      <p:sp>
        <p:nvSpPr>
          <p:cNvPr id="15" name="Text 13"/>
          <p:cNvSpPr/>
          <p:nvPr/>
        </p:nvSpPr>
        <p:spPr>
          <a:xfrm>
            <a:off x="365760" y="5285232"/>
            <a:ext cx="11457432" cy="365760"/>
          </a:xfrm>
          <a:prstGeom prst="rect">
            <a:avLst/>
          </a:prstGeom>
          <a:noFill/>
          <a:ln/>
        </p:spPr>
        <p:txBody>
          <a:bodyPr wrap="square" rtlCol="0" anchor="ctr"/>
          <a:lstStyle/>
          <a:p>
            <a:pPr marL="0" indent="0" algn="ctr">
              <a:buNone/>
            </a:pPr>
            <a:r>
              <a:rPr lang="en-US" sz="1100" dirty="0">
                <a:solidFill>
                  <a:srgbClr val="BDE3FA"/>
                </a:solidFill>
                <a:latin typeface="Calibri" pitchFamily="34" charset="0"/>
                <a:ea typeface="Calibri" pitchFamily="34" charset="-122"/>
                <a:cs typeface="Calibri" pitchFamily="34" charset="-120"/>
              </a:rPr>
              <a:t>Jamila Abdul-Hadi  |  24100625  |  jamcy98@gmail.com  |  School of Computer Sciences, USM</a:t>
            </a:r>
            <a:endParaRPr lang="en-US" sz="1100" dirty="0"/>
          </a:p>
        </p:txBody>
      </p:sp>
      <p:sp>
        <p:nvSpPr>
          <p:cNvPr id="16" name="Text 14"/>
          <p:cNvSpPr/>
          <p:nvPr/>
        </p:nvSpPr>
        <p:spPr>
          <a:xfrm>
            <a:off x="365760" y="5669280"/>
            <a:ext cx="11457432" cy="329184"/>
          </a:xfrm>
          <a:prstGeom prst="rect">
            <a:avLst/>
          </a:prstGeom>
          <a:noFill/>
          <a:ln/>
        </p:spPr>
        <p:txBody>
          <a:bodyPr wrap="square" rtlCol="0" anchor="ctr"/>
          <a:lstStyle/>
          <a:p>
            <a:pPr marL="0" indent="0" algn="ctr">
              <a:buNone/>
            </a:pPr>
            <a:r>
              <a:rPr lang="en-US" sz="1100" i="1" dirty="0">
                <a:solidFill>
                  <a:srgbClr val="90CAF9"/>
                </a:solidFill>
                <a:latin typeface="Calibri" pitchFamily="34" charset="0"/>
                <a:ea typeface="Calibri" pitchFamily="34" charset="-122"/>
                <a:cs typeface="Calibri" pitchFamily="34" charset="-120"/>
              </a:rPr>
              <a:t>Supervisor: Assoc. Prof. Dr. Nurul Hashimah Ahamed Hassain Malim</a:t>
            </a:r>
            <a:endParaRPr lang="en-US" sz="1100" dirty="0"/>
          </a:p>
        </p:txBody>
      </p:sp>
      <p:sp>
        <p:nvSpPr>
          <p:cNvPr id="18" name="Text 15"/>
          <p:cNvSpPr/>
          <p:nvPr/>
        </p:nvSpPr>
        <p:spPr>
          <a:xfrm>
            <a:off x="11686032" y="6592824"/>
            <a:ext cx="411480" cy="219456"/>
          </a:xfrm>
          <a:prstGeom prst="rect">
            <a:avLst/>
          </a:prstGeom>
          <a:noFill/>
          <a:ln/>
        </p:spPr>
        <p:txBody>
          <a:bodyPr wrap="square"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921</TotalTime>
  <Words>10425</Words>
  <Application>Microsoft Office PowerPoint</Application>
  <PresentationFormat>Widescreen</PresentationFormat>
  <Paragraphs>631</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DTI Prediction Through Hybrid Deep Learning</dc:title>
  <dc:subject>PptxGenJS Presentation</dc:subject>
  <dc:creator>Jamila Abdul-Hadi</dc:creator>
  <cp:lastModifiedBy>Jamila Abdul-Hadi</cp:lastModifiedBy>
  <cp:revision>2</cp:revision>
  <dcterms:created xsi:type="dcterms:W3CDTF">2026-05-10T15:40:17Z</dcterms:created>
  <dcterms:modified xsi:type="dcterms:W3CDTF">2026-05-11T07:03:29Z</dcterms:modified>
</cp:coreProperties>
</file>